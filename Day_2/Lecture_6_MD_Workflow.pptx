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Montserrat SemiBold"/>
      <p:regular r:id="rId31"/>
      <p:bold r:id="rId32"/>
      <p:italic r:id="rId33"/>
      <p:boldItalic r:id="rId34"/>
    </p:embeddedFont>
    <p:embeddedFont>
      <p:font typeface="Montserrat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18">
          <p15:clr>
            <a:srgbClr val="747775"/>
          </p15:clr>
        </p15:guide>
        <p15:guide id="2" pos="22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18" orient="horz"/>
        <p:guide pos="22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SemiBold-italic.fntdata"/><Relationship Id="rId10" Type="http://schemas.openxmlformats.org/officeDocument/2006/relationships/slide" Target="slides/slide5.xml"/><Relationship Id="rId32" Type="http://schemas.openxmlformats.org/officeDocument/2006/relationships/font" Target="fonts/MontserratSemiBold-bold.fntdata"/><Relationship Id="rId13" Type="http://schemas.openxmlformats.org/officeDocument/2006/relationships/slide" Target="slides/slide8.xml"/><Relationship Id="rId35" Type="http://schemas.openxmlformats.org/officeDocument/2006/relationships/font" Target="fonts/MontserratMedium-regular.fntdata"/><Relationship Id="rId12" Type="http://schemas.openxmlformats.org/officeDocument/2006/relationships/slide" Target="slides/slide7.xml"/><Relationship Id="rId34" Type="http://schemas.openxmlformats.org/officeDocument/2006/relationships/font" Target="fonts/MontserratSemiBold-boldItalic.fntdata"/><Relationship Id="rId15" Type="http://schemas.openxmlformats.org/officeDocument/2006/relationships/slide" Target="slides/slide10.xml"/><Relationship Id="rId37" Type="http://schemas.openxmlformats.org/officeDocument/2006/relationships/font" Target="fonts/MontserratMedium-italic.fntdata"/><Relationship Id="rId14" Type="http://schemas.openxmlformats.org/officeDocument/2006/relationships/slide" Target="slides/slide9.xml"/><Relationship Id="rId36" Type="http://schemas.openxmlformats.org/officeDocument/2006/relationships/font" Target="fonts/MontserratMedium-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Montserrat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404838b0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404838b0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a38548d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a38548d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89797b866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89797b866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89797b866_2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89797b866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89797b866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89797b866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89797b866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89797b866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89797b866_2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89797b866_2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89797b866_2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89797b866_2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89797b866_2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f89797b866_2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 </a:t>
            </a:r>
            <a:r>
              <a:rPr lang="it"/>
              <a:t>Notice how density is much less noisy than pressure. That’s why density is often easier to use visually when checking NPT equilibration.</a:t>
            </a:r>
            <a:br>
              <a:rPr lang="it"/>
            </a:br>
            <a:br>
              <a:rPr lang="it"/>
            </a:br>
            <a:r>
              <a:rPr lang="it"/>
              <a:t>(ii) Pressure fluctuates much more than temperature or density because it is directly related to the instantaneous forces and collisions in the system. So fluctuations of hundreds of bar are completely normal in a small simulation box; we care about the average over time, not the value of individual points.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89797b866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89797b866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89797b866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f89797b866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8a5ec65d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f8a5ec65d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it"/>
              <a:t>Structures are aligned first to remove overall translation and rotation</a:t>
            </a:r>
            <a:endParaRPr/>
          </a:p>
          <a:p>
            <a:pPr indent="-298450" lvl="0" marL="457200" rtl="0" algn="l">
              <a:spcBef>
                <a:spcPts val="0"/>
              </a:spcBef>
              <a:spcAft>
                <a:spcPts val="0"/>
              </a:spcAft>
              <a:buSzPts val="1100"/>
              <a:buChar char="-"/>
            </a:pPr>
            <a:r>
              <a:rPr lang="it">
                <a:solidFill>
                  <a:schemeClr val="dk1"/>
                </a:solidFill>
              </a:rPr>
              <a:t>RMSF tells us </a:t>
            </a:r>
            <a:r>
              <a:rPr b="1" lang="it">
                <a:solidFill>
                  <a:schemeClr val="dk1"/>
                </a:solidFill>
              </a:rPr>
              <a:t>which parts of the molecule are most flexible</a:t>
            </a:r>
            <a:r>
              <a:rPr lang="it">
                <a:solidFill>
                  <a:schemeClr val="dk1"/>
                </a:solidFill>
              </a:rPr>
              <a:t>: it tells us how much each atom fluctuates around its own average position during the simulation.</a:t>
            </a:r>
            <a:endParaRPr>
              <a:solidFill>
                <a:schemeClr val="dk1"/>
              </a:solidFill>
            </a:endParaRPr>
          </a:p>
          <a:p>
            <a:pPr indent="-298450" lvl="0" marL="457200" rtl="0" algn="l">
              <a:spcBef>
                <a:spcPts val="0"/>
              </a:spcBef>
              <a:spcAft>
                <a:spcPts val="0"/>
              </a:spcAft>
              <a:buClr>
                <a:schemeClr val="dk1"/>
              </a:buClr>
              <a:buSzPts val="1100"/>
              <a:buChar char="-"/>
            </a:pPr>
            <a:r>
              <a:rPr lang="it">
                <a:solidFill>
                  <a:schemeClr val="dk1"/>
                </a:solidFill>
              </a:rPr>
              <a:t>Rg is a mass-weighted measure of how far the atoms are spread out around the molecule’s center of mass.</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8a5ec65d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f8a5ec65d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it">
                <a:solidFill>
                  <a:schemeClr val="dk1"/>
                </a:solidFill>
              </a:rPr>
              <a:t>The radial distribution function tells us how the density of solvent particles changes as a function of distance from a reference particle in the solute. In practice, we divide the local density at a given distance by the bulk density. So if g(r)=1g(r)=1, the solvent distribution is bulk-like. Values larger than 1 mean that solvent particles are preferentially found at that distance, while values below 1 mean they are depleted. Peaks in the RDF therefore identify preferred solvation distances or hydration shells</a:t>
            </a:r>
            <a:endParaRPr>
              <a:solidFill>
                <a:schemeClr val="dk1"/>
              </a:solidFill>
            </a:endParaRPr>
          </a:p>
          <a:p>
            <a:pPr indent="-298450" lvl="0" marL="457200" rtl="0" algn="l">
              <a:spcBef>
                <a:spcPts val="0"/>
              </a:spcBef>
              <a:spcAft>
                <a:spcPts val="0"/>
              </a:spcAft>
              <a:buClr>
                <a:schemeClr val="dk1"/>
              </a:buClr>
              <a:buSzPts val="1100"/>
              <a:buChar char="-"/>
            </a:pPr>
            <a:r>
              <a:rPr lang="it">
                <a:solidFill>
                  <a:schemeClr val="dk1"/>
                </a:solidFill>
              </a:rPr>
              <a:t>Hydrogen bonds are directional non-covalent interactions between a donor and an acceptor. In MD we usually identify them using simple geometric criteria. In our analysis, the donor–acceptor distance has to be shorter than about 3 Å and the D–H···A angle has to be larger than 150 degrees. We can then count how many hydrogen bonds form between the solute and the surrounding water and how this changes during the trajectory.</a:t>
            </a:r>
            <a:endParaRPr>
              <a:solidFill>
                <a:schemeClr val="dk1"/>
              </a:solidFill>
            </a:endParaRPr>
          </a:p>
          <a:p>
            <a:pPr indent="-298450" lvl="0" marL="457200" rtl="0" algn="l">
              <a:spcBef>
                <a:spcPts val="0"/>
              </a:spcBef>
              <a:spcAft>
                <a:spcPts val="0"/>
              </a:spcAft>
              <a:buClr>
                <a:schemeClr val="dk1"/>
              </a:buClr>
              <a:buSzPts val="1100"/>
              <a:buChar char="-"/>
            </a:pPr>
            <a:r>
              <a:rPr lang="it">
                <a:solidFill>
                  <a:schemeClr val="dk1"/>
                </a:solidFill>
              </a:rPr>
              <a:t>SASA tells us how much of the solute surface is exposed to the solvent. Conceptually, we imagine rolling a spherical probe, representing a solvent molecule, over the molecular surface. A larger SASA means that more of the molecule is accessible to the solvent, while a smaller SASA usually indicates a more buried or compact structure.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89797b866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89797b866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412a8fa7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412a8fa7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Description of the figure:</a:t>
            </a:r>
            <a:br>
              <a:rPr lang="it"/>
            </a:br>
            <a:r>
              <a:rPr lang="it"/>
              <a:t>We can see the points don't really fill the whole 3D space but they roughly lie on a plane. What PCA does is find that plane: it identifies two orthogonal directions, PC1 along the largest spread of the data, and PC2 along the largest spread perpendicular to it. Then we project the points onto those two directions: we now have the same data but described in just two dimensions instead of three.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412a8fa7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412a8fa7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f412a8fa7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f412a8fa7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when to use PCA:</a:t>
            </a:r>
            <a:br>
              <a:rPr lang="it"/>
            </a:br>
            <a:br>
              <a:rPr lang="it"/>
            </a:br>
            <a:r>
              <a:rPr lang="it">
                <a:solidFill>
                  <a:schemeClr val="dk1"/>
                </a:solidFill>
              </a:rPr>
              <a:t>PCA is particularly useful in the following scenarios: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it">
                <a:solidFill>
                  <a:schemeClr val="dk1"/>
                </a:solidFill>
              </a:rPr>
              <a:t>High-Dimensional Data</a:t>
            </a:r>
            <a:r>
              <a:rPr lang="it">
                <a:solidFill>
                  <a:schemeClr val="dk1"/>
                </a:solidFill>
              </a:rPr>
              <a:t>: When dealing with datasets with many features that might lead to overfitting.</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it">
                <a:solidFill>
                  <a:schemeClr val="dk1"/>
                </a:solidFill>
              </a:rPr>
              <a:t>Visualization</a:t>
            </a:r>
            <a:r>
              <a:rPr lang="it">
                <a:solidFill>
                  <a:schemeClr val="dk1"/>
                </a:solidFill>
              </a:rPr>
              <a:t>: To visualize high-dimensional data in 2D or 3D.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it">
                <a:solidFill>
                  <a:schemeClr val="dk1"/>
                </a:solidFill>
              </a:rPr>
              <a:t>Noise Reduction</a:t>
            </a:r>
            <a:r>
              <a:rPr lang="it">
                <a:solidFill>
                  <a:schemeClr val="dk1"/>
                </a:solidFill>
              </a:rPr>
              <a:t>: To filter out noise in the data by focusing on components with higher variance.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it">
                <a:solidFill>
                  <a:schemeClr val="dk1"/>
                </a:solidFill>
              </a:rPr>
              <a:t>Feature Extraction</a:t>
            </a:r>
            <a:r>
              <a:rPr lang="it">
                <a:solidFill>
                  <a:schemeClr val="dk1"/>
                </a:solidFill>
              </a:rPr>
              <a:t>: To extract meaningful features from complex data.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it">
                <a:solidFill>
                  <a:schemeClr val="dk1"/>
                </a:solidFill>
              </a:rPr>
              <a:t>Multicollinearity</a:t>
            </a:r>
            <a:r>
              <a:rPr lang="it">
                <a:solidFill>
                  <a:schemeClr val="dk1"/>
                </a:solidFill>
              </a:rPr>
              <a:t>: When dealing with highly correlated features in regression models.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412a8fa7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f412a8fa7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412a8fa7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412a8fa7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f412a8fa7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f412a8fa7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f412a8fa7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f412a8fa7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f8af5ee99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f8af5ee99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f8af5ee99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f8af5ee99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f8af5ee99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f8af5ee99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drive.google.com/file/d/1Yr4mAmE7abGLfCdB0eum7d6Z7qaRQJmv/view"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sz="3500">
                <a:latin typeface="Montserrat SemiBold"/>
                <a:ea typeface="Montserrat SemiBold"/>
                <a:cs typeface="Montserrat SemiBold"/>
                <a:sym typeface="Montserrat SemiBold"/>
              </a:rPr>
              <a:t>Molecular Dynamics:</a:t>
            </a:r>
            <a:endParaRPr sz="3500">
              <a:latin typeface="Montserrat SemiBold"/>
              <a:ea typeface="Montserrat SemiBold"/>
              <a:cs typeface="Montserrat SemiBold"/>
              <a:sym typeface="Montserrat SemiBold"/>
            </a:endParaRPr>
          </a:p>
          <a:p>
            <a:pPr indent="0" lvl="0" marL="0" rtl="0" algn="ctr">
              <a:spcBef>
                <a:spcPts val="0"/>
              </a:spcBef>
              <a:spcAft>
                <a:spcPts val="0"/>
              </a:spcAft>
              <a:buNone/>
            </a:pPr>
            <a:r>
              <a:rPr lang="it" sz="2500">
                <a:latin typeface="Montserrat SemiBold"/>
                <a:ea typeface="Montserrat SemiBold"/>
                <a:cs typeface="Montserrat SemiBold"/>
                <a:sym typeface="Montserrat SemiBold"/>
              </a:rPr>
              <a:t>Workflow for MD Simulations</a:t>
            </a:r>
            <a:endParaRPr sz="2500">
              <a:latin typeface="Montserrat SemiBold"/>
              <a:ea typeface="Montserrat SemiBold"/>
              <a:cs typeface="Montserrat SemiBold"/>
              <a:sym typeface="Montserrat SemiBold"/>
            </a:endParaRPr>
          </a:p>
        </p:txBody>
      </p:sp>
      <p:sp>
        <p:nvSpPr>
          <p:cNvPr id="55" name="Google Shape;55;p13"/>
          <p:cNvSpPr txBox="1"/>
          <p:nvPr>
            <p:ph idx="1" type="subTitle"/>
          </p:nvPr>
        </p:nvSpPr>
        <p:spPr>
          <a:xfrm>
            <a:off x="311700" y="29313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600">
                <a:latin typeface="Montserrat Medium"/>
                <a:ea typeface="Montserrat Medium"/>
                <a:cs typeface="Montserrat Medium"/>
                <a:sym typeface="Montserrat Medium"/>
              </a:rPr>
              <a:t>PWF </a:t>
            </a:r>
            <a:r>
              <a:rPr lang="it" sz="1600">
                <a:latin typeface="Montserrat Medium"/>
                <a:ea typeface="Montserrat Medium"/>
                <a:cs typeface="Montserrat Medium"/>
                <a:sym typeface="Montserrat Medium"/>
              </a:rPr>
              <a:t>Summer school on Theoretical and Computational Biophysics</a:t>
            </a:r>
            <a:endParaRPr sz="1600">
              <a:latin typeface="Montserrat Medium"/>
              <a:ea typeface="Montserrat Medium"/>
              <a:cs typeface="Montserrat Medium"/>
              <a:sym typeface="Montserrat Medium"/>
            </a:endParaRPr>
          </a:p>
          <a:p>
            <a:pPr indent="0" lvl="0" marL="0" rtl="0" algn="ctr">
              <a:spcBef>
                <a:spcPts val="0"/>
              </a:spcBef>
              <a:spcAft>
                <a:spcPts val="0"/>
              </a:spcAft>
              <a:buNone/>
            </a:pPr>
            <a:r>
              <a:t/>
            </a:r>
            <a:endParaRPr sz="1800"/>
          </a:p>
        </p:txBody>
      </p:sp>
      <p:sp>
        <p:nvSpPr>
          <p:cNvPr id="56" name="Google Shape;56;p13"/>
          <p:cNvSpPr/>
          <p:nvPr/>
        </p:nvSpPr>
        <p:spPr>
          <a:xfrm>
            <a:off x="0" y="0"/>
            <a:ext cx="427500" cy="5143500"/>
          </a:xfrm>
          <a:prstGeom prst="rect">
            <a:avLst/>
          </a:prstGeom>
          <a:gradFill>
            <a:gsLst>
              <a:gs pos="0">
                <a:srgbClr val="DCECD5"/>
              </a:gs>
              <a:gs pos="100000">
                <a:srgbClr val="92BC81"/>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bl" dir="5400000" dist="19050">
              <a:srgbClr val="93C47D">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3187850" y="43506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dk2"/>
                </a:solidFill>
              </a:rPr>
              <a:t>Day 2/5</a:t>
            </a:r>
            <a:endParaRPr sz="1500">
              <a:solidFill>
                <a:schemeClr val="dk2"/>
              </a:solidFill>
            </a:endParaRPr>
          </a:p>
        </p:txBody>
      </p:sp>
      <p:sp>
        <p:nvSpPr>
          <p:cNvPr id="58" name="Google Shape;58;p13"/>
          <p:cNvSpPr txBox="1"/>
          <p:nvPr>
            <p:ph idx="1" type="subTitle"/>
          </p:nvPr>
        </p:nvSpPr>
        <p:spPr>
          <a:xfrm>
            <a:off x="2588150" y="3723900"/>
            <a:ext cx="41994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600">
                <a:latin typeface="Montserrat Medium"/>
                <a:ea typeface="Montserrat Medium"/>
                <a:cs typeface="Montserrat Medium"/>
                <a:sym typeface="Montserrat Medium"/>
              </a:rPr>
              <a:t>University of Colombo</a:t>
            </a:r>
            <a:endParaRPr sz="1600"/>
          </a:p>
        </p:txBody>
      </p:sp>
      <p:pic>
        <p:nvPicPr>
          <p:cNvPr descr="ICTP logo" id="59" name="Google Shape;59;p13"/>
          <p:cNvPicPr preferRelativeResize="0"/>
          <p:nvPr/>
        </p:nvPicPr>
        <p:blipFill>
          <a:blip r:embed="rId3">
            <a:alphaModFix/>
          </a:blip>
          <a:stretch>
            <a:fillRect/>
          </a:stretch>
        </p:blipFill>
        <p:spPr>
          <a:xfrm>
            <a:off x="790925" y="217625"/>
            <a:ext cx="2481185" cy="792600"/>
          </a:xfrm>
          <a:prstGeom prst="rect">
            <a:avLst/>
          </a:prstGeom>
          <a:noFill/>
          <a:ln>
            <a:noFill/>
          </a:ln>
        </p:spPr>
      </p:pic>
      <p:sp>
        <p:nvSpPr>
          <p:cNvPr id="60" name="Google Shape;60;p13"/>
          <p:cNvSpPr/>
          <p:nvPr/>
        </p:nvSpPr>
        <p:spPr>
          <a:xfrm>
            <a:off x="1795925" y="2719325"/>
            <a:ext cx="5965200" cy="777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Visual Identity | University of Colombo, Sri Lanka" id="61" name="Google Shape;61;p13"/>
          <p:cNvPicPr preferRelativeResize="0"/>
          <p:nvPr/>
        </p:nvPicPr>
        <p:blipFill>
          <a:blip r:embed="rId4">
            <a:alphaModFix/>
          </a:blip>
          <a:stretch>
            <a:fillRect/>
          </a:stretch>
        </p:blipFill>
        <p:spPr>
          <a:xfrm>
            <a:off x="6187850" y="217625"/>
            <a:ext cx="2657909" cy="792600"/>
          </a:xfrm>
          <a:prstGeom prst="rect">
            <a:avLst/>
          </a:prstGeom>
          <a:noFill/>
          <a:ln>
            <a:noFill/>
          </a:ln>
        </p:spPr>
      </p:pic>
      <p:sp>
        <p:nvSpPr>
          <p:cNvPr id="62" name="Google Shape;62;p13"/>
          <p:cNvSpPr txBox="1"/>
          <p:nvPr/>
        </p:nvSpPr>
        <p:spPr>
          <a:xfrm>
            <a:off x="7139750" y="4506125"/>
            <a:ext cx="1556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dk2"/>
                </a:solidFill>
              </a:rPr>
              <a:t>Dr. Marta Monti</a:t>
            </a:r>
            <a:endParaRPr sz="15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Full MD pipeline</a:t>
            </a:r>
            <a:endParaRPr sz="2500">
              <a:latin typeface="Montserrat SemiBold"/>
              <a:ea typeface="Montserrat SemiBold"/>
              <a:cs typeface="Montserrat SemiBold"/>
              <a:sym typeface="Montserrat SemiBold"/>
            </a:endParaRPr>
          </a:p>
        </p:txBody>
      </p:sp>
      <p:sp>
        <p:nvSpPr>
          <p:cNvPr id="68" name="Google Shape;68;p1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0" name="Google Shape;70;p14"/>
          <p:cNvSpPr/>
          <p:nvPr/>
        </p:nvSpPr>
        <p:spPr>
          <a:xfrm>
            <a:off x="762547" y="1279825"/>
            <a:ext cx="1871700" cy="722700"/>
          </a:xfrm>
          <a:prstGeom prst="roundRect">
            <a:avLst>
              <a:gd fmla="val 16667" name="adj"/>
            </a:avLst>
          </a:prstGeom>
          <a:solidFill>
            <a:srgbClr val="E6B8AF">
              <a:alpha val="25910"/>
            </a:srgbClr>
          </a:solidFill>
          <a:ln cap="flat" cmpd="sng" w="9525">
            <a:solidFill>
              <a:srgbClr val="CC4125"/>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Step 1</a:t>
            </a:r>
            <a:br>
              <a:rPr lang="it"/>
            </a:br>
            <a:r>
              <a:rPr lang="it"/>
              <a:t>System (and box) preparation</a:t>
            </a:r>
            <a:endParaRPr/>
          </a:p>
        </p:txBody>
      </p:sp>
      <p:sp>
        <p:nvSpPr>
          <p:cNvPr id="71" name="Google Shape;71;p14"/>
          <p:cNvSpPr/>
          <p:nvPr/>
        </p:nvSpPr>
        <p:spPr>
          <a:xfrm>
            <a:off x="2970800" y="1568950"/>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p:nvPr/>
        </p:nvSpPr>
        <p:spPr>
          <a:xfrm>
            <a:off x="3657463" y="1279825"/>
            <a:ext cx="1871700" cy="722700"/>
          </a:xfrm>
          <a:prstGeom prst="roundRect">
            <a:avLst>
              <a:gd fmla="val 16667" name="adj"/>
            </a:avLst>
          </a:prstGeom>
          <a:solidFill>
            <a:srgbClr val="FFF2CC">
              <a:alpha val="39550"/>
            </a:srgbClr>
          </a:solidFill>
          <a:ln cap="flat" cmpd="sng" w="9525">
            <a:solidFill>
              <a:srgbClr val="F1C232"/>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Step 2</a:t>
            </a:r>
            <a:br>
              <a:rPr lang="it"/>
            </a:br>
            <a:r>
              <a:rPr lang="it"/>
              <a:t>Energy minimization</a:t>
            </a:r>
            <a:endParaRPr/>
          </a:p>
        </p:txBody>
      </p:sp>
      <p:sp>
        <p:nvSpPr>
          <p:cNvPr id="73" name="Google Shape;73;p14"/>
          <p:cNvSpPr/>
          <p:nvPr/>
        </p:nvSpPr>
        <p:spPr>
          <a:xfrm>
            <a:off x="5865713" y="1561225"/>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4"/>
          <p:cNvSpPr/>
          <p:nvPr/>
        </p:nvSpPr>
        <p:spPr>
          <a:xfrm>
            <a:off x="6552363" y="1287550"/>
            <a:ext cx="1871700" cy="722700"/>
          </a:xfrm>
          <a:prstGeom prst="roundRect">
            <a:avLst>
              <a:gd fmla="val 16667" name="adj"/>
            </a:avLst>
          </a:prstGeom>
          <a:solidFill>
            <a:srgbClr val="C9DAF8">
              <a:alpha val="40910"/>
            </a:srgbClr>
          </a:solidFill>
          <a:ln cap="flat" cmpd="sng" w="9525">
            <a:solidFill>
              <a:srgbClr val="1155CC"/>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Step 3</a:t>
            </a:r>
            <a:br>
              <a:rPr lang="it"/>
            </a:br>
            <a:r>
              <a:rPr lang="it"/>
              <a:t>Equilibration</a:t>
            </a:r>
            <a:endParaRPr/>
          </a:p>
        </p:txBody>
      </p:sp>
      <p:sp>
        <p:nvSpPr>
          <p:cNvPr id="75" name="Google Shape;75;p14"/>
          <p:cNvSpPr/>
          <p:nvPr/>
        </p:nvSpPr>
        <p:spPr>
          <a:xfrm>
            <a:off x="1959347" y="2737893"/>
            <a:ext cx="1871700" cy="722700"/>
          </a:xfrm>
          <a:prstGeom prst="roundRect">
            <a:avLst>
              <a:gd fmla="val 16667" name="adj"/>
            </a:avLst>
          </a:prstGeom>
          <a:solidFill>
            <a:srgbClr val="D9EAD3">
              <a:alpha val="37270"/>
            </a:srgbClr>
          </a:solidFill>
          <a:ln cap="flat" cmpd="sng" w="9525">
            <a:solidFill>
              <a:srgbClr val="38761D"/>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Step 4</a:t>
            </a:r>
            <a:endParaRPr/>
          </a:p>
          <a:p>
            <a:pPr indent="0" lvl="0" marL="0" rtl="0" algn="ctr">
              <a:lnSpc>
                <a:spcPct val="115000"/>
              </a:lnSpc>
              <a:spcBef>
                <a:spcPts val="0"/>
              </a:spcBef>
              <a:spcAft>
                <a:spcPts val="0"/>
              </a:spcAft>
              <a:buNone/>
            </a:pPr>
            <a:r>
              <a:rPr lang="it"/>
              <a:t>Production</a:t>
            </a:r>
            <a:endParaRPr/>
          </a:p>
        </p:txBody>
      </p:sp>
      <p:sp>
        <p:nvSpPr>
          <p:cNvPr id="76" name="Google Shape;76;p14"/>
          <p:cNvSpPr/>
          <p:nvPr/>
        </p:nvSpPr>
        <p:spPr>
          <a:xfrm>
            <a:off x="4396950" y="3019283"/>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4"/>
          <p:cNvSpPr/>
          <p:nvPr/>
        </p:nvSpPr>
        <p:spPr>
          <a:xfrm>
            <a:off x="5312996" y="2737893"/>
            <a:ext cx="1871700" cy="722700"/>
          </a:xfrm>
          <a:prstGeom prst="roundRect">
            <a:avLst>
              <a:gd fmla="val 16667" name="adj"/>
            </a:avLst>
          </a:prstGeom>
          <a:solidFill>
            <a:srgbClr val="EAD1DC">
              <a:alpha val="37270"/>
            </a:srgbClr>
          </a:solidFill>
          <a:ln cap="flat" cmpd="sng" w="9525">
            <a:solidFill>
              <a:srgbClr val="741B47"/>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Step 5</a:t>
            </a:r>
            <a:br>
              <a:rPr lang="it"/>
            </a:br>
            <a:r>
              <a:rPr lang="it"/>
              <a:t>Analyses</a:t>
            </a:r>
            <a:endParaRPr/>
          </a:p>
        </p:txBody>
      </p:sp>
      <p:pic>
        <p:nvPicPr>
          <p:cNvPr id="78" name="Google Shape;78;p14"/>
          <p:cNvPicPr preferRelativeResize="0"/>
          <p:nvPr/>
        </p:nvPicPr>
        <p:blipFill>
          <a:blip r:embed="rId3">
            <a:alphaModFix/>
          </a:blip>
          <a:stretch>
            <a:fillRect/>
          </a:stretch>
        </p:blipFill>
        <p:spPr>
          <a:xfrm>
            <a:off x="5706400" y="4100124"/>
            <a:ext cx="2868413" cy="722701"/>
          </a:xfrm>
          <a:prstGeom prst="rect">
            <a:avLst/>
          </a:prstGeom>
          <a:noFill/>
          <a:ln>
            <a:noFill/>
          </a:ln>
        </p:spPr>
      </p:pic>
      <p:sp>
        <p:nvSpPr>
          <p:cNvPr id="79" name="Google Shape;79;p14"/>
          <p:cNvSpPr txBox="1"/>
          <p:nvPr/>
        </p:nvSpPr>
        <p:spPr>
          <a:xfrm>
            <a:off x="196800" y="3978475"/>
            <a:ext cx="5116200" cy="966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t" sz="1500"/>
              <a:t>There are many softwares to run classical MD simulations (e.g., AMBER, LAMMPS, CP2K, etc…). </a:t>
            </a:r>
            <a:endParaRPr sz="1500"/>
          </a:p>
          <a:p>
            <a:pPr indent="0" lvl="0" marL="0" rtl="0" algn="just">
              <a:lnSpc>
                <a:spcPct val="115000"/>
              </a:lnSpc>
              <a:spcBef>
                <a:spcPts val="0"/>
              </a:spcBef>
              <a:spcAft>
                <a:spcPts val="0"/>
              </a:spcAft>
              <a:buNone/>
            </a:pPr>
            <a:r>
              <a:rPr lang="it" sz="1500"/>
              <a:t>Among them, one of the most used is </a:t>
            </a:r>
            <a:r>
              <a:rPr b="1" lang="it" sz="1500"/>
              <a:t>GROMACS</a:t>
            </a:r>
            <a:endParaRPr b="1" sz="15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p:nvPr/>
        </p:nvSpPr>
        <p:spPr>
          <a:xfrm>
            <a:off x="282731" y="2377300"/>
            <a:ext cx="3498300" cy="2117700"/>
          </a:xfrm>
          <a:prstGeom prst="roundRect">
            <a:avLst>
              <a:gd fmla="val 5330" name="adj"/>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1: System and box preparation</a:t>
            </a:r>
            <a:endParaRPr sz="2500">
              <a:latin typeface="Montserrat SemiBold"/>
              <a:ea typeface="Montserrat SemiBold"/>
              <a:cs typeface="Montserrat SemiBold"/>
              <a:sym typeface="Montserrat SemiBold"/>
            </a:endParaRPr>
          </a:p>
        </p:txBody>
      </p:sp>
      <p:sp>
        <p:nvSpPr>
          <p:cNvPr id="86" name="Google Shape;86;p1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8" name="Google Shape;88;p15"/>
          <p:cNvSpPr txBox="1"/>
          <p:nvPr/>
        </p:nvSpPr>
        <p:spPr>
          <a:xfrm>
            <a:off x="230731" y="854150"/>
            <a:ext cx="8663100" cy="393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it" sz="1600"/>
              <a:t>The first thing we need to do is prepare a solvated simulation box containing our biomolecule</a:t>
            </a:r>
            <a:endParaRPr sz="1600">
              <a:solidFill>
                <a:srgbClr val="000000"/>
              </a:solidFill>
            </a:endParaRPr>
          </a:p>
        </p:txBody>
      </p:sp>
      <p:sp>
        <p:nvSpPr>
          <p:cNvPr id="89" name="Google Shape;89;p15"/>
          <p:cNvSpPr/>
          <p:nvPr/>
        </p:nvSpPr>
        <p:spPr>
          <a:xfrm>
            <a:off x="329995" y="1466012"/>
            <a:ext cx="1302900" cy="5727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Structure</a:t>
            </a:r>
            <a:endParaRPr/>
          </a:p>
        </p:txBody>
      </p:sp>
      <p:sp>
        <p:nvSpPr>
          <p:cNvPr id="90" name="Google Shape;90;p15"/>
          <p:cNvSpPr/>
          <p:nvPr/>
        </p:nvSpPr>
        <p:spPr>
          <a:xfrm>
            <a:off x="2430713" y="1464298"/>
            <a:ext cx="1302900" cy="5727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Topology</a:t>
            </a:r>
            <a:endParaRPr/>
          </a:p>
        </p:txBody>
      </p:sp>
      <p:sp>
        <p:nvSpPr>
          <p:cNvPr id="91" name="Google Shape;91;p15"/>
          <p:cNvSpPr txBox="1"/>
          <p:nvPr/>
        </p:nvSpPr>
        <p:spPr>
          <a:xfrm>
            <a:off x="282581" y="2377300"/>
            <a:ext cx="3498300" cy="572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300"/>
              <a:t>Assign atom types, bonds, charges and force-field parameters to the biomolecule.</a:t>
            </a:r>
            <a:endParaRPr sz="1300">
              <a:solidFill>
                <a:srgbClr val="000000"/>
              </a:solidFill>
            </a:endParaRPr>
          </a:p>
        </p:txBody>
      </p:sp>
      <p:grpSp>
        <p:nvGrpSpPr>
          <p:cNvPr id="92" name="Google Shape;92;p15"/>
          <p:cNvGrpSpPr/>
          <p:nvPr/>
        </p:nvGrpSpPr>
        <p:grpSpPr>
          <a:xfrm>
            <a:off x="537206" y="3047565"/>
            <a:ext cx="2708162" cy="1404635"/>
            <a:chOff x="8193" y="2543640"/>
            <a:chExt cx="2632095" cy="1365181"/>
          </a:xfrm>
        </p:grpSpPr>
        <p:pic>
          <p:nvPicPr>
            <p:cNvPr id="93" name="Google Shape;93;p15" title="beta-h.jpg"/>
            <p:cNvPicPr preferRelativeResize="0"/>
            <p:nvPr/>
          </p:nvPicPr>
          <p:blipFill rotWithShape="1">
            <a:blip r:embed="rId3">
              <a:alphaModFix/>
            </a:blip>
            <a:srcRect b="32027" l="10588" r="8897" t="29691"/>
            <a:stretch/>
          </p:blipFill>
          <p:spPr>
            <a:xfrm>
              <a:off x="72275" y="2667025"/>
              <a:ext cx="2568013" cy="1221074"/>
            </a:xfrm>
            <a:prstGeom prst="rect">
              <a:avLst/>
            </a:prstGeom>
            <a:noFill/>
            <a:ln>
              <a:noFill/>
            </a:ln>
          </p:spPr>
        </p:pic>
        <p:sp>
          <p:nvSpPr>
            <p:cNvPr id="94" name="Google Shape;94;p15"/>
            <p:cNvSpPr txBox="1"/>
            <p:nvPr/>
          </p:nvSpPr>
          <p:spPr>
            <a:xfrm>
              <a:off x="8193" y="2893899"/>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HO</a:t>
              </a:r>
              <a:endParaRPr b="1" sz="1132">
                <a:solidFill>
                  <a:srgbClr val="000000"/>
                </a:solidFill>
              </a:endParaRPr>
            </a:p>
          </p:txBody>
        </p:sp>
        <p:sp>
          <p:nvSpPr>
            <p:cNvPr id="95" name="Google Shape;95;p15"/>
            <p:cNvSpPr txBox="1"/>
            <p:nvPr/>
          </p:nvSpPr>
          <p:spPr>
            <a:xfrm>
              <a:off x="367671" y="3046299"/>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OT</a:t>
              </a:r>
              <a:endParaRPr b="1" sz="1132">
                <a:solidFill>
                  <a:srgbClr val="000000"/>
                </a:solidFill>
              </a:endParaRPr>
            </a:p>
          </p:txBody>
        </p:sp>
        <p:sp>
          <p:nvSpPr>
            <p:cNvPr id="96" name="Google Shape;96;p15"/>
            <p:cNvSpPr txBox="1"/>
            <p:nvPr/>
          </p:nvSpPr>
          <p:spPr>
            <a:xfrm>
              <a:off x="618413" y="3381993"/>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N</a:t>
              </a:r>
              <a:endParaRPr b="1" sz="1132">
                <a:solidFill>
                  <a:srgbClr val="000000"/>
                </a:solidFill>
              </a:endParaRPr>
            </a:p>
          </p:txBody>
        </p:sp>
        <p:sp>
          <p:nvSpPr>
            <p:cNvPr id="97" name="Google Shape;97;p15"/>
            <p:cNvSpPr txBox="1"/>
            <p:nvPr/>
          </p:nvSpPr>
          <p:spPr>
            <a:xfrm>
              <a:off x="618434" y="2941451"/>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a:t>
              </a:r>
              <a:endParaRPr b="1" sz="1132">
                <a:solidFill>
                  <a:srgbClr val="000000"/>
                </a:solidFill>
              </a:endParaRPr>
            </a:p>
          </p:txBody>
        </p:sp>
        <p:sp>
          <p:nvSpPr>
            <p:cNvPr id="98" name="Google Shape;98;p15"/>
            <p:cNvSpPr txBox="1"/>
            <p:nvPr/>
          </p:nvSpPr>
          <p:spPr>
            <a:xfrm>
              <a:off x="838129" y="3073481"/>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C</a:t>
              </a:r>
              <a:endParaRPr b="1" sz="1132">
                <a:solidFill>
                  <a:srgbClr val="000000"/>
                </a:solidFill>
              </a:endParaRPr>
            </a:p>
          </p:txBody>
        </p:sp>
        <p:sp>
          <p:nvSpPr>
            <p:cNvPr id="99" name="Google Shape;99;p15"/>
            <p:cNvSpPr txBox="1"/>
            <p:nvPr/>
          </p:nvSpPr>
          <p:spPr>
            <a:xfrm>
              <a:off x="861104" y="3552421"/>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O</a:t>
              </a:r>
              <a:endParaRPr b="1" sz="1132">
                <a:solidFill>
                  <a:srgbClr val="000000"/>
                </a:solidFill>
              </a:endParaRPr>
            </a:p>
          </p:txBody>
        </p:sp>
        <p:sp>
          <p:nvSpPr>
            <p:cNvPr id="100" name="Google Shape;100;p15"/>
            <p:cNvSpPr txBox="1"/>
            <p:nvPr/>
          </p:nvSpPr>
          <p:spPr>
            <a:xfrm>
              <a:off x="1101502" y="3204667"/>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CA</a:t>
              </a:r>
              <a:endParaRPr b="1" sz="1132">
                <a:solidFill>
                  <a:srgbClr val="000000"/>
                </a:solidFill>
              </a:endParaRPr>
            </a:p>
          </p:txBody>
        </p:sp>
        <p:sp>
          <p:nvSpPr>
            <p:cNvPr id="101" name="Google Shape;101;p15"/>
            <p:cNvSpPr txBox="1"/>
            <p:nvPr/>
          </p:nvSpPr>
          <p:spPr>
            <a:xfrm>
              <a:off x="1253902" y="2884228"/>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HA</a:t>
              </a:r>
              <a:endParaRPr b="1" sz="1132">
                <a:solidFill>
                  <a:srgbClr val="000000"/>
                </a:solidFill>
              </a:endParaRPr>
            </a:p>
          </p:txBody>
        </p:sp>
        <p:sp>
          <p:nvSpPr>
            <p:cNvPr id="102" name="Google Shape;102;p15"/>
            <p:cNvSpPr txBox="1"/>
            <p:nvPr/>
          </p:nvSpPr>
          <p:spPr>
            <a:xfrm>
              <a:off x="1375227" y="2543640"/>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HB</a:t>
              </a:r>
              <a:endParaRPr b="1" sz="1132">
                <a:solidFill>
                  <a:srgbClr val="000000"/>
                </a:solidFill>
              </a:endParaRPr>
            </a:p>
          </p:txBody>
        </p:sp>
        <p:sp>
          <p:nvSpPr>
            <p:cNvPr id="103" name="Google Shape;103;p15"/>
            <p:cNvSpPr txBox="1"/>
            <p:nvPr/>
          </p:nvSpPr>
          <p:spPr>
            <a:xfrm>
              <a:off x="995071" y="2554690"/>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CB</a:t>
              </a:r>
              <a:endParaRPr b="1" sz="1132">
                <a:solidFill>
                  <a:srgbClr val="000000"/>
                </a:solidFill>
              </a:endParaRPr>
            </a:p>
          </p:txBody>
        </p:sp>
      </p:grpSp>
      <p:sp>
        <p:nvSpPr>
          <p:cNvPr id="104" name="Google Shape;104;p15"/>
          <p:cNvSpPr/>
          <p:nvPr/>
        </p:nvSpPr>
        <p:spPr>
          <a:xfrm>
            <a:off x="1856744" y="1698725"/>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5" name="Google Shape;105;p15" title="Screenshot 2026-09-06 at 17.32.13.png"/>
          <p:cNvPicPr preferRelativeResize="0"/>
          <p:nvPr/>
        </p:nvPicPr>
        <p:blipFill rotWithShape="1">
          <a:blip r:embed="rId4">
            <a:alphaModFix/>
          </a:blip>
          <a:srcRect b="6577" l="5194" r="29142" t="21232"/>
          <a:stretch/>
        </p:blipFill>
        <p:spPr>
          <a:xfrm>
            <a:off x="4421350" y="1465999"/>
            <a:ext cx="4328975" cy="30906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p:nvPr/>
        </p:nvSpPr>
        <p:spPr>
          <a:xfrm>
            <a:off x="6883600" y="2366575"/>
            <a:ext cx="1965000" cy="891600"/>
          </a:xfrm>
          <a:prstGeom prst="roundRect">
            <a:avLst>
              <a:gd fmla="val 5330" name="adj"/>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6"/>
          <p:cNvSpPr/>
          <p:nvPr/>
        </p:nvSpPr>
        <p:spPr>
          <a:xfrm>
            <a:off x="282731" y="2377300"/>
            <a:ext cx="3498300" cy="2117700"/>
          </a:xfrm>
          <a:prstGeom prst="roundRect">
            <a:avLst>
              <a:gd fmla="val 5330" name="adj"/>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6"/>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1: System and box preparation</a:t>
            </a:r>
            <a:endParaRPr sz="2500">
              <a:latin typeface="Montserrat SemiBold"/>
              <a:ea typeface="Montserrat SemiBold"/>
              <a:cs typeface="Montserrat SemiBold"/>
              <a:sym typeface="Montserrat SemiBold"/>
            </a:endParaRPr>
          </a:p>
        </p:txBody>
      </p:sp>
      <p:sp>
        <p:nvSpPr>
          <p:cNvPr id="113" name="Google Shape;113;p1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5" name="Google Shape;115;p16"/>
          <p:cNvSpPr txBox="1"/>
          <p:nvPr/>
        </p:nvSpPr>
        <p:spPr>
          <a:xfrm>
            <a:off x="230731" y="854150"/>
            <a:ext cx="8663100" cy="393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it" sz="1600"/>
              <a:t>The first thing we need to do is prepare a solvated simulation box containing our biomolecule</a:t>
            </a:r>
            <a:endParaRPr sz="1600">
              <a:solidFill>
                <a:srgbClr val="000000"/>
              </a:solidFill>
            </a:endParaRPr>
          </a:p>
        </p:txBody>
      </p:sp>
      <p:sp>
        <p:nvSpPr>
          <p:cNvPr id="116" name="Google Shape;116;p16"/>
          <p:cNvSpPr/>
          <p:nvPr/>
        </p:nvSpPr>
        <p:spPr>
          <a:xfrm>
            <a:off x="329995" y="1466012"/>
            <a:ext cx="1302900" cy="5727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Structure</a:t>
            </a:r>
            <a:endParaRPr/>
          </a:p>
        </p:txBody>
      </p:sp>
      <p:sp>
        <p:nvSpPr>
          <p:cNvPr id="117" name="Google Shape;117;p16"/>
          <p:cNvSpPr/>
          <p:nvPr/>
        </p:nvSpPr>
        <p:spPr>
          <a:xfrm>
            <a:off x="2430713" y="1464298"/>
            <a:ext cx="1302900" cy="5727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Topology</a:t>
            </a:r>
            <a:endParaRPr/>
          </a:p>
        </p:txBody>
      </p:sp>
      <p:sp>
        <p:nvSpPr>
          <p:cNvPr id="118" name="Google Shape;118;p16"/>
          <p:cNvSpPr txBox="1"/>
          <p:nvPr/>
        </p:nvSpPr>
        <p:spPr>
          <a:xfrm>
            <a:off x="282581" y="2377300"/>
            <a:ext cx="3498300" cy="572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300"/>
              <a:t>Assign a</a:t>
            </a:r>
            <a:r>
              <a:rPr lang="it" sz="1300"/>
              <a:t>tom types, bonds, charges and force-field parameters to the biomolecule.</a:t>
            </a:r>
            <a:endParaRPr sz="1300">
              <a:solidFill>
                <a:srgbClr val="000000"/>
              </a:solidFill>
            </a:endParaRPr>
          </a:p>
        </p:txBody>
      </p:sp>
      <p:sp>
        <p:nvSpPr>
          <p:cNvPr id="119" name="Google Shape;119;p16"/>
          <p:cNvSpPr/>
          <p:nvPr/>
        </p:nvSpPr>
        <p:spPr>
          <a:xfrm>
            <a:off x="4766713" y="1466012"/>
            <a:ext cx="1302900" cy="572700"/>
          </a:xfrm>
          <a:prstGeom prst="roundRect">
            <a:avLst>
              <a:gd fmla="val 16667" name="adj"/>
            </a:avLst>
          </a:prstGeom>
          <a:solidFill>
            <a:srgbClr val="C9DAF8">
              <a:alpha val="4091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Simulation box</a:t>
            </a:r>
            <a:endParaRPr/>
          </a:p>
        </p:txBody>
      </p:sp>
      <p:sp>
        <p:nvSpPr>
          <p:cNvPr id="120" name="Google Shape;120;p16"/>
          <p:cNvSpPr/>
          <p:nvPr/>
        </p:nvSpPr>
        <p:spPr>
          <a:xfrm>
            <a:off x="6397113" y="1698712"/>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6"/>
          <p:cNvSpPr/>
          <p:nvPr/>
        </p:nvSpPr>
        <p:spPr>
          <a:xfrm>
            <a:off x="7074698" y="1464287"/>
            <a:ext cx="1582800" cy="572700"/>
          </a:xfrm>
          <a:prstGeom prst="roundRect">
            <a:avLst>
              <a:gd fmla="val 16667" name="adj"/>
            </a:avLst>
          </a:prstGeom>
          <a:solidFill>
            <a:srgbClr val="D9EAD3">
              <a:alpha val="37270"/>
            </a:srgbClr>
          </a:solidFill>
          <a:ln cap="flat" cmpd="sng" w="9525">
            <a:solidFill>
              <a:srgbClr val="38761D"/>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Solvation </a:t>
            </a:r>
            <a:r>
              <a:rPr b="1" lang="it" sz="1500"/>
              <a:t>(H</a:t>
            </a:r>
            <a:r>
              <a:rPr b="1" baseline="-25000" lang="it" sz="1500"/>
              <a:t>2</a:t>
            </a:r>
            <a:r>
              <a:rPr b="1" lang="it" sz="1500"/>
              <a:t>O + Ions)</a:t>
            </a:r>
            <a:endParaRPr sz="1300"/>
          </a:p>
        </p:txBody>
      </p:sp>
      <p:sp>
        <p:nvSpPr>
          <p:cNvPr id="122" name="Google Shape;122;p16"/>
          <p:cNvSpPr/>
          <p:nvPr/>
        </p:nvSpPr>
        <p:spPr>
          <a:xfrm>
            <a:off x="4089119" y="1672412"/>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3" name="Google Shape;123;p16"/>
          <p:cNvGrpSpPr/>
          <p:nvPr/>
        </p:nvGrpSpPr>
        <p:grpSpPr>
          <a:xfrm>
            <a:off x="537206" y="3047565"/>
            <a:ext cx="2708162" cy="1404635"/>
            <a:chOff x="8193" y="2543640"/>
            <a:chExt cx="2632095" cy="1365181"/>
          </a:xfrm>
        </p:grpSpPr>
        <p:pic>
          <p:nvPicPr>
            <p:cNvPr id="124" name="Google Shape;124;p16" title="beta-h.jpg"/>
            <p:cNvPicPr preferRelativeResize="0"/>
            <p:nvPr/>
          </p:nvPicPr>
          <p:blipFill rotWithShape="1">
            <a:blip r:embed="rId3">
              <a:alphaModFix/>
            </a:blip>
            <a:srcRect b="32027" l="10588" r="8897" t="29691"/>
            <a:stretch/>
          </p:blipFill>
          <p:spPr>
            <a:xfrm>
              <a:off x="72275" y="2667025"/>
              <a:ext cx="2568013" cy="1221074"/>
            </a:xfrm>
            <a:prstGeom prst="rect">
              <a:avLst/>
            </a:prstGeom>
            <a:noFill/>
            <a:ln>
              <a:noFill/>
            </a:ln>
          </p:spPr>
        </p:pic>
        <p:sp>
          <p:nvSpPr>
            <p:cNvPr id="125" name="Google Shape;125;p16"/>
            <p:cNvSpPr txBox="1"/>
            <p:nvPr/>
          </p:nvSpPr>
          <p:spPr>
            <a:xfrm>
              <a:off x="8193" y="2893899"/>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HO</a:t>
              </a:r>
              <a:endParaRPr b="1" sz="1132">
                <a:solidFill>
                  <a:srgbClr val="000000"/>
                </a:solidFill>
              </a:endParaRPr>
            </a:p>
          </p:txBody>
        </p:sp>
        <p:sp>
          <p:nvSpPr>
            <p:cNvPr id="126" name="Google Shape;126;p16"/>
            <p:cNvSpPr txBox="1"/>
            <p:nvPr/>
          </p:nvSpPr>
          <p:spPr>
            <a:xfrm>
              <a:off x="367671" y="3046299"/>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OT</a:t>
              </a:r>
              <a:endParaRPr b="1" sz="1132">
                <a:solidFill>
                  <a:srgbClr val="000000"/>
                </a:solidFill>
              </a:endParaRPr>
            </a:p>
          </p:txBody>
        </p:sp>
        <p:sp>
          <p:nvSpPr>
            <p:cNvPr id="127" name="Google Shape;127;p16"/>
            <p:cNvSpPr txBox="1"/>
            <p:nvPr/>
          </p:nvSpPr>
          <p:spPr>
            <a:xfrm>
              <a:off x="618413" y="3381993"/>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N</a:t>
              </a:r>
              <a:endParaRPr b="1" sz="1132">
                <a:solidFill>
                  <a:srgbClr val="000000"/>
                </a:solidFill>
              </a:endParaRPr>
            </a:p>
          </p:txBody>
        </p:sp>
        <p:sp>
          <p:nvSpPr>
            <p:cNvPr id="128" name="Google Shape;128;p16"/>
            <p:cNvSpPr txBox="1"/>
            <p:nvPr/>
          </p:nvSpPr>
          <p:spPr>
            <a:xfrm>
              <a:off x="618434" y="2941451"/>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a:t>
              </a:r>
              <a:endParaRPr b="1" sz="1132">
                <a:solidFill>
                  <a:srgbClr val="000000"/>
                </a:solidFill>
              </a:endParaRPr>
            </a:p>
          </p:txBody>
        </p:sp>
        <p:sp>
          <p:nvSpPr>
            <p:cNvPr id="129" name="Google Shape;129;p16"/>
            <p:cNvSpPr txBox="1"/>
            <p:nvPr/>
          </p:nvSpPr>
          <p:spPr>
            <a:xfrm>
              <a:off x="838129" y="3073481"/>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C</a:t>
              </a:r>
              <a:endParaRPr b="1" sz="1132">
                <a:solidFill>
                  <a:srgbClr val="000000"/>
                </a:solidFill>
              </a:endParaRPr>
            </a:p>
          </p:txBody>
        </p:sp>
        <p:sp>
          <p:nvSpPr>
            <p:cNvPr id="130" name="Google Shape;130;p16"/>
            <p:cNvSpPr txBox="1"/>
            <p:nvPr/>
          </p:nvSpPr>
          <p:spPr>
            <a:xfrm>
              <a:off x="861104" y="3552421"/>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O</a:t>
              </a:r>
              <a:endParaRPr b="1" sz="1132">
                <a:solidFill>
                  <a:srgbClr val="000000"/>
                </a:solidFill>
              </a:endParaRPr>
            </a:p>
          </p:txBody>
        </p:sp>
        <p:sp>
          <p:nvSpPr>
            <p:cNvPr id="131" name="Google Shape;131;p16"/>
            <p:cNvSpPr txBox="1"/>
            <p:nvPr/>
          </p:nvSpPr>
          <p:spPr>
            <a:xfrm>
              <a:off x="1101502" y="3204667"/>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CA</a:t>
              </a:r>
              <a:endParaRPr b="1" sz="1132">
                <a:solidFill>
                  <a:srgbClr val="000000"/>
                </a:solidFill>
              </a:endParaRPr>
            </a:p>
          </p:txBody>
        </p:sp>
        <p:sp>
          <p:nvSpPr>
            <p:cNvPr id="132" name="Google Shape;132;p16"/>
            <p:cNvSpPr txBox="1"/>
            <p:nvPr/>
          </p:nvSpPr>
          <p:spPr>
            <a:xfrm>
              <a:off x="1253902" y="2884228"/>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a:t>
              </a:r>
              <a:r>
                <a:rPr b="1" lang="it" sz="1132"/>
                <a:t>A</a:t>
              </a:r>
              <a:endParaRPr b="1" sz="1132">
                <a:solidFill>
                  <a:srgbClr val="000000"/>
                </a:solidFill>
              </a:endParaRPr>
            </a:p>
          </p:txBody>
        </p:sp>
        <p:sp>
          <p:nvSpPr>
            <p:cNvPr id="133" name="Google Shape;133;p16"/>
            <p:cNvSpPr txBox="1"/>
            <p:nvPr/>
          </p:nvSpPr>
          <p:spPr>
            <a:xfrm>
              <a:off x="1375227" y="2543640"/>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HB</a:t>
              </a:r>
              <a:endParaRPr b="1" sz="1132">
                <a:solidFill>
                  <a:srgbClr val="000000"/>
                </a:solidFill>
              </a:endParaRPr>
            </a:p>
          </p:txBody>
        </p:sp>
        <p:sp>
          <p:nvSpPr>
            <p:cNvPr id="134" name="Google Shape;134;p16"/>
            <p:cNvSpPr txBox="1"/>
            <p:nvPr/>
          </p:nvSpPr>
          <p:spPr>
            <a:xfrm>
              <a:off x="995071" y="2554690"/>
              <a:ext cx="438600" cy="356400"/>
            </a:xfrm>
            <a:prstGeom prst="rect">
              <a:avLst/>
            </a:prstGeom>
            <a:noFill/>
            <a:ln>
              <a:noFill/>
            </a:ln>
          </p:spPr>
          <p:txBody>
            <a:bodyPr anchorCtr="0" anchor="t" bIns="94075" lIns="94075" spcFirstLastPara="1" rIns="94075" wrap="square" tIns="94075">
              <a:noAutofit/>
            </a:bodyPr>
            <a:lstStyle/>
            <a:p>
              <a:pPr indent="0" lvl="0" marL="0" rtl="0" algn="ctr">
                <a:spcBef>
                  <a:spcPts val="0"/>
                </a:spcBef>
                <a:spcAft>
                  <a:spcPts val="0"/>
                </a:spcAft>
                <a:buNone/>
              </a:pPr>
              <a:r>
                <a:rPr b="1" lang="it" sz="1132"/>
                <a:t>CB</a:t>
              </a:r>
              <a:endParaRPr b="1" sz="1132">
                <a:solidFill>
                  <a:srgbClr val="000000"/>
                </a:solidFill>
              </a:endParaRPr>
            </a:p>
          </p:txBody>
        </p:sp>
      </p:grpSp>
      <p:sp>
        <p:nvSpPr>
          <p:cNvPr id="135" name="Google Shape;135;p16"/>
          <p:cNvSpPr txBox="1"/>
          <p:nvPr/>
        </p:nvSpPr>
        <p:spPr>
          <a:xfrm>
            <a:off x="6857506" y="2373851"/>
            <a:ext cx="2017200" cy="758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300"/>
              <a:t>Fill the box with water and ions to obtain an electrically </a:t>
            </a:r>
            <a:r>
              <a:rPr b="1" lang="it" sz="1300"/>
              <a:t>neutral</a:t>
            </a:r>
            <a:r>
              <a:rPr i="1" lang="it" sz="1300"/>
              <a:t> </a:t>
            </a:r>
            <a:r>
              <a:rPr b="1" lang="it" sz="1300"/>
              <a:t>box</a:t>
            </a:r>
            <a:r>
              <a:rPr lang="it" sz="1300"/>
              <a:t>.</a:t>
            </a:r>
            <a:endParaRPr sz="1300">
              <a:solidFill>
                <a:srgbClr val="000000"/>
              </a:solidFill>
            </a:endParaRPr>
          </a:p>
        </p:txBody>
      </p:sp>
      <p:sp>
        <p:nvSpPr>
          <p:cNvPr id="136" name="Google Shape;136;p16"/>
          <p:cNvSpPr txBox="1"/>
          <p:nvPr/>
        </p:nvSpPr>
        <p:spPr>
          <a:xfrm>
            <a:off x="4311056" y="3588200"/>
            <a:ext cx="4522200" cy="672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solidFill>
                  <a:schemeClr val="dk1"/>
                </a:solidFill>
              </a:rPr>
              <a:t>All these steps can be performed with GROMACS commands that we’ll use this afternoon</a:t>
            </a:r>
            <a:endParaRPr sz="1500"/>
          </a:p>
        </p:txBody>
      </p:sp>
      <p:sp>
        <p:nvSpPr>
          <p:cNvPr id="137" name="Google Shape;137;p16"/>
          <p:cNvSpPr/>
          <p:nvPr/>
        </p:nvSpPr>
        <p:spPr>
          <a:xfrm>
            <a:off x="4205700" y="2377300"/>
            <a:ext cx="2424900" cy="1073400"/>
          </a:xfrm>
          <a:prstGeom prst="roundRect">
            <a:avLst>
              <a:gd fmla="val 5330" name="adj"/>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a:p>
        </p:txBody>
      </p:sp>
      <p:sp>
        <p:nvSpPr>
          <p:cNvPr id="138" name="Google Shape;138;p16"/>
          <p:cNvSpPr/>
          <p:nvPr/>
        </p:nvSpPr>
        <p:spPr>
          <a:xfrm>
            <a:off x="1856744" y="1698725"/>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6"/>
          <p:cNvSpPr txBox="1"/>
          <p:nvPr/>
        </p:nvSpPr>
        <p:spPr>
          <a:xfrm>
            <a:off x="4205706" y="2377309"/>
            <a:ext cx="2424900" cy="966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300"/>
              <a:t>P</a:t>
            </a:r>
            <a:r>
              <a:rPr lang="it" sz="1300"/>
              <a:t>lace the biomolecule at the </a:t>
            </a:r>
            <a:r>
              <a:rPr b="1" lang="it" sz="1300"/>
              <a:t>center</a:t>
            </a:r>
            <a:r>
              <a:rPr lang="it" sz="1300"/>
              <a:t> of a box large enough to avoid interactions with its periodic images.</a:t>
            </a:r>
            <a:endParaRPr sz="13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1: System and box preparation</a:t>
            </a:r>
            <a:endParaRPr sz="2500">
              <a:latin typeface="Montserrat SemiBold"/>
              <a:ea typeface="Montserrat SemiBold"/>
              <a:cs typeface="Montserrat SemiBold"/>
              <a:sym typeface="Montserrat SemiBold"/>
            </a:endParaRPr>
          </a:p>
        </p:txBody>
      </p:sp>
      <p:sp>
        <p:nvSpPr>
          <p:cNvPr id="145" name="Google Shape;145;p1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47" name="Google Shape;147;p17" title="struct.jpg"/>
          <p:cNvPicPr preferRelativeResize="0"/>
          <p:nvPr/>
        </p:nvPicPr>
        <p:blipFill rotWithShape="1">
          <a:blip r:embed="rId3">
            <a:alphaModFix/>
          </a:blip>
          <a:srcRect b="23372" l="24502" r="24716" t="24793"/>
          <a:stretch/>
        </p:blipFill>
        <p:spPr>
          <a:xfrm>
            <a:off x="2805462" y="2145675"/>
            <a:ext cx="2936873" cy="2997827"/>
          </a:xfrm>
          <a:prstGeom prst="rect">
            <a:avLst/>
          </a:prstGeom>
          <a:noFill/>
          <a:ln>
            <a:noFill/>
          </a:ln>
        </p:spPr>
      </p:pic>
      <p:sp>
        <p:nvSpPr>
          <p:cNvPr id="148" name="Google Shape;148;p17"/>
          <p:cNvSpPr txBox="1"/>
          <p:nvPr/>
        </p:nvSpPr>
        <p:spPr>
          <a:xfrm>
            <a:off x="230731" y="854150"/>
            <a:ext cx="8663100" cy="393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it" sz="1600"/>
              <a:t>The first thing we need to do is prepare a solvated simulation box containing our biomolecule</a:t>
            </a:r>
            <a:endParaRPr sz="1600">
              <a:solidFill>
                <a:srgbClr val="000000"/>
              </a:solidFill>
            </a:endParaRPr>
          </a:p>
        </p:txBody>
      </p:sp>
      <p:sp>
        <p:nvSpPr>
          <p:cNvPr id="149" name="Google Shape;149;p17"/>
          <p:cNvSpPr/>
          <p:nvPr/>
        </p:nvSpPr>
        <p:spPr>
          <a:xfrm>
            <a:off x="329995" y="1466012"/>
            <a:ext cx="1302900" cy="5727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Structure</a:t>
            </a:r>
            <a:endParaRPr/>
          </a:p>
        </p:txBody>
      </p:sp>
      <p:sp>
        <p:nvSpPr>
          <p:cNvPr id="150" name="Google Shape;150;p17"/>
          <p:cNvSpPr/>
          <p:nvPr/>
        </p:nvSpPr>
        <p:spPr>
          <a:xfrm>
            <a:off x="2430713" y="1464298"/>
            <a:ext cx="1302900" cy="5727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Topology</a:t>
            </a:r>
            <a:endParaRPr/>
          </a:p>
        </p:txBody>
      </p:sp>
      <p:sp>
        <p:nvSpPr>
          <p:cNvPr id="151" name="Google Shape;151;p17"/>
          <p:cNvSpPr/>
          <p:nvPr/>
        </p:nvSpPr>
        <p:spPr>
          <a:xfrm>
            <a:off x="4766713" y="1466012"/>
            <a:ext cx="1302900" cy="572700"/>
          </a:xfrm>
          <a:prstGeom prst="roundRect">
            <a:avLst>
              <a:gd fmla="val 16667" name="adj"/>
            </a:avLst>
          </a:prstGeom>
          <a:solidFill>
            <a:srgbClr val="C9DAF8">
              <a:alpha val="4091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Simulation box</a:t>
            </a:r>
            <a:endParaRPr/>
          </a:p>
        </p:txBody>
      </p:sp>
      <p:sp>
        <p:nvSpPr>
          <p:cNvPr id="152" name="Google Shape;152;p17"/>
          <p:cNvSpPr/>
          <p:nvPr/>
        </p:nvSpPr>
        <p:spPr>
          <a:xfrm>
            <a:off x="6397113" y="1698712"/>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7"/>
          <p:cNvSpPr/>
          <p:nvPr/>
        </p:nvSpPr>
        <p:spPr>
          <a:xfrm>
            <a:off x="7074698" y="1464287"/>
            <a:ext cx="1582800" cy="572700"/>
          </a:xfrm>
          <a:prstGeom prst="roundRect">
            <a:avLst>
              <a:gd fmla="val 16667" name="adj"/>
            </a:avLst>
          </a:prstGeom>
          <a:solidFill>
            <a:srgbClr val="D9EAD3">
              <a:alpha val="37270"/>
            </a:srgbClr>
          </a:solidFill>
          <a:ln cap="flat" cmpd="sng" w="9525">
            <a:solidFill>
              <a:srgbClr val="38761D"/>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Solvation </a:t>
            </a:r>
            <a:r>
              <a:rPr b="1" lang="it" sz="1500"/>
              <a:t>(H</a:t>
            </a:r>
            <a:r>
              <a:rPr b="1" baseline="-25000" lang="it" sz="1500"/>
              <a:t>2</a:t>
            </a:r>
            <a:r>
              <a:rPr b="1" lang="it" sz="1500"/>
              <a:t>O + Ions)</a:t>
            </a:r>
            <a:endParaRPr sz="1300"/>
          </a:p>
        </p:txBody>
      </p:sp>
      <p:sp>
        <p:nvSpPr>
          <p:cNvPr id="154" name="Google Shape;154;p17"/>
          <p:cNvSpPr/>
          <p:nvPr/>
        </p:nvSpPr>
        <p:spPr>
          <a:xfrm>
            <a:off x="4089119" y="1672412"/>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7"/>
          <p:cNvSpPr/>
          <p:nvPr/>
        </p:nvSpPr>
        <p:spPr>
          <a:xfrm>
            <a:off x="1856744" y="1698725"/>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2: Energy minimization</a:t>
            </a:r>
            <a:endParaRPr sz="2500">
              <a:latin typeface="Montserrat SemiBold"/>
              <a:ea typeface="Montserrat SemiBold"/>
              <a:cs typeface="Montserrat SemiBold"/>
              <a:sym typeface="Montserrat SemiBold"/>
            </a:endParaRPr>
          </a:p>
        </p:txBody>
      </p:sp>
      <p:sp>
        <p:nvSpPr>
          <p:cNvPr id="161" name="Google Shape;161;p18"/>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63" name="Google Shape;163;p18"/>
          <p:cNvSpPr txBox="1"/>
          <p:nvPr/>
        </p:nvSpPr>
        <p:spPr>
          <a:xfrm>
            <a:off x="182242" y="848450"/>
            <a:ext cx="9144000" cy="393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it" sz="1600"/>
              <a:t>Before starting the dynamics, we </a:t>
            </a:r>
            <a:r>
              <a:rPr lang="it" sz="1600"/>
              <a:t>relax the system through a process called </a:t>
            </a:r>
            <a:r>
              <a:rPr b="1" lang="it" sz="1600"/>
              <a:t>energy minimization</a:t>
            </a:r>
            <a:endParaRPr b="1" sz="1600">
              <a:solidFill>
                <a:srgbClr val="000000"/>
              </a:solidFill>
            </a:endParaRPr>
          </a:p>
        </p:txBody>
      </p:sp>
      <p:sp>
        <p:nvSpPr>
          <p:cNvPr id="164" name="Google Shape;164;p18"/>
          <p:cNvSpPr txBox="1"/>
          <p:nvPr/>
        </p:nvSpPr>
        <p:spPr>
          <a:xfrm>
            <a:off x="0" y="1720975"/>
            <a:ext cx="4644300" cy="21657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SzPts val="1500"/>
              <a:buChar char="●"/>
            </a:pPr>
            <a:r>
              <a:rPr b="1" lang="it" sz="1500">
                <a:solidFill>
                  <a:srgbClr val="FF0000"/>
                </a:solidFill>
              </a:rPr>
              <a:t>Why</a:t>
            </a:r>
            <a:r>
              <a:rPr lang="it" sz="1500"/>
              <a:t>: remove steric clashes and locally unfavorable geometries introduced during system preparation.</a:t>
            </a:r>
            <a:endParaRPr sz="1500"/>
          </a:p>
          <a:p>
            <a:pPr indent="-323850" lvl="0" marL="457200" rtl="0" algn="just">
              <a:lnSpc>
                <a:spcPct val="115000"/>
              </a:lnSpc>
              <a:spcBef>
                <a:spcPts val="0"/>
              </a:spcBef>
              <a:spcAft>
                <a:spcPts val="0"/>
              </a:spcAft>
              <a:buSzPts val="1500"/>
              <a:buChar char="●"/>
            </a:pPr>
            <a:r>
              <a:rPr b="1" lang="it" sz="1500">
                <a:solidFill>
                  <a:srgbClr val="FF0000"/>
                </a:solidFill>
              </a:rPr>
              <a:t>How</a:t>
            </a:r>
            <a:r>
              <a:rPr lang="it" sz="1500"/>
              <a:t>: atoms are moved iteratively toward lower potential energy, following the forces acting on them.</a:t>
            </a:r>
            <a:endParaRPr sz="1500"/>
          </a:p>
          <a:p>
            <a:pPr indent="-323850" lvl="0" marL="457200" rtl="0" algn="just">
              <a:lnSpc>
                <a:spcPct val="115000"/>
              </a:lnSpc>
              <a:spcBef>
                <a:spcPts val="0"/>
              </a:spcBef>
              <a:spcAft>
                <a:spcPts val="0"/>
              </a:spcAft>
              <a:buSzPts val="1500"/>
              <a:buChar char="●"/>
            </a:pPr>
            <a:r>
              <a:rPr b="1" lang="it" sz="1500">
                <a:solidFill>
                  <a:srgbClr val="FF0000"/>
                </a:solidFill>
              </a:rPr>
              <a:t>When do we stop</a:t>
            </a:r>
            <a:r>
              <a:rPr lang="it" sz="1500"/>
              <a:t>: when the maximum force falls below a chosen threshold.</a:t>
            </a:r>
            <a:endParaRPr sz="1500"/>
          </a:p>
        </p:txBody>
      </p:sp>
      <p:pic>
        <p:nvPicPr>
          <p:cNvPr id="165" name="Google Shape;165;p18" title="potential_ene.png"/>
          <p:cNvPicPr preferRelativeResize="0"/>
          <p:nvPr/>
        </p:nvPicPr>
        <p:blipFill rotWithShape="1">
          <a:blip r:embed="rId3">
            <a:alphaModFix/>
          </a:blip>
          <a:srcRect b="0" l="1322" r="0" t="0"/>
          <a:stretch/>
        </p:blipFill>
        <p:spPr>
          <a:xfrm>
            <a:off x="4796272" y="1458987"/>
            <a:ext cx="4246774" cy="2689699"/>
          </a:xfrm>
          <a:prstGeom prst="rect">
            <a:avLst/>
          </a:prstGeom>
          <a:noFill/>
          <a:ln cap="flat" cmpd="sng" w="9525">
            <a:solidFill>
              <a:srgbClr val="999999"/>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3: Equilibration</a:t>
            </a:r>
            <a:endParaRPr sz="2500">
              <a:latin typeface="Montserrat SemiBold"/>
              <a:ea typeface="Montserrat SemiBold"/>
              <a:cs typeface="Montserrat SemiBold"/>
              <a:sym typeface="Montserrat SemiBold"/>
            </a:endParaRPr>
          </a:p>
        </p:txBody>
      </p:sp>
      <p:sp>
        <p:nvSpPr>
          <p:cNvPr id="171" name="Google Shape;171;p19"/>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73" name="Google Shape;173;p19"/>
          <p:cNvSpPr txBox="1"/>
          <p:nvPr/>
        </p:nvSpPr>
        <p:spPr>
          <a:xfrm>
            <a:off x="251800" y="848450"/>
            <a:ext cx="87564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sz="1600">
              <a:solidFill>
                <a:srgbClr val="000000"/>
              </a:solidFill>
            </a:endParaRPr>
          </a:p>
        </p:txBody>
      </p:sp>
      <p:sp>
        <p:nvSpPr>
          <p:cNvPr id="174" name="Google Shape;174;p19"/>
          <p:cNvSpPr txBox="1"/>
          <p:nvPr/>
        </p:nvSpPr>
        <p:spPr>
          <a:xfrm>
            <a:off x="208700" y="848450"/>
            <a:ext cx="89037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600"/>
              <a:t>After energy minimization, the structure is locally relaxed, but the system is not yet at the desired thermodynamic conditions.</a:t>
            </a:r>
            <a:endParaRPr sz="1600">
              <a:solidFill>
                <a:srgbClr val="000000"/>
              </a:solidFill>
            </a:endParaRPr>
          </a:p>
        </p:txBody>
      </p:sp>
      <p:sp>
        <p:nvSpPr>
          <p:cNvPr id="175" name="Google Shape;175;p19"/>
          <p:cNvSpPr txBox="1"/>
          <p:nvPr/>
        </p:nvSpPr>
        <p:spPr>
          <a:xfrm>
            <a:off x="311700" y="1591400"/>
            <a:ext cx="8696400" cy="151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solidFill>
                  <a:srgbClr val="FF0000"/>
                </a:solidFill>
              </a:rPr>
              <a:t>Why do we need to equilibrate?</a:t>
            </a:r>
            <a:endParaRPr b="1" sz="1500">
              <a:solidFill>
                <a:srgbClr val="FF0000"/>
              </a:solidFill>
            </a:endParaRPr>
          </a:p>
          <a:p>
            <a:pPr indent="-323850" lvl="0" marL="457200" rtl="0" algn="just">
              <a:lnSpc>
                <a:spcPct val="115000"/>
              </a:lnSpc>
              <a:spcBef>
                <a:spcPts val="1000"/>
              </a:spcBef>
              <a:spcAft>
                <a:spcPts val="0"/>
              </a:spcAft>
              <a:buClr>
                <a:schemeClr val="dk1"/>
              </a:buClr>
              <a:buSzPts val="1500"/>
              <a:buChar char="●"/>
            </a:pPr>
            <a:r>
              <a:rPr lang="it" sz="1500">
                <a:solidFill>
                  <a:schemeClr val="dk1"/>
                </a:solidFill>
              </a:rPr>
              <a:t>Bring the system to the target temperature</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Allow the solvent and ions to reorganize around the peptide</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Adjust the pressure and density</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Avoid starting production MD from an artificial, non-equilibrated state</a:t>
            </a:r>
            <a:endParaRPr sz="1500">
              <a:solidFill>
                <a:schemeClr val="dk1"/>
              </a:solidFill>
            </a:endParaRPr>
          </a:p>
        </p:txBody>
      </p:sp>
      <p:sp>
        <p:nvSpPr>
          <p:cNvPr id="176" name="Google Shape;176;p19"/>
          <p:cNvSpPr/>
          <p:nvPr/>
        </p:nvSpPr>
        <p:spPr>
          <a:xfrm>
            <a:off x="360000" y="3615625"/>
            <a:ext cx="2060100" cy="572700"/>
          </a:xfrm>
          <a:prstGeom prst="roundRect">
            <a:avLst>
              <a:gd fmla="val 16667" name="adj"/>
            </a:avLst>
          </a:prstGeom>
          <a:solidFill>
            <a:srgbClr val="E6B8AF">
              <a:alpha val="20000"/>
            </a:srgbClr>
          </a:solidFill>
          <a:ln cap="flat" cmpd="sng" w="9525">
            <a:solidFill>
              <a:srgbClr val="CC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Energy-minimized system</a:t>
            </a:r>
            <a:endParaRPr sz="1300"/>
          </a:p>
        </p:txBody>
      </p:sp>
      <p:sp>
        <p:nvSpPr>
          <p:cNvPr id="177" name="Google Shape;177;p19"/>
          <p:cNvSpPr/>
          <p:nvPr/>
        </p:nvSpPr>
        <p:spPr>
          <a:xfrm>
            <a:off x="2714661" y="3806387"/>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9"/>
          <p:cNvSpPr/>
          <p:nvPr/>
        </p:nvSpPr>
        <p:spPr>
          <a:xfrm>
            <a:off x="3359310" y="3615625"/>
            <a:ext cx="1042800" cy="572700"/>
          </a:xfrm>
          <a:prstGeom prst="roundRect">
            <a:avLst>
              <a:gd fmla="val 16667" name="adj"/>
            </a:avLst>
          </a:prstGeom>
          <a:solidFill>
            <a:srgbClr val="C9DAF8">
              <a:alpha val="3045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NVT</a:t>
            </a:r>
            <a:endParaRPr sz="1300"/>
          </a:p>
        </p:txBody>
      </p:sp>
      <p:sp>
        <p:nvSpPr>
          <p:cNvPr id="179" name="Google Shape;179;p19"/>
          <p:cNvSpPr/>
          <p:nvPr/>
        </p:nvSpPr>
        <p:spPr>
          <a:xfrm>
            <a:off x="4696661" y="3806387"/>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19"/>
          <p:cNvSpPr/>
          <p:nvPr/>
        </p:nvSpPr>
        <p:spPr>
          <a:xfrm>
            <a:off x="5341310" y="3615625"/>
            <a:ext cx="1042800" cy="572700"/>
          </a:xfrm>
          <a:prstGeom prst="roundRect">
            <a:avLst>
              <a:gd fmla="val 16667" name="adj"/>
            </a:avLst>
          </a:prstGeom>
          <a:solidFill>
            <a:srgbClr val="D9D2E9">
              <a:alpha val="30000"/>
            </a:srgbClr>
          </a:solidFill>
          <a:ln cap="flat" cmpd="sng" w="9525">
            <a:solidFill>
              <a:srgbClr val="99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NPT</a:t>
            </a:r>
            <a:endParaRPr sz="1300"/>
          </a:p>
        </p:txBody>
      </p:sp>
      <p:sp>
        <p:nvSpPr>
          <p:cNvPr id="181" name="Google Shape;181;p19"/>
          <p:cNvSpPr/>
          <p:nvPr/>
        </p:nvSpPr>
        <p:spPr>
          <a:xfrm>
            <a:off x="6678661" y="3822037"/>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9"/>
          <p:cNvSpPr/>
          <p:nvPr/>
        </p:nvSpPr>
        <p:spPr>
          <a:xfrm>
            <a:off x="7323296" y="3615613"/>
            <a:ext cx="1427700" cy="572700"/>
          </a:xfrm>
          <a:prstGeom prst="roundRect">
            <a:avLst>
              <a:gd fmla="val 16667" name="adj"/>
            </a:avLst>
          </a:prstGeom>
          <a:solidFill>
            <a:srgbClr val="D9EAD3">
              <a:alpha val="37270"/>
            </a:srgbClr>
          </a:solidFill>
          <a:ln cap="flat" cmpd="sng" w="9525">
            <a:solidFill>
              <a:srgbClr val="38761D"/>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Equilibrated system</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3: NVT equilibration</a:t>
            </a:r>
            <a:endParaRPr sz="2500">
              <a:latin typeface="Montserrat SemiBold"/>
              <a:ea typeface="Montserrat SemiBold"/>
              <a:cs typeface="Montserrat SemiBold"/>
              <a:sym typeface="Montserrat SemiBold"/>
            </a:endParaRPr>
          </a:p>
        </p:txBody>
      </p:sp>
      <p:sp>
        <p:nvSpPr>
          <p:cNvPr id="188" name="Google Shape;188;p20"/>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90" name="Google Shape;190;p20"/>
          <p:cNvSpPr txBox="1"/>
          <p:nvPr/>
        </p:nvSpPr>
        <p:spPr>
          <a:xfrm>
            <a:off x="251800" y="848450"/>
            <a:ext cx="87564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sz="1600">
              <a:solidFill>
                <a:srgbClr val="000000"/>
              </a:solidFill>
            </a:endParaRPr>
          </a:p>
        </p:txBody>
      </p:sp>
      <p:sp>
        <p:nvSpPr>
          <p:cNvPr id="191" name="Google Shape;191;p20"/>
          <p:cNvSpPr/>
          <p:nvPr/>
        </p:nvSpPr>
        <p:spPr>
          <a:xfrm>
            <a:off x="1036521" y="1637588"/>
            <a:ext cx="1042800" cy="572700"/>
          </a:xfrm>
          <a:prstGeom prst="roundRect">
            <a:avLst>
              <a:gd fmla="val 16667" name="adj"/>
            </a:avLst>
          </a:prstGeom>
          <a:solidFill>
            <a:srgbClr val="C9DAF8">
              <a:alpha val="3045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NVT</a:t>
            </a:r>
            <a:endParaRPr sz="1300"/>
          </a:p>
        </p:txBody>
      </p:sp>
      <p:sp>
        <p:nvSpPr>
          <p:cNvPr id="192" name="Google Shape;192;p20"/>
          <p:cNvSpPr txBox="1"/>
          <p:nvPr/>
        </p:nvSpPr>
        <p:spPr>
          <a:xfrm>
            <a:off x="208700" y="848450"/>
            <a:ext cx="89037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it" sz="1600">
                <a:solidFill>
                  <a:srgbClr val="38761D"/>
                </a:solidFill>
              </a:rPr>
              <a:t>Goal</a:t>
            </a:r>
            <a:r>
              <a:rPr lang="it" sz="1600"/>
              <a:t>: bring the system to the </a:t>
            </a:r>
            <a:r>
              <a:rPr lang="it" sz="1600"/>
              <a:t>target</a:t>
            </a:r>
            <a:r>
              <a:rPr lang="it" sz="1600"/>
              <a:t> temperature and allow the solvent to reorganize around the peptide</a:t>
            </a:r>
            <a:endParaRPr sz="1600">
              <a:solidFill>
                <a:srgbClr val="000000"/>
              </a:solidFill>
            </a:endParaRPr>
          </a:p>
        </p:txBody>
      </p:sp>
      <p:sp>
        <p:nvSpPr>
          <p:cNvPr id="193" name="Google Shape;193;p20"/>
          <p:cNvSpPr txBox="1"/>
          <p:nvPr/>
        </p:nvSpPr>
        <p:spPr>
          <a:xfrm>
            <a:off x="2390987" y="1694250"/>
            <a:ext cx="5880300" cy="393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t>N</a:t>
            </a:r>
            <a:r>
              <a:rPr lang="it" sz="1500"/>
              <a:t>umber of particles, </a:t>
            </a:r>
            <a:r>
              <a:rPr b="1" lang="it" sz="1500"/>
              <a:t>V</a:t>
            </a:r>
            <a:r>
              <a:rPr lang="it" sz="1500"/>
              <a:t>olume, and </a:t>
            </a:r>
            <a:r>
              <a:rPr b="1" lang="it" sz="1500"/>
              <a:t>T</a:t>
            </a:r>
            <a:r>
              <a:rPr lang="it" sz="1500"/>
              <a:t>emperature are kept </a:t>
            </a:r>
            <a:r>
              <a:rPr b="1" lang="it" sz="1500"/>
              <a:t>constant</a:t>
            </a:r>
            <a:endParaRPr b="1" sz="1500"/>
          </a:p>
        </p:txBody>
      </p:sp>
      <p:cxnSp>
        <p:nvCxnSpPr>
          <p:cNvPr id="194" name="Google Shape;194;p20"/>
          <p:cNvCxnSpPr/>
          <p:nvPr/>
        </p:nvCxnSpPr>
        <p:spPr>
          <a:xfrm>
            <a:off x="5448041" y="2032212"/>
            <a:ext cx="1083000" cy="4800"/>
          </a:xfrm>
          <a:prstGeom prst="straightConnector1">
            <a:avLst/>
          </a:prstGeom>
          <a:noFill/>
          <a:ln cap="flat" cmpd="sng" w="28575">
            <a:solidFill>
              <a:srgbClr val="FF0000"/>
            </a:solidFill>
            <a:prstDash val="solid"/>
            <a:round/>
            <a:headEnd len="med" w="med" type="none"/>
            <a:tailEnd len="med" w="med" type="none"/>
          </a:ln>
        </p:spPr>
      </p:cxnSp>
      <p:cxnSp>
        <p:nvCxnSpPr>
          <p:cNvPr id="195" name="Google Shape;195;p20"/>
          <p:cNvCxnSpPr/>
          <p:nvPr/>
        </p:nvCxnSpPr>
        <p:spPr>
          <a:xfrm>
            <a:off x="6085275" y="2111057"/>
            <a:ext cx="365400" cy="288300"/>
          </a:xfrm>
          <a:prstGeom prst="straightConnector1">
            <a:avLst/>
          </a:prstGeom>
          <a:noFill/>
          <a:ln cap="flat" cmpd="sng" w="9525">
            <a:solidFill>
              <a:schemeClr val="dk1"/>
            </a:solidFill>
            <a:prstDash val="solid"/>
            <a:round/>
            <a:headEnd len="med" w="med" type="none"/>
            <a:tailEnd len="med" w="med" type="triangle"/>
          </a:ln>
        </p:spPr>
      </p:cxnSp>
      <p:sp>
        <p:nvSpPr>
          <p:cNvPr id="196" name="Google Shape;196;p20"/>
          <p:cNvSpPr txBox="1"/>
          <p:nvPr/>
        </p:nvSpPr>
        <p:spPr>
          <a:xfrm>
            <a:off x="5206900" y="2405040"/>
            <a:ext cx="3801300" cy="651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500"/>
              <a:t>T is controlled with a thermostat</a:t>
            </a:r>
            <a:br>
              <a:rPr lang="it" sz="1500"/>
            </a:br>
            <a:r>
              <a:rPr lang="it" sz="1500"/>
              <a:t>(stochastic velocity-rescaling) </a:t>
            </a:r>
            <a:endParaRPr i="1" sz="1500"/>
          </a:p>
        </p:txBody>
      </p:sp>
      <p:pic>
        <p:nvPicPr>
          <p:cNvPr id="197" name="Google Shape;197;p20" title="NVT_equilib.png"/>
          <p:cNvPicPr preferRelativeResize="0"/>
          <p:nvPr/>
        </p:nvPicPr>
        <p:blipFill rotWithShape="1">
          <a:blip r:embed="rId3">
            <a:alphaModFix/>
          </a:blip>
          <a:srcRect b="2229" l="1681" r="0" t="0"/>
          <a:stretch/>
        </p:blipFill>
        <p:spPr>
          <a:xfrm>
            <a:off x="468880" y="2336234"/>
            <a:ext cx="4358702" cy="2708976"/>
          </a:xfrm>
          <a:prstGeom prst="rect">
            <a:avLst/>
          </a:prstGeom>
          <a:noFill/>
          <a:ln cap="flat" cmpd="sng" w="9525">
            <a:solidFill>
              <a:srgbClr val="999999"/>
            </a:solidFill>
            <a:prstDash val="solid"/>
            <a:round/>
            <a:headEnd len="sm" w="sm" type="none"/>
            <a:tailEnd len="sm" w="sm" type="none"/>
          </a:ln>
        </p:spPr>
      </p:pic>
      <p:sp>
        <p:nvSpPr>
          <p:cNvPr id="198" name="Google Shape;198;p20"/>
          <p:cNvSpPr txBox="1"/>
          <p:nvPr/>
        </p:nvSpPr>
        <p:spPr>
          <a:xfrm>
            <a:off x="4936750" y="3550550"/>
            <a:ext cx="4175700" cy="9099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SzPts val="1500"/>
              <a:buChar char="●"/>
            </a:pPr>
            <a:r>
              <a:rPr lang="it" sz="1500"/>
              <a:t>T usually equilibrates quickly</a:t>
            </a:r>
            <a:endParaRPr sz="1500"/>
          </a:p>
          <a:p>
            <a:pPr indent="-323850" lvl="0" marL="457200" rtl="0" algn="just">
              <a:lnSpc>
                <a:spcPct val="115000"/>
              </a:lnSpc>
              <a:spcBef>
                <a:spcPts val="0"/>
              </a:spcBef>
              <a:spcAft>
                <a:spcPts val="0"/>
              </a:spcAft>
              <a:buSzPts val="1500"/>
              <a:buChar char="●"/>
            </a:pPr>
            <a:r>
              <a:rPr lang="it" sz="1500">
                <a:solidFill>
                  <a:schemeClr val="dk1"/>
                </a:solidFill>
              </a:rPr>
              <a:t>T should fluctuate around the target value with no drift</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3: NPT equilibration</a:t>
            </a:r>
            <a:endParaRPr sz="2500">
              <a:latin typeface="Montserrat SemiBold"/>
              <a:ea typeface="Montserrat SemiBold"/>
              <a:cs typeface="Montserrat SemiBold"/>
              <a:sym typeface="Montserrat SemiBold"/>
            </a:endParaRPr>
          </a:p>
        </p:txBody>
      </p:sp>
      <p:sp>
        <p:nvSpPr>
          <p:cNvPr id="204" name="Google Shape;204;p21"/>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06" name="Google Shape;206;p21"/>
          <p:cNvSpPr txBox="1"/>
          <p:nvPr/>
        </p:nvSpPr>
        <p:spPr>
          <a:xfrm>
            <a:off x="251800" y="848450"/>
            <a:ext cx="87564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sz="1600">
              <a:solidFill>
                <a:srgbClr val="000000"/>
              </a:solidFill>
            </a:endParaRPr>
          </a:p>
        </p:txBody>
      </p:sp>
      <p:sp>
        <p:nvSpPr>
          <p:cNvPr id="207" name="Google Shape;207;p21"/>
          <p:cNvSpPr txBox="1"/>
          <p:nvPr/>
        </p:nvSpPr>
        <p:spPr>
          <a:xfrm>
            <a:off x="208700" y="848450"/>
            <a:ext cx="89037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it" sz="1600">
                <a:solidFill>
                  <a:srgbClr val="38761D"/>
                </a:solidFill>
              </a:rPr>
              <a:t>Goal</a:t>
            </a:r>
            <a:r>
              <a:rPr lang="it" sz="1600"/>
              <a:t>: </a:t>
            </a:r>
            <a:r>
              <a:rPr lang="it" sz="1600"/>
              <a:t>allow the simulation box to adjust until the system reaches the appropriate pressure and density</a:t>
            </a:r>
            <a:endParaRPr sz="1600">
              <a:solidFill>
                <a:srgbClr val="000000"/>
              </a:solidFill>
            </a:endParaRPr>
          </a:p>
        </p:txBody>
      </p:sp>
      <p:sp>
        <p:nvSpPr>
          <p:cNvPr id="208" name="Google Shape;208;p21"/>
          <p:cNvSpPr txBox="1"/>
          <p:nvPr/>
        </p:nvSpPr>
        <p:spPr>
          <a:xfrm>
            <a:off x="2364529" y="1694250"/>
            <a:ext cx="6401700" cy="393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t>N</a:t>
            </a:r>
            <a:r>
              <a:rPr lang="it" sz="1500"/>
              <a:t>umber of particles, </a:t>
            </a:r>
            <a:r>
              <a:rPr b="1" lang="it" sz="1500"/>
              <a:t>P</a:t>
            </a:r>
            <a:r>
              <a:rPr lang="it" sz="1500"/>
              <a:t>ressure</a:t>
            </a:r>
            <a:r>
              <a:rPr lang="it" sz="1500"/>
              <a:t>, and </a:t>
            </a:r>
            <a:r>
              <a:rPr b="1" lang="it" sz="1500"/>
              <a:t>T</a:t>
            </a:r>
            <a:r>
              <a:rPr lang="it" sz="1500"/>
              <a:t>emperature are kept </a:t>
            </a:r>
            <a:r>
              <a:rPr b="1" lang="it" sz="1500"/>
              <a:t>constant</a:t>
            </a:r>
            <a:endParaRPr b="1" sz="1500"/>
          </a:p>
        </p:txBody>
      </p:sp>
      <p:cxnSp>
        <p:nvCxnSpPr>
          <p:cNvPr id="209" name="Google Shape;209;p21"/>
          <p:cNvCxnSpPr/>
          <p:nvPr/>
        </p:nvCxnSpPr>
        <p:spPr>
          <a:xfrm>
            <a:off x="4456926" y="2032212"/>
            <a:ext cx="839700" cy="3600"/>
          </a:xfrm>
          <a:prstGeom prst="straightConnector1">
            <a:avLst/>
          </a:prstGeom>
          <a:noFill/>
          <a:ln cap="flat" cmpd="sng" w="28575">
            <a:solidFill>
              <a:srgbClr val="FF0000"/>
            </a:solidFill>
            <a:prstDash val="solid"/>
            <a:round/>
            <a:headEnd len="med" w="med" type="none"/>
            <a:tailEnd len="med" w="med" type="none"/>
          </a:ln>
        </p:spPr>
      </p:cxnSp>
      <p:cxnSp>
        <p:nvCxnSpPr>
          <p:cNvPr id="210" name="Google Shape;210;p21"/>
          <p:cNvCxnSpPr/>
          <p:nvPr/>
        </p:nvCxnSpPr>
        <p:spPr>
          <a:xfrm>
            <a:off x="6235675" y="2102307"/>
            <a:ext cx="365400" cy="288300"/>
          </a:xfrm>
          <a:prstGeom prst="straightConnector1">
            <a:avLst/>
          </a:prstGeom>
          <a:noFill/>
          <a:ln cap="flat" cmpd="sng" w="9525">
            <a:solidFill>
              <a:schemeClr val="dk1"/>
            </a:solidFill>
            <a:prstDash val="solid"/>
            <a:round/>
            <a:headEnd len="med" w="med" type="none"/>
            <a:tailEnd len="med" w="med" type="triangle"/>
          </a:ln>
        </p:spPr>
      </p:cxnSp>
      <p:sp>
        <p:nvSpPr>
          <p:cNvPr id="211" name="Google Shape;211;p21"/>
          <p:cNvSpPr txBox="1"/>
          <p:nvPr/>
        </p:nvSpPr>
        <p:spPr>
          <a:xfrm>
            <a:off x="5296625" y="2455902"/>
            <a:ext cx="3801300" cy="651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500"/>
              <a:t>T is controlled with a thermostat</a:t>
            </a:r>
            <a:br>
              <a:rPr lang="it" sz="1500"/>
            </a:br>
            <a:r>
              <a:rPr lang="it" sz="1500"/>
              <a:t>(stochastic velocity-rescaling) </a:t>
            </a:r>
            <a:endParaRPr i="1" sz="1500"/>
          </a:p>
        </p:txBody>
      </p:sp>
      <p:sp>
        <p:nvSpPr>
          <p:cNvPr id="212" name="Google Shape;212;p21"/>
          <p:cNvSpPr/>
          <p:nvPr/>
        </p:nvSpPr>
        <p:spPr>
          <a:xfrm>
            <a:off x="1035325" y="1631788"/>
            <a:ext cx="1042800" cy="572700"/>
          </a:xfrm>
          <a:prstGeom prst="roundRect">
            <a:avLst>
              <a:gd fmla="val 16667" name="adj"/>
            </a:avLst>
          </a:prstGeom>
          <a:solidFill>
            <a:srgbClr val="D9D2E9">
              <a:alpha val="30000"/>
            </a:srgbClr>
          </a:solidFill>
          <a:ln cap="flat" cmpd="sng" w="9525">
            <a:solidFill>
              <a:srgbClr val="99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NPT</a:t>
            </a:r>
            <a:endParaRPr sz="1300"/>
          </a:p>
        </p:txBody>
      </p:sp>
      <p:cxnSp>
        <p:nvCxnSpPr>
          <p:cNvPr id="213" name="Google Shape;213;p21"/>
          <p:cNvCxnSpPr/>
          <p:nvPr/>
        </p:nvCxnSpPr>
        <p:spPr>
          <a:xfrm>
            <a:off x="5752030" y="2032212"/>
            <a:ext cx="1083000" cy="4800"/>
          </a:xfrm>
          <a:prstGeom prst="straightConnector1">
            <a:avLst/>
          </a:prstGeom>
          <a:noFill/>
          <a:ln cap="flat" cmpd="sng" w="28575">
            <a:solidFill>
              <a:srgbClr val="FF0000"/>
            </a:solidFill>
            <a:prstDash val="solid"/>
            <a:round/>
            <a:headEnd len="med" w="med" type="none"/>
            <a:tailEnd len="med" w="med" type="none"/>
          </a:ln>
        </p:spPr>
      </p:cxnSp>
      <p:cxnSp>
        <p:nvCxnSpPr>
          <p:cNvPr id="214" name="Google Shape;214;p21"/>
          <p:cNvCxnSpPr/>
          <p:nvPr/>
        </p:nvCxnSpPr>
        <p:spPr>
          <a:xfrm rot="5400000">
            <a:off x="4533200" y="2140857"/>
            <a:ext cx="365400" cy="288300"/>
          </a:xfrm>
          <a:prstGeom prst="straightConnector1">
            <a:avLst/>
          </a:prstGeom>
          <a:noFill/>
          <a:ln cap="flat" cmpd="sng" w="9525">
            <a:solidFill>
              <a:schemeClr val="dk1"/>
            </a:solidFill>
            <a:prstDash val="solid"/>
            <a:round/>
            <a:headEnd len="med" w="med" type="none"/>
            <a:tailEnd len="med" w="med" type="triangle"/>
          </a:ln>
        </p:spPr>
      </p:cxnSp>
      <p:sp>
        <p:nvSpPr>
          <p:cNvPr id="215" name="Google Shape;215;p21"/>
          <p:cNvSpPr txBox="1"/>
          <p:nvPr/>
        </p:nvSpPr>
        <p:spPr>
          <a:xfrm>
            <a:off x="1817971" y="2455902"/>
            <a:ext cx="3801300" cy="651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500"/>
              <a:t>P</a:t>
            </a:r>
            <a:r>
              <a:rPr lang="it" sz="1500"/>
              <a:t> is controlled with a barostat</a:t>
            </a:r>
            <a:br>
              <a:rPr lang="it" sz="1500"/>
            </a:br>
            <a:r>
              <a:rPr lang="it" sz="1500"/>
              <a:t>(stochastic cell rescaling) </a:t>
            </a:r>
            <a:endParaRPr i="1"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3: NPT equilibration</a:t>
            </a:r>
            <a:endParaRPr sz="2500">
              <a:latin typeface="Montserrat SemiBold"/>
              <a:ea typeface="Montserrat SemiBold"/>
              <a:cs typeface="Montserrat SemiBold"/>
              <a:sym typeface="Montserrat SemiBold"/>
            </a:endParaRPr>
          </a:p>
        </p:txBody>
      </p:sp>
      <p:sp>
        <p:nvSpPr>
          <p:cNvPr id="221" name="Google Shape;221;p22"/>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23" name="Google Shape;223;p22"/>
          <p:cNvSpPr txBox="1"/>
          <p:nvPr/>
        </p:nvSpPr>
        <p:spPr>
          <a:xfrm>
            <a:off x="877950" y="3940700"/>
            <a:ext cx="7430700" cy="9408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SzPts val="1500"/>
              <a:buChar char="●"/>
            </a:pPr>
            <a:r>
              <a:rPr lang="it" sz="1500"/>
              <a:t>Instantaneous P fluctuates strongly </a:t>
            </a:r>
            <a:r>
              <a:rPr lang="it" sz="1500"/>
              <a:t>— </a:t>
            </a:r>
            <a:r>
              <a:rPr lang="it" sz="1500"/>
              <a:t>this is expected for small MD systems</a:t>
            </a:r>
            <a:endParaRPr sz="1500"/>
          </a:p>
          <a:p>
            <a:pPr indent="-323850" lvl="0" marL="457200" rtl="0" algn="just">
              <a:lnSpc>
                <a:spcPct val="115000"/>
              </a:lnSpc>
              <a:spcBef>
                <a:spcPts val="0"/>
              </a:spcBef>
              <a:spcAft>
                <a:spcPts val="0"/>
              </a:spcAft>
              <a:buSzPts val="1500"/>
              <a:buChar char="●"/>
            </a:pPr>
            <a:r>
              <a:rPr lang="it" sz="1500">
                <a:solidFill>
                  <a:schemeClr val="dk1"/>
                </a:solidFill>
              </a:rPr>
              <a:t>Density does not need to match pure water: we are simulating a peptide solution</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We look for a stable average and no systematic drift</a:t>
            </a:r>
            <a:endParaRPr sz="1500">
              <a:solidFill>
                <a:schemeClr val="dk1"/>
              </a:solidFill>
            </a:endParaRPr>
          </a:p>
        </p:txBody>
      </p:sp>
      <p:pic>
        <p:nvPicPr>
          <p:cNvPr id="224" name="Google Shape;224;p22" title="Density_equilib.png"/>
          <p:cNvPicPr preferRelativeResize="0"/>
          <p:nvPr/>
        </p:nvPicPr>
        <p:blipFill>
          <a:blip r:embed="rId3">
            <a:alphaModFix/>
          </a:blip>
          <a:stretch>
            <a:fillRect/>
          </a:stretch>
        </p:blipFill>
        <p:spPr>
          <a:xfrm>
            <a:off x="4657252" y="947750"/>
            <a:ext cx="4352379" cy="2720202"/>
          </a:xfrm>
          <a:prstGeom prst="rect">
            <a:avLst/>
          </a:prstGeom>
          <a:noFill/>
          <a:ln cap="flat" cmpd="sng" w="9525">
            <a:solidFill>
              <a:srgbClr val="999999"/>
            </a:solidFill>
            <a:prstDash val="solid"/>
            <a:round/>
            <a:headEnd len="sm" w="sm" type="none"/>
            <a:tailEnd len="sm" w="sm" type="none"/>
          </a:ln>
        </p:spPr>
      </p:pic>
      <p:pic>
        <p:nvPicPr>
          <p:cNvPr id="225" name="Google Shape;225;p22" title="P_equilib.png"/>
          <p:cNvPicPr preferRelativeResize="0"/>
          <p:nvPr/>
        </p:nvPicPr>
        <p:blipFill>
          <a:blip r:embed="rId4">
            <a:alphaModFix/>
          </a:blip>
          <a:stretch>
            <a:fillRect/>
          </a:stretch>
        </p:blipFill>
        <p:spPr>
          <a:xfrm>
            <a:off x="168607" y="947750"/>
            <a:ext cx="4352323" cy="2720198"/>
          </a:xfrm>
          <a:prstGeom prst="rect">
            <a:avLst/>
          </a:prstGeom>
          <a:noFill/>
          <a:ln cap="flat" cmpd="sng" w="9525">
            <a:solidFill>
              <a:srgbClr val="999999"/>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4: Production</a:t>
            </a:r>
            <a:endParaRPr sz="2500">
              <a:latin typeface="Montserrat SemiBold"/>
              <a:ea typeface="Montserrat SemiBold"/>
              <a:cs typeface="Montserrat SemiBold"/>
              <a:sym typeface="Montserrat SemiBold"/>
            </a:endParaRPr>
          </a:p>
        </p:txBody>
      </p:sp>
      <p:sp>
        <p:nvSpPr>
          <p:cNvPr id="231" name="Google Shape;231;p23"/>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33" name="Google Shape;233;p23"/>
          <p:cNvSpPr txBox="1"/>
          <p:nvPr/>
        </p:nvSpPr>
        <p:spPr>
          <a:xfrm>
            <a:off x="208700" y="848450"/>
            <a:ext cx="89037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600">
                <a:solidFill>
                  <a:schemeClr val="dk1"/>
                </a:solidFill>
              </a:rPr>
              <a:t>Once the system is well equilibrated, we can start the production simulation used for data collection.</a:t>
            </a:r>
            <a:endParaRPr sz="1600">
              <a:solidFill>
                <a:schemeClr val="dk1"/>
              </a:solidFill>
            </a:endParaRPr>
          </a:p>
        </p:txBody>
      </p:sp>
      <p:sp>
        <p:nvSpPr>
          <p:cNvPr id="234" name="Google Shape;234;p23"/>
          <p:cNvSpPr txBox="1"/>
          <p:nvPr/>
        </p:nvSpPr>
        <p:spPr>
          <a:xfrm>
            <a:off x="57700" y="1829875"/>
            <a:ext cx="5070600" cy="24312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SzPts val="1500"/>
              <a:buChar char="●"/>
            </a:pPr>
            <a:r>
              <a:rPr b="1" lang="it" sz="1500">
                <a:solidFill>
                  <a:srgbClr val="FF0000"/>
                </a:solidFill>
              </a:rPr>
              <a:t>Simulation length</a:t>
            </a:r>
            <a:r>
              <a:rPr lang="it" sz="1500"/>
              <a:t> depends on the process of interest (conformational changes, folding/unfolding, </a:t>
            </a:r>
            <a:r>
              <a:rPr lang="it" sz="1500"/>
              <a:t>ligand binding, etc..</a:t>
            </a:r>
            <a:r>
              <a:rPr lang="it" sz="1500"/>
              <a:t>)</a:t>
            </a:r>
            <a:endParaRPr sz="1500"/>
          </a:p>
          <a:p>
            <a:pPr indent="-323850" lvl="0" marL="457200" rtl="0" algn="just">
              <a:lnSpc>
                <a:spcPct val="115000"/>
              </a:lnSpc>
              <a:spcBef>
                <a:spcPts val="500"/>
              </a:spcBef>
              <a:spcAft>
                <a:spcPts val="0"/>
              </a:spcAft>
              <a:buSzPts val="1500"/>
              <a:buChar char="●"/>
            </a:pPr>
            <a:r>
              <a:rPr lang="it" sz="1500"/>
              <a:t>Typical atomistic MD scales: ns-μs</a:t>
            </a:r>
            <a:endParaRPr sz="1500"/>
          </a:p>
          <a:p>
            <a:pPr indent="-323850" lvl="0" marL="457200" rtl="0" algn="just">
              <a:lnSpc>
                <a:spcPct val="115000"/>
              </a:lnSpc>
              <a:spcBef>
                <a:spcPts val="500"/>
              </a:spcBef>
              <a:spcAft>
                <a:spcPts val="0"/>
              </a:spcAft>
              <a:buSzPts val="1500"/>
              <a:buChar char="●"/>
            </a:pPr>
            <a:r>
              <a:rPr lang="it" sz="1500"/>
              <a:t>GPU acceleration now makes longer scales much more accessible</a:t>
            </a:r>
            <a:endParaRPr sz="1500"/>
          </a:p>
          <a:p>
            <a:pPr indent="-323850" lvl="0" marL="457200" rtl="0" algn="just">
              <a:lnSpc>
                <a:spcPct val="115000"/>
              </a:lnSpc>
              <a:spcBef>
                <a:spcPts val="500"/>
              </a:spcBef>
              <a:spcAft>
                <a:spcPts val="500"/>
              </a:spcAft>
              <a:buSzPts val="1500"/>
              <a:buChar char="●"/>
            </a:pPr>
            <a:r>
              <a:rPr lang="it" sz="1500"/>
              <a:t>Coordinates are saved at regular intervals to generate the trajectory used for analysis</a:t>
            </a:r>
            <a:endParaRPr sz="1500"/>
          </a:p>
        </p:txBody>
      </p:sp>
      <p:pic>
        <p:nvPicPr>
          <p:cNvPr id="235" name="Google Shape;235;p23" title="movie_slow.mp4">
            <a:hlinkClick r:id="rId3"/>
          </p:cNvPr>
          <p:cNvPicPr preferRelativeResize="0"/>
          <p:nvPr/>
        </p:nvPicPr>
        <p:blipFill>
          <a:blip r:embed="rId4">
            <a:alphaModFix/>
          </a:blip>
          <a:stretch>
            <a:fillRect/>
          </a:stretch>
        </p:blipFill>
        <p:spPr>
          <a:xfrm>
            <a:off x="5254916" y="1759468"/>
            <a:ext cx="3768800" cy="2826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Analyses</a:t>
            </a:r>
            <a:endParaRPr sz="2500">
              <a:latin typeface="Montserrat SemiBold"/>
              <a:ea typeface="Montserrat SemiBold"/>
              <a:cs typeface="Montserrat SemiBold"/>
              <a:sym typeface="Montserrat SemiBold"/>
            </a:endParaRPr>
          </a:p>
        </p:txBody>
      </p:sp>
      <p:sp>
        <p:nvSpPr>
          <p:cNvPr id="241" name="Google Shape;241;p2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43" name="Google Shape;243;p24"/>
          <p:cNvSpPr txBox="1"/>
          <p:nvPr/>
        </p:nvSpPr>
        <p:spPr>
          <a:xfrm>
            <a:off x="208700" y="848450"/>
            <a:ext cx="89037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600">
                <a:solidFill>
                  <a:schemeClr val="dk1"/>
                </a:solidFill>
              </a:rPr>
              <a:t>We can perform a variety of analyses on the resulting MD trajectory either using GROMACS itself or python packages such as MDAnalysis.</a:t>
            </a:r>
            <a:endParaRPr sz="1600">
              <a:solidFill>
                <a:schemeClr val="dk1"/>
              </a:solidFill>
            </a:endParaRPr>
          </a:p>
        </p:txBody>
      </p:sp>
      <p:sp>
        <p:nvSpPr>
          <p:cNvPr id="244" name="Google Shape;244;p24"/>
          <p:cNvSpPr/>
          <p:nvPr/>
        </p:nvSpPr>
        <p:spPr>
          <a:xfrm>
            <a:off x="1107897" y="1803600"/>
            <a:ext cx="2401800" cy="810000"/>
          </a:xfrm>
          <a:prstGeom prst="roundRect">
            <a:avLst>
              <a:gd fmla="val 16667" name="adj"/>
            </a:avLst>
          </a:prstGeom>
          <a:solidFill>
            <a:srgbClr val="F5D4F3">
              <a:alpha val="30450"/>
            </a:srgbClr>
          </a:solidFill>
          <a:ln cap="flat" cmpd="sng" w="9525">
            <a:solidFill>
              <a:srgbClr val="FF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Structural analysis of the solute</a:t>
            </a:r>
            <a:endParaRPr sz="1300"/>
          </a:p>
        </p:txBody>
      </p:sp>
      <p:sp>
        <p:nvSpPr>
          <p:cNvPr id="245" name="Google Shape;245;p24"/>
          <p:cNvSpPr/>
          <p:nvPr/>
        </p:nvSpPr>
        <p:spPr>
          <a:xfrm>
            <a:off x="5556298" y="1803606"/>
            <a:ext cx="2401800" cy="810000"/>
          </a:xfrm>
          <a:prstGeom prst="roundRect">
            <a:avLst>
              <a:gd fmla="val 16667" name="adj"/>
            </a:avLst>
          </a:prstGeom>
          <a:solidFill>
            <a:srgbClr val="C9DAF8">
              <a:alpha val="3045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Solute-solvent analysis</a:t>
            </a:r>
            <a:endParaRPr sz="1300"/>
          </a:p>
        </p:txBody>
      </p:sp>
      <p:sp>
        <p:nvSpPr>
          <p:cNvPr id="246" name="Google Shape;246;p24"/>
          <p:cNvSpPr txBox="1"/>
          <p:nvPr/>
        </p:nvSpPr>
        <p:spPr>
          <a:xfrm>
            <a:off x="311694" y="2847775"/>
            <a:ext cx="3994200" cy="1241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it" sz="1500">
                <a:solidFill>
                  <a:srgbClr val="FF0000"/>
                </a:solidFill>
              </a:rPr>
              <a:t>How does the biomolecule itself behave?</a:t>
            </a:r>
            <a:endParaRPr b="1" sz="1500">
              <a:solidFill>
                <a:srgbClr val="FF0000"/>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Root mean square deviation (RMSD)</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Root mean square fluctuation (RMSF)</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Radius of gyration (Rg)</a:t>
            </a:r>
            <a:endParaRPr sz="1500">
              <a:solidFill>
                <a:schemeClr val="dk1"/>
              </a:solidFill>
            </a:endParaRPr>
          </a:p>
        </p:txBody>
      </p:sp>
      <p:sp>
        <p:nvSpPr>
          <p:cNvPr id="247" name="Google Shape;247;p24"/>
          <p:cNvSpPr txBox="1"/>
          <p:nvPr/>
        </p:nvSpPr>
        <p:spPr>
          <a:xfrm>
            <a:off x="4760100" y="2847775"/>
            <a:ext cx="4114800" cy="1579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it" sz="1500">
                <a:solidFill>
                  <a:srgbClr val="FF0000"/>
                </a:solidFill>
              </a:rPr>
              <a:t>How does the biomolecule interact with its environment?</a:t>
            </a:r>
            <a:endParaRPr b="1" sz="1500">
              <a:solidFill>
                <a:srgbClr val="FF0000"/>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Radial distribution function (RDF)</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Hydrogen bonds</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Solvent accessible surface area (SASA)</a:t>
            </a:r>
            <a:endParaRPr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Solute analysis</a:t>
            </a:r>
            <a:endParaRPr sz="2500">
              <a:latin typeface="Montserrat SemiBold"/>
              <a:ea typeface="Montserrat SemiBold"/>
              <a:cs typeface="Montserrat SemiBold"/>
              <a:sym typeface="Montserrat SemiBold"/>
            </a:endParaRPr>
          </a:p>
        </p:txBody>
      </p:sp>
      <p:sp>
        <p:nvSpPr>
          <p:cNvPr id="253" name="Google Shape;253;p2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55" name="Google Shape;255;p25"/>
          <p:cNvSpPr txBox="1"/>
          <p:nvPr/>
        </p:nvSpPr>
        <p:spPr>
          <a:xfrm>
            <a:off x="433900" y="1167671"/>
            <a:ext cx="4184700" cy="927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600">
                <a:solidFill>
                  <a:schemeClr val="dk1"/>
                </a:solidFill>
              </a:rPr>
              <a:t>Root mean square deviation:</a:t>
            </a:r>
            <a:endParaRPr b="1" sz="1600">
              <a:solidFill>
                <a:schemeClr val="dk1"/>
              </a:solidFill>
            </a:endParaRPr>
          </a:p>
          <a:p>
            <a:pPr indent="0" lvl="0" marL="0" rtl="0" algn="just">
              <a:lnSpc>
                <a:spcPct val="115000"/>
              </a:lnSpc>
              <a:spcBef>
                <a:spcPts val="0"/>
              </a:spcBef>
              <a:spcAft>
                <a:spcPts val="0"/>
              </a:spcAft>
              <a:buNone/>
            </a:pPr>
            <a:r>
              <a:rPr lang="it" sz="1500">
                <a:solidFill>
                  <a:schemeClr val="dk1"/>
                </a:solidFill>
              </a:rPr>
              <a:t>Measures how much the structure at time </a:t>
            </a:r>
            <a:r>
              <a:rPr i="1" lang="it" sz="1500">
                <a:solidFill>
                  <a:schemeClr val="dk1"/>
                </a:solidFill>
              </a:rPr>
              <a:t>t</a:t>
            </a:r>
            <a:r>
              <a:rPr lang="it" sz="1500">
                <a:solidFill>
                  <a:schemeClr val="dk1"/>
                </a:solidFill>
              </a:rPr>
              <a:t> differs from a reference structure.</a:t>
            </a:r>
            <a:endParaRPr b="1" sz="1700">
              <a:solidFill>
                <a:schemeClr val="dk1"/>
              </a:solidFill>
            </a:endParaRPr>
          </a:p>
        </p:txBody>
      </p:sp>
      <p:pic>
        <p:nvPicPr>
          <p:cNvPr id="256" name="Google Shape;256;p25" title="rmsd_eq.png"/>
          <p:cNvPicPr preferRelativeResize="0"/>
          <p:nvPr/>
        </p:nvPicPr>
        <p:blipFill rotWithShape="1">
          <a:blip r:embed="rId3">
            <a:alphaModFix/>
          </a:blip>
          <a:srcRect b="9472" l="0" r="0" t="14512"/>
          <a:stretch/>
        </p:blipFill>
        <p:spPr>
          <a:xfrm>
            <a:off x="5152250" y="1029300"/>
            <a:ext cx="3456102" cy="1169900"/>
          </a:xfrm>
          <a:prstGeom prst="rect">
            <a:avLst/>
          </a:prstGeom>
          <a:noFill/>
          <a:ln>
            <a:noFill/>
          </a:ln>
        </p:spPr>
      </p:pic>
      <p:sp>
        <p:nvSpPr>
          <p:cNvPr id="257" name="Google Shape;257;p25"/>
          <p:cNvSpPr txBox="1"/>
          <p:nvPr/>
        </p:nvSpPr>
        <p:spPr>
          <a:xfrm>
            <a:off x="433900" y="2484708"/>
            <a:ext cx="4184700" cy="927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600">
                <a:solidFill>
                  <a:schemeClr val="dk1"/>
                </a:solidFill>
              </a:rPr>
              <a:t>Root mean square fluctuation:</a:t>
            </a:r>
            <a:endParaRPr b="1" sz="1600">
              <a:solidFill>
                <a:schemeClr val="dk1"/>
              </a:solidFill>
            </a:endParaRPr>
          </a:p>
          <a:p>
            <a:pPr indent="0" lvl="0" marL="0" rtl="0" algn="just">
              <a:lnSpc>
                <a:spcPct val="115000"/>
              </a:lnSpc>
              <a:spcBef>
                <a:spcPts val="0"/>
              </a:spcBef>
              <a:spcAft>
                <a:spcPts val="0"/>
              </a:spcAft>
              <a:buNone/>
            </a:pPr>
            <a:r>
              <a:rPr lang="it" sz="1500">
                <a:solidFill>
                  <a:schemeClr val="dk1"/>
                </a:solidFill>
              </a:rPr>
              <a:t>Measures how much each atom </a:t>
            </a:r>
            <a:r>
              <a:rPr i="1" lang="it" sz="1500">
                <a:solidFill>
                  <a:schemeClr val="dk1"/>
                </a:solidFill>
              </a:rPr>
              <a:t>i</a:t>
            </a:r>
            <a:r>
              <a:rPr lang="it" sz="1500">
                <a:solidFill>
                  <a:schemeClr val="dk1"/>
                </a:solidFill>
              </a:rPr>
              <a:t> (or residue) fluctuates around its average position.</a:t>
            </a:r>
            <a:endParaRPr b="1" sz="1700">
              <a:solidFill>
                <a:schemeClr val="dk1"/>
              </a:solidFill>
            </a:endParaRPr>
          </a:p>
        </p:txBody>
      </p:sp>
      <p:pic>
        <p:nvPicPr>
          <p:cNvPr id="258" name="Google Shape;258;p25" title="rmsf_eq.png"/>
          <p:cNvPicPr preferRelativeResize="0"/>
          <p:nvPr/>
        </p:nvPicPr>
        <p:blipFill>
          <a:blip r:embed="rId4">
            <a:alphaModFix/>
          </a:blip>
          <a:stretch>
            <a:fillRect/>
          </a:stretch>
        </p:blipFill>
        <p:spPr>
          <a:xfrm>
            <a:off x="5099327" y="2751708"/>
            <a:ext cx="2828334" cy="393600"/>
          </a:xfrm>
          <a:prstGeom prst="rect">
            <a:avLst/>
          </a:prstGeom>
          <a:noFill/>
          <a:ln>
            <a:noFill/>
          </a:ln>
        </p:spPr>
      </p:pic>
      <p:sp>
        <p:nvSpPr>
          <p:cNvPr id="259" name="Google Shape;259;p25"/>
          <p:cNvSpPr txBox="1"/>
          <p:nvPr/>
        </p:nvSpPr>
        <p:spPr>
          <a:xfrm>
            <a:off x="433900" y="3801758"/>
            <a:ext cx="4184700" cy="927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600">
                <a:solidFill>
                  <a:schemeClr val="dk1"/>
                </a:solidFill>
              </a:rPr>
              <a:t>Radius of gyration</a:t>
            </a:r>
            <a:r>
              <a:rPr b="1" lang="it" sz="1600">
                <a:solidFill>
                  <a:schemeClr val="dk1"/>
                </a:solidFill>
              </a:rPr>
              <a:t>:</a:t>
            </a:r>
            <a:endParaRPr b="1" sz="1600">
              <a:solidFill>
                <a:schemeClr val="dk1"/>
              </a:solidFill>
            </a:endParaRPr>
          </a:p>
          <a:p>
            <a:pPr indent="0" lvl="0" marL="0" rtl="0" algn="just">
              <a:lnSpc>
                <a:spcPct val="115000"/>
              </a:lnSpc>
              <a:spcBef>
                <a:spcPts val="0"/>
              </a:spcBef>
              <a:spcAft>
                <a:spcPts val="0"/>
              </a:spcAft>
              <a:buNone/>
            </a:pPr>
            <a:r>
              <a:rPr lang="it" sz="1500">
                <a:solidFill>
                  <a:schemeClr val="dk1"/>
                </a:solidFill>
              </a:rPr>
              <a:t>Measures how compact (small Rg) or extended (large Rg) the molecule is.</a:t>
            </a:r>
            <a:endParaRPr b="1" sz="1700">
              <a:solidFill>
                <a:schemeClr val="dk1"/>
              </a:solidFill>
            </a:endParaRPr>
          </a:p>
        </p:txBody>
      </p:sp>
      <p:pic>
        <p:nvPicPr>
          <p:cNvPr id="260" name="Google Shape;260;p25" title="Rg_eq.png"/>
          <p:cNvPicPr preferRelativeResize="0"/>
          <p:nvPr/>
        </p:nvPicPr>
        <p:blipFill rotWithShape="1">
          <a:blip r:embed="rId5">
            <a:alphaModFix/>
          </a:blip>
          <a:srcRect b="29945" l="0" r="0" t="17334"/>
          <a:stretch/>
        </p:blipFill>
        <p:spPr>
          <a:xfrm>
            <a:off x="5125779" y="3801758"/>
            <a:ext cx="2523849" cy="927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Solute-solvent analysis</a:t>
            </a:r>
            <a:endParaRPr sz="2500">
              <a:latin typeface="Montserrat SemiBold"/>
              <a:ea typeface="Montserrat SemiBold"/>
              <a:cs typeface="Montserrat SemiBold"/>
              <a:sym typeface="Montserrat SemiBold"/>
            </a:endParaRPr>
          </a:p>
        </p:txBody>
      </p:sp>
      <p:sp>
        <p:nvSpPr>
          <p:cNvPr id="266" name="Google Shape;266;p2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68" name="Google Shape;268;p26"/>
          <p:cNvSpPr txBox="1"/>
          <p:nvPr/>
        </p:nvSpPr>
        <p:spPr>
          <a:xfrm>
            <a:off x="270200" y="871269"/>
            <a:ext cx="4518600" cy="927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600">
                <a:solidFill>
                  <a:schemeClr val="dk1"/>
                </a:solidFill>
              </a:rPr>
              <a:t>Radial distribution function</a:t>
            </a:r>
            <a:r>
              <a:rPr b="1" lang="it" sz="1600">
                <a:solidFill>
                  <a:schemeClr val="dk1"/>
                </a:solidFill>
              </a:rPr>
              <a:t>:</a:t>
            </a:r>
            <a:endParaRPr b="1" sz="1600">
              <a:solidFill>
                <a:schemeClr val="dk1"/>
              </a:solidFill>
            </a:endParaRPr>
          </a:p>
          <a:p>
            <a:pPr indent="0" lvl="0" marL="0" rtl="0" algn="just">
              <a:lnSpc>
                <a:spcPct val="115000"/>
              </a:lnSpc>
              <a:spcBef>
                <a:spcPts val="0"/>
              </a:spcBef>
              <a:spcAft>
                <a:spcPts val="0"/>
              </a:spcAft>
              <a:buNone/>
            </a:pPr>
            <a:r>
              <a:rPr lang="it" sz="1500">
                <a:solidFill>
                  <a:schemeClr val="dk1"/>
                </a:solidFill>
              </a:rPr>
              <a:t>Describes how the local density varies as a function of distance (</a:t>
            </a:r>
            <a:r>
              <a:rPr i="1" lang="it" sz="1500">
                <a:solidFill>
                  <a:schemeClr val="dk1"/>
                </a:solidFill>
              </a:rPr>
              <a:t>r</a:t>
            </a:r>
            <a:r>
              <a:rPr lang="it" sz="1500">
                <a:solidFill>
                  <a:schemeClr val="dk1"/>
                </a:solidFill>
              </a:rPr>
              <a:t>) from a reference particle.</a:t>
            </a:r>
            <a:endParaRPr b="1" sz="1700">
              <a:solidFill>
                <a:schemeClr val="dk1"/>
              </a:solidFill>
            </a:endParaRPr>
          </a:p>
        </p:txBody>
      </p:sp>
      <p:sp>
        <p:nvSpPr>
          <p:cNvPr id="269" name="Google Shape;269;p26"/>
          <p:cNvSpPr txBox="1"/>
          <p:nvPr/>
        </p:nvSpPr>
        <p:spPr>
          <a:xfrm>
            <a:off x="270189" y="2085303"/>
            <a:ext cx="4376700" cy="927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600">
                <a:solidFill>
                  <a:schemeClr val="dk1"/>
                </a:solidFill>
              </a:rPr>
              <a:t>Hydrogen bonds</a:t>
            </a:r>
            <a:r>
              <a:rPr b="1" lang="it" sz="1600">
                <a:solidFill>
                  <a:schemeClr val="dk1"/>
                </a:solidFill>
              </a:rPr>
              <a:t>:</a:t>
            </a:r>
            <a:endParaRPr b="1" sz="1600">
              <a:solidFill>
                <a:schemeClr val="dk1"/>
              </a:solidFill>
            </a:endParaRPr>
          </a:p>
          <a:p>
            <a:pPr indent="0" lvl="0" marL="0" rtl="0" algn="just">
              <a:lnSpc>
                <a:spcPct val="115000"/>
              </a:lnSpc>
              <a:spcBef>
                <a:spcPts val="0"/>
              </a:spcBef>
              <a:spcAft>
                <a:spcPts val="0"/>
              </a:spcAft>
              <a:buNone/>
            </a:pPr>
            <a:r>
              <a:rPr lang="it" sz="1500">
                <a:solidFill>
                  <a:schemeClr val="dk1"/>
                </a:solidFill>
              </a:rPr>
              <a:t>Describe specific directional interactions between the solute and surrounding water molecules</a:t>
            </a:r>
            <a:endParaRPr b="1" sz="1700">
              <a:solidFill>
                <a:schemeClr val="dk1"/>
              </a:solidFill>
            </a:endParaRPr>
          </a:p>
        </p:txBody>
      </p:sp>
      <p:sp>
        <p:nvSpPr>
          <p:cNvPr id="270" name="Google Shape;270;p26"/>
          <p:cNvSpPr txBox="1"/>
          <p:nvPr/>
        </p:nvSpPr>
        <p:spPr>
          <a:xfrm>
            <a:off x="4840144" y="2085303"/>
            <a:ext cx="4006200" cy="927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600">
                <a:solidFill>
                  <a:schemeClr val="dk1"/>
                </a:solidFill>
              </a:rPr>
              <a:t>Solvent accessible surface area</a:t>
            </a:r>
            <a:r>
              <a:rPr b="1" lang="it" sz="1600">
                <a:solidFill>
                  <a:schemeClr val="dk1"/>
                </a:solidFill>
              </a:rPr>
              <a:t>:</a:t>
            </a:r>
            <a:endParaRPr b="1" sz="1600">
              <a:solidFill>
                <a:schemeClr val="dk1"/>
              </a:solidFill>
            </a:endParaRPr>
          </a:p>
          <a:p>
            <a:pPr indent="0" lvl="0" marL="0" rtl="0" algn="just">
              <a:lnSpc>
                <a:spcPct val="115000"/>
              </a:lnSpc>
              <a:spcBef>
                <a:spcPts val="0"/>
              </a:spcBef>
              <a:spcAft>
                <a:spcPts val="0"/>
              </a:spcAft>
              <a:buNone/>
            </a:pPr>
            <a:r>
              <a:rPr lang="it" sz="1500">
                <a:solidFill>
                  <a:schemeClr val="dk1"/>
                </a:solidFill>
              </a:rPr>
              <a:t>Describes the surface area of the solute that is accessible to a solvent</a:t>
            </a:r>
            <a:endParaRPr b="1" sz="1700">
              <a:solidFill>
                <a:schemeClr val="dk1"/>
              </a:solidFill>
            </a:endParaRPr>
          </a:p>
        </p:txBody>
      </p:sp>
      <p:pic>
        <p:nvPicPr>
          <p:cNvPr id="271" name="Google Shape;271;p26" title="rdf_eq.png"/>
          <p:cNvPicPr preferRelativeResize="0"/>
          <p:nvPr/>
        </p:nvPicPr>
        <p:blipFill>
          <a:blip r:embed="rId3">
            <a:alphaModFix/>
          </a:blip>
          <a:stretch>
            <a:fillRect/>
          </a:stretch>
        </p:blipFill>
        <p:spPr>
          <a:xfrm>
            <a:off x="5998788" y="1074118"/>
            <a:ext cx="1688924" cy="812850"/>
          </a:xfrm>
          <a:prstGeom prst="rect">
            <a:avLst/>
          </a:prstGeom>
          <a:noFill/>
          <a:ln>
            <a:noFill/>
          </a:ln>
        </p:spPr>
      </p:pic>
      <p:pic>
        <p:nvPicPr>
          <p:cNvPr id="272" name="Google Shape;272;p26"/>
          <p:cNvPicPr preferRelativeResize="0"/>
          <p:nvPr/>
        </p:nvPicPr>
        <p:blipFill>
          <a:blip r:embed="rId4">
            <a:alphaModFix/>
          </a:blip>
          <a:stretch>
            <a:fillRect/>
          </a:stretch>
        </p:blipFill>
        <p:spPr>
          <a:xfrm>
            <a:off x="5234613" y="3012904"/>
            <a:ext cx="3217275" cy="1949299"/>
          </a:xfrm>
          <a:prstGeom prst="rect">
            <a:avLst/>
          </a:prstGeom>
          <a:noFill/>
          <a:ln>
            <a:noFill/>
          </a:ln>
        </p:spPr>
      </p:pic>
      <p:pic>
        <p:nvPicPr>
          <p:cNvPr id="273" name="Google Shape;273;p26" title="HB.png"/>
          <p:cNvPicPr preferRelativeResize="0"/>
          <p:nvPr/>
        </p:nvPicPr>
        <p:blipFill>
          <a:blip r:embed="rId5">
            <a:alphaModFix/>
          </a:blip>
          <a:stretch>
            <a:fillRect/>
          </a:stretch>
        </p:blipFill>
        <p:spPr>
          <a:xfrm>
            <a:off x="1006364" y="3084259"/>
            <a:ext cx="2904350" cy="873075"/>
          </a:xfrm>
          <a:prstGeom prst="rect">
            <a:avLst/>
          </a:prstGeom>
          <a:noFill/>
          <a:ln>
            <a:noFill/>
          </a:ln>
        </p:spPr>
      </p:pic>
      <p:cxnSp>
        <p:nvCxnSpPr>
          <p:cNvPr id="274" name="Google Shape;274;p26"/>
          <p:cNvCxnSpPr/>
          <p:nvPr/>
        </p:nvCxnSpPr>
        <p:spPr>
          <a:xfrm>
            <a:off x="301125" y="2011314"/>
            <a:ext cx="8617200" cy="15000"/>
          </a:xfrm>
          <a:prstGeom prst="straightConnector1">
            <a:avLst/>
          </a:prstGeom>
          <a:noFill/>
          <a:ln cap="flat" cmpd="sng" w="9525">
            <a:solidFill>
              <a:schemeClr val="dk2"/>
            </a:solidFill>
            <a:prstDash val="solid"/>
            <a:round/>
            <a:headEnd len="med" w="med" type="none"/>
            <a:tailEnd len="med" w="med" type="none"/>
          </a:ln>
        </p:spPr>
      </p:cxnSp>
      <p:sp>
        <p:nvSpPr>
          <p:cNvPr id="275" name="Google Shape;275;p26"/>
          <p:cNvSpPr txBox="1"/>
          <p:nvPr/>
        </p:nvSpPr>
        <p:spPr>
          <a:xfrm>
            <a:off x="577100" y="4110229"/>
            <a:ext cx="37629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it">
                <a:solidFill>
                  <a:schemeClr val="dk1"/>
                </a:solidFill>
              </a:rPr>
              <a:t>D</a:t>
            </a:r>
            <a:r>
              <a:rPr lang="it">
                <a:solidFill>
                  <a:schemeClr val="dk1"/>
                </a:solidFill>
              </a:rPr>
              <a:t> = donor; </a:t>
            </a:r>
            <a:r>
              <a:rPr b="1" lang="it">
                <a:solidFill>
                  <a:schemeClr val="dk1"/>
                </a:solidFill>
              </a:rPr>
              <a:t>A</a:t>
            </a:r>
            <a:r>
              <a:rPr lang="it">
                <a:solidFill>
                  <a:schemeClr val="dk1"/>
                </a:solidFill>
              </a:rPr>
              <a:t> = acceptor</a:t>
            </a:r>
            <a:endParaRPr>
              <a:solidFill>
                <a:schemeClr val="dk1"/>
              </a:solidFill>
            </a:endParaRPr>
          </a:p>
          <a:p>
            <a:pPr indent="0" lvl="0" marL="0" rtl="0" algn="ctr">
              <a:lnSpc>
                <a:spcPct val="115000"/>
              </a:lnSpc>
              <a:spcBef>
                <a:spcPts val="0"/>
              </a:spcBef>
              <a:spcAft>
                <a:spcPts val="0"/>
              </a:spcAft>
              <a:buNone/>
            </a:pPr>
            <a:r>
              <a:rPr lang="it">
                <a:solidFill>
                  <a:schemeClr val="dk1"/>
                </a:solidFill>
              </a:rPr>
              <a:t>d(D- - -A) ≲ 3.0 Å and a(D-H- - -A) ≳ 150°</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a:t>
            </a:r>
            <a:r>
              <a:rPr lang="it" sz="2500">
                <a:latin typeface="Montserrat SemiBold"/>
                <a:ea typeface="Montserrat SemiBold"/>
                <a:cs typeface="Montserrat SemiBold"/>
                <a:sym typeface="Montserrat SemiBold"/>
              </a:rPr>
              <a:t>Essential dynamics analysis</a:t>
            </a:r>
            <a:endParaRPr sz="2500">
              <a:latin typeface="Montserrat SemiBold"/>
              <a:ea typeface="Montserrat SemiBold"/>
              <a:cs typeface="Montserrat SemiBold"/>
              <a:sym typeface="Montserrat SemiBold"/>
            </a:endParaRPr>
          </a:p>
        </p:txBody>
      </p:sp>
      <p:sp>
        <p:nvSpPr>
          <p:cNvPr id="281" name="Google Shape;281;p2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83" name="Google Shape;283;p27"/>
          <p:cNvSpPr txBox="1"/>
          <p:nvPr/>
        </p:nvSpPr>
        <p:spPr>
          <a:xfrm>
            <a:off x="208700" y="848450"/>
            <a:ext cx="89037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600">
                <a:solidFill>
                  <a:schemeClr val="dk1"/>
                </a:solidFill>
              </a:rPr>
              <a:t>A trajectory contains thousands of structures — how do we identify the important conformational states?</a:t>
            </a:r>
            <a:endParaRPr sz="1600">
              <a:solidFill>
                <a:schemeClr val="dk1"/>
              </a:solidFill>
            </a:endParaRPr>
          </a:p>
        </p:txBody>
      </p:sp>
      <p:cxnSp>
        <p:nvCxnSpPr>
          <p:cNvPr id="284" name="Google Shape;284;p27"/>
          <p:cNvCxnSpPr/>
          <p:nvPr/>
        </p:nvCxnSpPr>
        <p:spPr>
          <a:xfrm flipH="1">
            <a:off x="4571100" y="1447128"/>
            <a:ext cx="1800" cy="418200"/>
          </a:xfrm>
          <a:prstGeom prst="straightConnector1">
            <a:avLst/>
          </a:prstGeom>
          <a:noFill/>
          <a:ln cap="flat" cmpd="sng" w="9525">
            <a:solidFill>
              <a:schemeClr val="dk1"/>
            </a:solidFill>
            <a:prstDash val="solid"/>
            <a:round/>
            <a:headEnd len="med" w="med" type="none"/>
            <a:tailEnd len="med" w="med" type="triangle"/>
          </a:ln>
        </p:spPr>
      </p:cxnSp>
      <p:sp>
        <p:nvSpPr>
          <p:cNvPr id="285" name="Google Shape;285;p27"/>
          <p:cNvSpPr/>
          <p:nvPr/>
        </p:nvSpPr>
        <p:spPr>
          <a:xfrm>
            <a:off x="1366350" y="2037863"/>
            <a:ext cx="6411300" cy="5727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it" sz="1600"/>
              <a:t>We need to reduce the dimensionality of this conformational space</a:t>
            </a:r>
            <a:endParaRPr sz="1600"/>
          </a:p>
        </p:txBody>
      </p:sp>
      <p:cxnSp>
        <p:nvCxnSpPr>
          <p:cNvPr id="286" name="Google Shape;286;p27"/>
          <p:cNvCxnSpPr/>
          <p:nvPr/>
        </p:nvCxnSpPr>
        <p:spPr>
          <a:xfrm flipH="1">
            <a:off x="4571100" y="2783094"/>
            <a:ext cx="1800" cy="418200"/>
          </a:xfrm>
          <a:prstGeom prst="straightConnector1">
            <a:avLst/>
          </a:prstGeom>
          <a:noFill/>
          <a:ln cap="flat" cmpd="sng" w="9525">
            <a:solidFill>
              <a:schemeClr val="dk1"/>
            </a:solidFill>
            <a:prstDash val="solid"/>
            <a:round/>
            <a:headEnd len="med" w="med" type="none"/>
            <a:tailEnd len="med" w="med" type="triangle"/>
          </a:ln>
        </p:spPr>
      </p:cxnSp>
      <p:sp>
        <p:nvSpPr>
          <p:cNvPr id="287" name="Google Shape;287;p27"/>
          <p:cNvSpPr/>
          <p:nvPr/>
        </p:nvSpPr>
        <p:spPr>
          <a:xfrm>
            <a:off x="3371100" y="3358213"/>
            <a:ext cx="2401800" cy="651600"/>
          </a:xfrm>
          <a:prstGeom prst="roundRect">
            <a:avLst>
              <a:gd fmla="val 16667" name="adj"/>
            </a:avLst>
          </a:prstGeom>
          <a:solidFill>
            <a:srgbClr val="D9EAD3">
              <a:alpha val="37270"/>
            </a:srgbClr>
          </a:solidFill>
          <a:ln cap="flat" cmpd="sng" w="9525">
            <a:solidFill>
              <a:srgbClr val="38761D"/>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Essential dynamics (ED)</a:t>
            </a:r>
            <a:endParaRPr sz="1600"/>
          </a:p>
        </p:txBody>
      </p:sp>
      <p:sp>
        <p:nvSpPr>
          <p:cNvPr id="288" name="Google Shape;288;p27"/>
          <p:cNvSpPr txBox="1"/>
          <p:nvPr/>
        </p:nvSpPr>
        <p:spPr>
          <a:xfrm>
            <a:off x="120150" y="4166750"/>
            <a:ext cx="89037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solidFill>
                  <a:schemeClr val="dk1"/>
                </a:solidFill>
              </a:rPr>
              <a:t>ED applies principal component analysis (PCA) to an MD trajectory to reduce its dimensionality and r</a:t>
            </a:r>
            <a:r>
              <a:rPr b="1" lang="it" sz="1500">
                <a:solidFill>
                  <a:schemeClr val="dk1"/>
                </a:solidFill>
              </a:rPr>
              <a:t>eveal the main conformational motions</a:t>
            </a:r>
            <a:r>
              <a:rPr lang="it" sz="1500">
                <a:solidFill>
                  <a:schemeClr val="dk1"/>
                </a:solidFill>
              </a:rPr>
              <a:t>.</a:t>
            </a:r>
            <a:endParaRPr sz="15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8"/>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Principal component analysis</a:t>
            </a:r>
            <a:endParaRPr sz="2500">
              <a:latin typeface="Montserrat SemiBold"/>
              <a:ea typeface="Montserrat SemiBold"/>
              <a:cs typeface="Montserrat SemiBold"/>
              <a:sym typeface="Montserrat SemiBold"/>
            </a:endParaRPr>
          </a:p>
        </p:txBody>
      </p:sp>
      <p:sp>
        <p:nvSpPr>
          <p:cNvPr id="294" name="Google Shape;294;p28"/>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96" name="Google Shape;296;p28"/>
          <p:cNvSpPr/>
          <p:nvPr/>
        </p:nvSpPr>
        <p:spPr>
          <a:xfrm>
            <a:off x="2432400" y="937950"/>
            <a:ext cx="4321800" cy="4182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What is principal component </a:t>
            </a:r>
            <a:r>
              <a:rPr b="1" lang="it" sz="1600"/>
              <a:t>analysis?</a:t>
            </a:r>
            <a:endParaRPr sz="1300"/>
          </a:p>
        </p:txBody>
      </p:sp>
      <p:sp>
        <p:nvSpPr>
          <p:cNvPr id="297" name="Google Shape;297;p28"/>
          <p:cNvSpPr txBox="1"/>
          <p:nvPr/>
        </p:nvSpPr>
        <p:spPr>
          <a:xfrm>
            <a:off x="120150" y="1574950"/>
            <a:ext cx="8903700" cy="957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solidFill>
                  <a:schemeClr val="dk1"/>
                </a:solidFill>
              </a:rPr>
              <a:t>PCA is a powerful mathematical technique used in data science, machine learning, and statistics. It transforms high-dimensional data into a </a:t>
            </a:r>
            <a:r>
              <a:rPr b="1" lang="it" sz="1500">
                <a:solidFill>
                  <a:schemeClr val="dk1"/>
                </a:solidFill>
              </a:rPr>
              <a:t>lower-dimensional space</a:t>
            </a:r>
            <a:r>
              <a:rPr lang="it" sz="1500">
                <a:solidFill>
                  <a:schemeClr val="dk1"/>
                </a:solidFill>
              </a:rPr>
              <a:t> while </a:t>
            </a:r>
            <a:r>
              <a:rPr b="1" lang="it" sz="1500">
                <a:solidFill>
                  <a:schemeClr val="dk1"/>
                </a:solidFill>
              </a:rPr>
              <a:t>preserving</a:t>
            </a:r>
            <a:r>
              <a:rPr lang="it" sz="1500">
                <a:solidFill>
                  <a:schemeClr val="dk1"/>
                </a:solidFill>
              </a:rPr>
              <a:t> as much of the</a:t>
            </a:r>
            <a:r>
              <a:rPr b="1" lang="it" sz="1500">
                <a:solidFill>
                  <a:schemeClr val="dk1"/>
                </a:solidFill>
              </a:rPr>
              <a:t> variance (spread) </a:t>
            </a:r>
            <a:r>
              <a:rPr lang="it" sz="1500">
                <a:solidFill>
                  <a:schemeClr val="dk1"/>
                </a:solidFill>
              </a:rPr>
              <a:t>as possible.</a:t>
            </a:r>
            <a:endParaRPr sz="1500">
              <a:solidFill>
                <a:schemeClr val="dk1"/>
              </a:solidFill>
            </a:endParaRPr>
          </a:p>
        </p:txBody>
      </p:sp>
      <p:pic>
        <p:nvPicPr>
          <p:cNvPr id="298" name="Google Shape;298;p28"/>
          <p:cNvPicPr preferRelativeResize="0"/>
          <p:nvPr/>
        </p:nvPicPr>
        <p:blipFill>
          <a:blip r:embed="rId3">
            <a:alphaModFix/>
          </a:blip>
          <a:stretch>
            <a:fillRect/>
          </a:stretch>
        </p:blipFill>
        <p:spPr>
          <a:xfrm>
            <a:off x="2522350" y="2665350"/>
            <a:ext cx="4099290" cy="23058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9"/>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Principal component analysis</a:t>
            </a:r>
            <a:endParaRPr sz="2500">
              <a:latin typeface="Montserrat SemiBold"/>
              <a:ea typeface="Montserrat SemiBold"/>
              <a:cs typeface="Montserrat SemiBold"/>
              <a:sym typeface="Montserrat SemiBold"/>
            </a:endParaRPr>
          </a:p>
        </p:txBody>
      </p:sp>
      <p:sp>
        <p:nvSpPr>
          <p:cNvPr id="304" name="Google Shape;304;p29"/>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06" name="Google Shape;306;p29"/>
          <p:cNvSpPr/>
          <p:nvPr/>
        </p:nvSpPr>
        <p:spPr>
          <a:xfrm>
            <a:off x="1813300" y="1109700"/>
            <a:ext cx="2019600" cy="651600"/>
          </a:xfrm>
          <a:prstGeom prst="roundRect">
            <a:avLst>
              <a:gd fmla="val 16667" name="adj"/>
            </a:avLst>
          </a:prstGeom>
          <a:solidFill>
            <a:srgbClr val="C9DAF8">
              <a:alpha val="3045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Set of original variables</a:t>
            </a:r>
            <a:endParaRPr sz="1300"/>
          </a:p>
        </p:txBody>
      </p:sp>
      <p:sp>
        <p:nvSpPr>
          <p:cNvPr id="307" name="Google Shape;307;p29"/>
          <p:cNvSpPr/>
          <p:nvPr/>
        </p:nvSpPr>
        <p:spPr>
          <a:xfrm>
            <a:off x="4264211" y="1355562"/>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29"/>
          <p:cNvSpPr/>
          <p:nvPr/>
        </p:nvSpPr>
        <p:spPr>
          <a:xfrm>
            <a:off x="5001500" y="1109700"/>
            <a:ext cx="2329200" cy="6516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Set of uncorrelated variables (PCs)</a:t>
            </a:r>
            <a:endParaRPr sz="1300"/>
          </a:p>
        </p:txBody>
      </p:sp>
      <p:cxnSp>
        <p:nvCxnSpPr>
          <p:cNvPr id="309" name="Google Shape;309;p29"/>
          <p:cNvCxnSpPr/>
          <p:nvPr/>
        </p:nvCxnSpPr>
        <p:spPr>
          <a:xfrm flipH="1">
            <a:off x="5533925" y="1960953"/>
            <a:ext cx="539400" cy="558900"/>
          </a:xfrm>
          <a:prstGeom prst="straightConnector1">
            <a:avLst/>
          </a:prstGeom>
          <a:noFill/>
          <a:ln cap="flat" cmpd="sng" w="9525">
            <a:solidFill>
              <a:schemeClr val="dk1"/>
            </a:solidFill>
            <a:prstDash val="solid"/>
            <a:round/>
            <a:headEnd len="med" w="med" type="none"/>
            <a:tailEnd len="med" w="med" type="triangle"/>
          </a:ln>
        </p:spPr>
      </p:cxnSp>
      <p:sp>
        <p:nvSpPr>
          <p:cNvPr id="310" name="Google Shape;310;p29"/>
          <p:cNvSpPr txBox="1"/>
          <p:nvPr/>
        </p:nvSpPr>
        <p:spPr>
          <a:xfrm>
            <a:off x="1772700" y="2617463"/>
            <a:ext cx="5641200" cy="7509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Clr>
                <a:schemeClr val="dk1"/>
              </a:buClr>
              <a:buSzPts val="1500"/>
              <a:buChar char="●"/>
            </a:pPr>
            <a:r>
              <a:rPr lang="it" sz="1500">
                <a:solidFill>
                  <a:schemeClr val="dk1"/>
                </a:solidFill>
              </a:rPr>
              <a:t>PCs are linear combinations of the original variables.</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PCs are ordered by the amount of variance they explain</a:t>
            </a:r>
            <a:endParaRPr sz="1500">
              <a:solidFill>
                <a:schemeClr val="dk1"/>
              </a:solidFill>
            </a:endParaRPr>
          </a:p>
        </p:txBody>
      </p:sp>
      <p:sp>
        <p:nvSpPr>
          <p:cNvPr id="311" name="Google Shape;311;p29"/>
          <p:cNvSpPr/>
          <p:nvPr/>
        </p:nvSpPr>
        <p:spPr>
          <a:xfrm>
            <a:off x="423125" y="3901000"/>
            <a:ext cx="2329200" cy="651600"/>
          </a:xfrm>
          <a:prstGeom prst="roundRect">
            <a:avLst>
              <a:gd fmla="val 16667" name="adj"/>
            </a:avLst>
          </a:prstGeom>
          <a:solidFill>
            <a:srgbClr val="D9D2E9">
              <a:alpha val="30000"/>
            </a:srgbClr>
          </a:solidFill>
          <a:ln cap="flat" cmpd="sng" w="9525">
            <a:solidFill>
              <a:srgbClr val="99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Dimensionality reduction</a:t>
            </a:r>
            <a:endParaRPr sz="1300"/>
          </a:p>
        </p:txBody>
      </p:sp>
      <p:cxnSp>
        <p:nvCxnSpPr>
          <p:cNvPr id="312" name="Google Shape;312;p29"/>
          <p:cNvCxnSpPr/>
          <p:nvPr/>
        </p:nvCxnSpPr>
        <p:spPr>
          <a:xfrm rot="-5400000">
            <a:off x="3280038" y="3923953"/>
            <a:ext cx="4500" cy="605700"/>
          </a:xfrm>
          <a:prstGeom prst="straightConnector1">
            <a:avLst/>
          </a:prstGeom>
          <a:noFill/>
          <a:ln cap="flat" cmpd="sng" w="9525">
            <a:solidFill>
              <a:schemeClr val="dk1"/>
            </a:solidFill>
            <a:prstDash val="solid"/>
            <a:round/>
            <a:headEnd len="med" w="med" type="none"/>
            <a:tailEnd len="med" w="med" type="triangle"/>
          </a:ln>
        </p:spPr>
      </p:cxnSp>
      <p:sp>
        <p:nvSpPr>
          <p:cNvPr id="313" name="Google Shape;313;p29"/>
          <p:cNvSpPr txBox="1"/>
          <p:nvPr/>
        </p:nvSpPr>
        <p:spPr>
          <a:xfrm>
            <a:off x="3812251" y="3793500"/>
            <a:ext cx="4951200" cy="935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solidFill>
                  <a:schemeClr val="dk1"/>
                </a:solidFill>
              </a:rPr>
              <a:t>By keeping only the first few PCs, we reduce the dimensionality of our data while retaining most of its variance.</a:t>
            </a:r>
            <a:endParaRPr sz="15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0"/>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Principal component analysis</a:t>
            </a:r>
            <a:endParaRPr sz="2500">
              <a:latin typeface="Montserrat SemiBold"/>
              <a:ea typeface="Montserrat SemiBold"/>
              <a:cs typeface="Montserrat SemiBold"/>
              <a:sym typeface="Montserrat SemiBold"/>
            </a:endParaRPr>
          </a:p>
        </p:txBody>
      </p:sp>
      <p:sp>
        <p:nvSpPr>
          <p:cNvPr id="319" name="Google Shape;319;p30"/>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21" name="Google Shape;321;p30"/>
          <p:cNvSpPr txBox="1"/>
          <p:nvPr/>
        </p:nvSpPr>
        <p:spPr>
          <a:xfrm>
            <a:off x="220638" y="1968225"/>
            <a:ext cx="4173300" cy="15213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Clr>
                <a:schemeClr val="dk1"/>
              </a:buClr>
              <a:buSzPts val="1500"/>
              <a:buAutoNum type="arabicPeriod"/>
            </a:pPr>
            <a:r>
              <a:rPr lang="it" sz="1500">
                <a:solidFill>
                  <a:schemeClr val="dk1"/>
                </a:solidFill>
              </a:rPr>
              <a:t>Useful with high-dimensional data</a:t>
            </a:r>
            <a:endParaRPr sz="1500">
              <a:solidFill>
                <a:schemeClr val="dk1"/>
              </a:solidFill>
            </a:endParaRPr>
          </a:p>
          <a:p>
            <a:pPr indent="-323850" lvl="0" marL="457200" rtl="0" algn="just">
              <a:lnSpc>
                <a:spcPct val="115000"/>
              </a:lnSpc>
              <a:spcBef>
                <a:spcPts val="0"/>
              </a:spcBef>
              <a:spcAft>
                <a:spcPts val="0"/>
              </a:spcAft>
              <a:buClr>
                <a:schemeClr val="dk1"/>
              </a:buClr>
              <a:buSzPts val="1500"/>
              <a:buAutoNum type="arabicPeriod"/>
            </a:pPr>
            <a:r>
              <a:rPr lang="it" sz="1500">
                <a:solidFill>
                  <a:schemeClr val="dk1"/>
                </a:solidFill>
              </a:rPr>
              <a:t>It c</a:t>
            </a:r>
            <a:r>
              <a:rPr lang="it" sz="1500">
                <a:solidFill>
                  <a:schemeClr val="dk1"/>
                </a:solidFill>
              </a:rPr>
              <a:t>an help filter out noise</a:t>
            </a:r>
            <a:endParaRPr sz="1500">
              <a:solidFill>
                <a:schemeClr val="dk1"/>
              </a:solidFill>
            </a:endParaRPr>
          </a:p>
          <a:p>
            <a:pPr indent="-323850" lvl="0" marL="457200" rtl="0" algn="just">
              <a:lnSpc>
                <a:spcPct val="115000"/>
              </a:lnSpc>
              <a:spcBef>
                <a:spcPts val="0"/>
              </a:spcBef>
              <a:spcAft>
                <a:spcPts val="0"/>
              </a:spcAft>
              <a:buClr>
                <a:schemeClr val="dk1"/>
              </a:buClr>
              <a:buSzPts val="1500"/>
              <a:buAutoNum type="arabicPeriod"/>
            </a:pPr>
            <a:r>
              <a:rPr lang="it" sz="1500">
                <a:solidFill>
                  <a:schemeClr val="dk1"/>
                </a:solidFill>
              </a:rPr>
              <a:t>It makes complex data visualizable</a:t>
            </a:r>
            <a:endParaRPr sz="1500">
              <a:solidFill>
                <a:schemeClr val="dk1"/>
              </a:solidFill>
            </a:endParaRPr>
          </a:p>
          <a:p>
            <a:pPr indent="-323850" lvl="0" marL="457200" rtl="0" algn="just">
              <a:lnSpc>
                <a:spcPct val="115000"/>
              </a:lnSpc>
              <a:spcBef>
                <a:spcPts val="0"/>
              </a:spcBef>
              <a:spcAft>
                <a:spcPts val="0"/>
              </a:spcAft>
              <a:buClr>
                <a:schemeClr val="dk1"/>
              </a:buClr>
              <a:buSzPts val="1500"/>
              <a:buAutoNum type="arabicPeriod"/>
            </a:pPr>
            <a:r>
              <a:rPr lang="it" sz="1500">
                <a:solidFill>
                  <a:schemeClr val="dk1"/>
                </a:solidFill>
              </a:rPr>
              <a:t>It helps identify the directions along which the data varies most</a:t>
            </a:r>
            <a:endParaRPr sz="1500">
              <a:solidFill>
                <a:schemeClr val="dk1"/>
              </a:solidFill>
            </a:endParaRPr>
          </a:p>
        </p:txBody>
      </p:sp>
      <p:sp>
        <p:nvSpPr>
          <p:cNvPr id="322" name="Google Shape;322;p30"/>
          <p:cNvSpPr/>
          <p:nvPr/>
        </p:nvSpPr>
        <p:spPr>
          <a:xfrm>
            <a:off x="6009763" y="1156550"/>
            <a:ext cx="1653900" cy="572700"/>
          </a:xfrm>
          <a:prstGeom prst="roundRect">
            <a:avLst>
              <a:gd fmla="val 16667" name="adj"/>
            </a:avLst>
          </a:prstGeom>
          <a:solidFill>
            <a:srgbClr val="FCE5CD">
              <a:alpha val="30000"/>
            </a:srgbClr>
          </a:solidFill>
          <a:ln cap="flat" cmpd="sng" w="9525">
            <a:solidFill>
              <a:srgbClr val="FF99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Limitations</a:t>
            </a:r>
            <a:endParaRPr sz="1600"/>
          </a:p>
        </p:txBody>
      </p:sp>
      <p:sp>
        <p:nvSpPr>
          <p:cNvPr id="323" name="Google Shape;323;p30"/>
          <p:cNvSpPr/>
          <p:nvPr/>
        </p:nvSpPr>
        <p:spPr>
          <a:xfrm>
            <a:off x="1480338" y="1156550"/>
            <a:ext cx="1653900" cy="572700"/>
          </a:xfrm>
          <a:prstGeom prst="roundRect">
            <a:avLst>
              <a:gd fmla="val 16667" name="adj"/>
            </a:avLst>
          </a:prstGeom>
          <a:solidFill>
            <a:srgbClr val="D9EAD3">
              <a:alpha val="37270"/>
            </a:srgbClr>
          </a:solidFill>
          <a:ln cap="flat" cmpd="sng" w="9525">
            <a:solidFill>
              <a:srgbClr val="38761D"/>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Advantages</a:t>
            </a:r>
            <a:endParaRPr sz="1600"/>
          </a:p>
        </p:txBody>
      </p:sp>
      <p:sp>
        <p:nvSpPr>
          <p:cNvPr id="324" name="Google Shape;324;p30"/>
          <p:cNvSpPr txBox="1"/>
          <p:nvPr/>
        </p:nvSpPr>
        <p:spPr>
          <a:xfrm>
            <a:off x="4750063" y="1959498"/>
            <a:ext cx="4173300" cy="12645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Clr>
                <a:schemeClr val="dk1"/>
              </a:buClr>
              <a:buSzPts val="1500"/>
              <a:buAutoNum type="arabicPeriod"/>
            </a:pPr>
            <a:r>
              <a:rPr lang="it" sz="1500">
                <a:solidFill>
                  <a:schemeClr val="dk1"/>
                </a:solidFill>
              </a:rPr>
              <a:t>PCs can be difficult to interpret</a:t>
            </a:r>
            <a:endParaRPr sz="1500">
              <a:solidFill>
                <a:schemeClr val="dk1"/>
              </a:solidFill>
            </a:endParaRPr>
          </a:p>
          <a:p>
            <a:pPr indent="-323850" lvl="0" marL="457200" rtl="0" algn="just">
              <a:lnSpc>
                <a:spcPct val="115000"/>
              </a:lnSpc>
              <a:spcBef>
                <a:spcPts val="0"/>
              </a:spcBef>
              <a:spcAft>
                <a:spcPts val="0"/>
              </a:spcAft>
              <a:buClr>
                <a:schemeClr val="dk1"/>
              </a:buClr>
              <a:buSzPts val="1500"/>
              <a:buAutoNum type="arabicPeriod"/>
            </a:pPr>
            <a:r>
              <a:rPr lang="it" sz="1500">
                <a:solidFill>
                  <a:schemeClr val="dk1"/>
                </a:solidFill>
              </a:rPr>
              <a:t>It only captures linear relationships</a:t>
            </a:r>
            <a:endParaRPr sz="1500">
              <a:solidFill>
                <a:schemeClr val="dk1"/>
              </a:solidFill>
            </a:endParaRPr>
          </a:p>
          <a:p>
            <a:pPr indent="-323850" lvl="0" marL="457200" rtl="0" algn="just">
              <a:lnSpc>
                <a:spcPct val="115000"/>
              </a:lnSpc>
              <a:spcBef>
                <a:spcPts val="0"/>
              </a:spcBef>
              <a:spcAft>
                <a:spcPts val="0"/>
              </a:spcAft>
              <a:buClr>
                <a:schemeClr val="dk1"/>
              </a:buClr>
              <a:buSzPts val="1500"/>
              <a:buAutoNum type="arabicPeriod"/>
            </a:pPr>
            <a:r>
              <a:rPr lang="it" sz="1500">
                <a:solidFill>
                  <a:schemeClr val="dk1"/>
                </a:solidFill>
              </a:rPr>
              <a:t>Some information is inevitably lost when reducing dimensions</a:t>
            </a:r>
            <a:endParaRPr sz="1500">
              <a:solidFill>
                <a:schemeClr val="dk1"/>
              </a:solidFill>
            </a:endParaRPr>
          </a:p>
        </p:txBody>
      </p:sp>
      <p:sp>
        <p:nvSpPr>
          <p:cNvPr id="325" name="Google Shape;325;p30"/>
          <p:cNvSpPr/>
          <p:nvPr/>
        </p:nvSpPr>
        <p:spPr>
          <a:xfrm>
            <a:off x="1661400" y="3989050"/>
            <a:ext cx="5863800" cy="4587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What does applying PCA to our MD simulation mean?</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1"/>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Essential dynamics analysis</a:t>
            </a:r>
            <a:endParaRPr sz="2500">
              <a:latin typeface="Montserrat SemiBold"/>
              <a:ea typeface="Montserrat SemiBold"/>
              <a:cs typeface="Montserrat SemiBold"/>
              <a:sym typeface="Montserrat SemiBold"/>
            </a:endParaRPr>
          </a:p>
        </p:txBody>
      </p:sp>
      <p:sp>
        <p:nvSpPr>
          <p:cNvPr id="331" name="Google Shape;331;p31"/>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33" name="Google Shape;333;p31"/>
          <p:cNvSpPr txBox="1"/>
          <p:nvPr/>
        </p:nvSpPr>
        <p:spPr>
          <a:xfrm>
            <a:off x="0" y="3222475"/>
            <a:ext cx="8874900" cy="1192500"/>
          </a:xfrm>
          <a:prstGeom prst="rect">
            <a:avLst/>
          </a:prstGeom>
          <a:noFill/>
          <a:ln>
            <a:noFill/>
          </a:ln>
        </p:spPr>
        <p:txBody>
          <a:bodyPr anchorCtr="0" anchor="t" bIns="91425" lIns="91425" spcFirstLastPara="1" rIns="91425" wrap="square" tIns="91425">
            <a:noAutofit/>
          </a:bodyPr>
          <a:lstStyle/>
          <a:p>
            <a:pPr indent="-330200" lvl="0" marL="457200" rtl="0" algn="just">
              <a:lnSpc>
                <a:spcPct val="115000"/>
              </a:lnSpc>
              <a:spcBef>
                <a:spcPts val="0"/>
              </a:spcBef>
              <a:spcAft>
                <a:spcPts val="0"/>
              </a:spcAft>
              <a:buClr>
                <a:schemeClr val="dk1"/>
              </a:buClr>
              <a:buSzPts val="1600"/>
              <a:buChar char="●"/>
            </a:pPr>
            <a:r>
              <a:rPr lang="it" sz="1600">
                <a:solidFill>
                  <a:schemeClr val="dk1"/>
                </a:solidFill>
              </a:rPr>
              <a:t>We apply PCA to the </a:t>
            </a:r>
            <a:r>
              <a:rPr b="1" lang="it" sz="1600">
                <a:solidFill>
                  <a:schemeClr val="dk1"/>
                </a:solidFill>
              </a:rPr>
              <a:t>atomic fluctuations</a:t>
            </a:r>
            <a:r>
              <a:rPr lang="it" sz="1600">
                <a:solidFill>
                  <a:schemeClr val="dk1"/>
                </a:solidFill>
              </a:rPr>
              <a:t> of our system to identify the </a:t>
            </a:r>
            <a:r>
              <a:rPr b="1" lang="it" sz="1600">
                <a:solidFill>
                  <a:schemeClr val="dk1"/>
                </a:solidFill>
              </a:rPr>
              <a:t>collective motions</a:t>
            </a:r>
            <a:r>
              <a:rPr lang="it" sz="1600">
                <a:solidFill>
                  <a:schemeClr val="dk1"/>
                </a:solidFill>
              </a:rPr>
              <a:t> that dominate its dynamics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it" sz="1600">
                <a:solidFill>
                  <a:srgbClr val="188038"/>
                </a:solidFill>
              </a:rPr>
              <a:t>Goal</a:t>
            </a:r>
            <a:r>
              <a:rPr lang="it" sz="1600">
                <a:solidFill>
                  <a:schemeClr val="dk1"/>
                </a:solidFill>
              </a:rPr>
              <a:t>: describe the trajectory using only </a:t>
            </a:r>
            <a:r>
              <a:rPr b="1" lang="it" sz="1600">
                <a:solidFill>
                  <a:schemeClr val="dk1"/>
                </a:solidFill>
              </a:rPr>
              <a:t>a few</a:t>
            </a:r>
            <a:r>
              <a:rPr lang="it" sz="1600">
                <a:solidFill>
                  <a:schemeClr val="dk1"/>
                </a:solidFill>
              </a:rPr>
              <a:t> dominant collective motions instead of all </a:t>
            </a:r>
            <a:r>
              <a:rPr i="1" lang="it" sz="1600">
                <a:solidFill>
                  <a:schemeClr val="dk1"/>
                </a:solidFill>
              </a:rPr>
              <a:t>3N</a:t>
            </a:r>
            <a:r>
              <a:rPr lang="it" sz="1600">
                <a:solidFill>
                  <a:schemeClr val="dk1"/>
                </a:solidFill>
              </a:rPr>
              <a:t> coordinates.</a:t>
            </a:r>
            <a:endParaRPr sz="1600">
              <a:solidFill>
                <a:schemeClr val="dk1"/>
              </a:solidFill>
            </a:endParaRPr>
          </a:p>
        </p:txBody>
      </p:sp>
      <p:sp>
        <p:nvSpPr>
          <p:cNvPr id="334" name="Google Shape;334;p31"/>
          <p:cNvSpPr txBox="1"/>
          <p:nvPr/>
        </p:nvSpPr>
        <p:spPr>
          <a:xfrm>
            <a:off x="0" y="1032100"/>
            <a:ext cx="9021300" cy="1514100"/>
          </a:xfrm>
          <a:prstGeom prst="rect">
            <a:avLst/>
          </a:prstGeom>
          <a:noFill/>
          <a:ln>
            <a:noFill/>
          </a:ln>
        </p:spPr>
        <p:txBody>
          <a:bodyPr anchorCtr="0" anchor="t" bIns="91425" lIns="91425" spcFirstLastPara="1" rIns="91425" wrap="square" tIns="91425">
            <a:noAutofit/>
          </a:bodyPr>
          <a:lstStyle/>
          <a:p>
            <a:pPr indent="-330200" lvl="0" marL="457200" rtl="0" algn="just">
              <a:lnSpc>
                <a:spcPct val="115000"/>
              </a:lnSpc>
              <a:spcBef>
                <a:spcPts val="0"/>
              </a:spcBef>
              <a:spcAft>
                <a:spcPts val="0"/>
              </a:spcAft>
              <a:buClr>
                <a:schemeClr val="dk1"/>
              </a:buClr>
              <a:buSzPts val="1600"/>
              <a:buChar char="●"/>
            </a:pPr>
            <a:r>
              <a:rPr lang="it" sz="1600">
                <a:solidFill>
                  <a:schemeClr val="dk1"/>
                </a:solidFill>
              </a:rPr>
              <a:t>An MD trajectory of </a:t>
            </a:r>
            <a:r>
              <a:rPr i="1" lang="it" sz="1600">
                <a:solidFill>
                  <a:schemeClr val="dk1"/>
                </a:solidFill>
              </a:rPr>
              <a:t>N</a:t>
            </a:r>
            <a:r>
              <a:rPr lang="it" sz="1600">
                <a:solidFill>
                  <a:schemeClr val="dk1"/>
                </a:solidFill>
              </a:rPr>
              <a:t> atoms contains 3</a:t>
            </a:r>
            <a:r>
              <a:rPr i="1" lang="it" sz="1600">
                <a:solidFill>
                  <a:schemeClr val="dk1"/>
                </a:solidFill>
              </a:rPr>
              <a:t>N</a:t>
            </a:r>
            <a:r>
              <a:rPr lang="it" sz="1600">
                <a:solidFill>
                  <a:schemeClr val="dk1"/>
                </a:solidFill>
              </a:rPr>
              <a:t> Cartesian coordinates per frame (x</a:t>
            </a:r>
            <a:r>
              <a:rPr baseline="-25000" lang="it" sz="1600">
                <a:solidFill>
                  <a:schemeClr val="dk1"/>
                </a:solidFill>
              </a:rPr>
              <a:t>1</a:t>
            </a:r>
            <a:r>
              <a:rPr lang="it" sz="1600">
                <a:solidFill>
                  <a:schemeClr val="dk1"/>
                </a:solidFill>
              </a:rPr>
              <a:t>, y</a:t>
            </a:r>
            <a:r>
              <a:rPr baseline="-25000" lang="it" sz="1600">
                <a:solidFill>
                  <a:schemeClr val="dk1"/>
                </a:solidFill>
              </a:rPr>
              <a:t>1</a:t>
            </a:r>
            <a:r>
              <a:rPr lang="it" sz="1600">
                <a:solidFill>
                  <a:schemeClr val="dk1"/>
                </a:solidFill>
              </a:rPr>
              <a:t>, z</a:t>
            </a:r>
            <a:r>
              <a:rPr baseline="-25000" lang="it" sz="1600">
                <a:solidFill>
                  <a:schemeClr val="dk1"/>
                </a:solidFill>
              </a:rPr>
              <a:t>1</a:t>
            </a:r>
            <a:r>
              <a:rPr lang="it" sz="1600">
                <a:solidFill>
                  <a:schemeClr val="dk1"/>
                </a:solidFill>
              </a:rPr>
              <a:t>,..., </a:t>
            </a:r>
            <a:r>
              <a:rPr lang="it" sz="1600">
                <a:solidFill>
                  <a:schemeClr val="dk1"/>
                </a:solidFill>
              </a:rPr>
              <a:t>x</a:t>
            </a:r>
            <a:r>
              <a:rPr baseline="-25000" lang="it" sz="1600">
                <a:solidFill>
                  <a:schemeClr val="dk1"/>
                </a:solidFill>
              </a:rPr>
              <a:t>N</a:t>
            </a:r>
            <a:r>
              <a:rPr lang="it" sz="1600">
                <a:solidFill>
                  <a:schemeClr val="dk1"/>
                </a:solidFill>
              </a:rPr>
              <a:t>, y</a:t>
            </a:r>
            <a:r>
              <a:rPr baseline="-25000" lang="it" sz="1600">
                <a:solidFill>
                  <a:schemeClr val="dk1"/>
                </a:solidFill>
              </a:rPr>
              <a:t>N</a:t>
            </a:r>
            <a:r>
              <a:rPr lang="it" sz="1600">
                <a:solidFill>
                  <a:schemeClr val="dk1"/>
                </a:solidFill>
              </a:rPr>
              <a:t>, z</a:t>
            </a:r>
            <a:r>
              <a:rPr baseline="-25000" lang="it" sz="1600">
                <a:solidFill>
                  <a:schemeClr val="dk1"/>
                </a:solidFill>
              </a:rPr>
              <a:t>N</a:t>
            </a:r>
            <a:r>
              <a:rPr lang="it" sz="1600">
                <a:solidFill>
                  <a:schemeClr val="dk1"/>
                </a:solidFill>
              </a:rPr>
              <a:t>)</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it" sz="1600">
                <a:solidFill>
                  <a:schemeClr val="dk1"/>
                </a:solidFill>
              </a:rPr>
              <a:t>Over thousands of frames, this create a </a:t>
            </a:r>
            <a:r>
              <a:rPr b="1" lang="it" sz="1600">
                <a:solidFill>
                  <a:schemeClr val="dk1"/>
                </a:solidFill>
              </a:rPr>
              <a:t>very high-dimensional dataset</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it" sz="1600">
                <a:solidFill>
                  <a:schemeClr val="dk1"/>
                </a:solidFill>
              </a:rPr>
              <a:t>Atomic motions are </a:t>
            </a:r>
            <a:r>
              <a:rPr lang="it" sz="1600">
                <a:solidFill>
                  <a:schemeClr val="dk1"/>
                </a:solidFill>
              </a:rPr>
              <a:t>often</a:t>
            </a:r>
            <a:r>
              <a:rPr lang="it" sz="1600">
                <a:solidFill>
                  <a:schemeClr val="dk1"/>
                </a:solidFill>
              </a:rPr>
              <a:t> </a:t>
            </a:r>
            <a:r>
              <a:rPr b="1" lang="it" sz="1600">
                <a:solidFill>
                  <a:schemeClr val="dk1"/>
                </a:solidFill>
              </a:rPr>
              <a:t>correlated</a:t>
            </a:r>
            <a:r>
              <a:rPr lang="it" sz="1600">
                <a:solidFill>
                  <a:schemeClr val="dk1"/>
                </a:solidFill>
              </a:rPr>
              <a:t>: groups of atoms move together rather than independently</a:t>
            </a:r>
            <a:endParaRPr sz="1600">
              <a:solidFill>
                <a:schemeClr val="dk1"/>
              </a:solidFill>
            </a:endParaRPr>
          </a:p>
        </p:txBody>
      </p:sp>
      <p:cxnSp>
        <p:nvCxnSpPr>
          <p:cNvPr id="335" name="Google Shape;335;p31"/>
          <p:cNvCxnSpPr/>
          <p:nvPr/>
        </p:nvCxnSpPr>
        <p:spPr>
          <a:xfrm flipH="1" rot="-360540">
            <a:off x="4590442" y="2670600"/>
            <a:ext cx="5731" cy="4275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2"/>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Essential dynamics analysis</a:t>
            </a:r>
            <a:endParaRPr sz="2500">
              <a:latin typeface="Montserrat SemiBold"/>
              <a:ea typeface="Montserrat SemiBold"/>
              <a:cs typeface="Montserrat SemiBold"/>
              <a:sym typeface="Montserrat SemiBold"/>
            </a:endParaRPr>
          </a:p>
        </p:txBody>
      </p:sp>
      <p:sp>
        <p:nvSpPr>
          <p:cNvPr id="341" name="Google Shape;341;p32"/>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43" name="Google Shape;343;p32"/>
          <p:cNvSpPr/>
          <p:nvPr/>
        </p:nvSpPr>
        <p:spPr>
          <a:xfrm>
            <a:off x="514499" y="1055875"/>
            <a:ext cx="1614600" cy="810000"/>
          </a:xfrm>
          <a:prstGeom prst="roundRect">
            <a:avLst>
              <a:gd fmla="val 16667" name="adj"/>
            </a:avLst>
          </a:prstGeom>
          <a:solidFill>
            <a:srgbClr val="C9DAF8">
              <a:alpha val="3045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MD production</a:t>
            </a:r>
            <a:endParaRPr sz="1300"/>
          </a:p>
        </p:txBody>
      </p:sp>
      <p:sp>
        <p:nvSpPr>
          <p:cNvPr id="344" name="Google Shape;344;p32"/>
          <p:cNvSpPr/>
          <p:nvPr/>
        </p:nvSpPr>
        <p:spPr>
          <a:xfrm>
            <a:off x="2390261" y="1380937"/>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32"/>
          <p:cNvSpPr txBox="1"/>
          <p:nvPr/>
        </p:nvSpPr>
        <p:spPr>
          <a:xfrm>
            <a:off x="3001500" y="1135075"/>
            <a:ext cx="58734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600">
                <a:solidFill>
                  <a:schemeClr val="dk1"/>
                </a:solidFill>
              </a:rPr>
              <a:t>1) We remove the overall rotation and translation to look at the </a:t>
            </a:r>
            <a:r>
              <a:rPr b="1" lang="it" sz="1600">
                <a:solidFill>
                  <a:schemeClr val="dk1"/>
                </a:solidFill>
              </a:rPr>
              <a:t>internal motion</a:t>
            </a:r>
            <a:r>
              <a:rPr lang="it" sz="1600">
                <a:solidFill>
                  <a:schemeClr val="dk1"/>
                </a:solidFill>
              </a:rPr>
              <a:t> only (= least square fitting to a ref. structure)</a:t>
            </a:r>
            <a:endParaRPr sz="1600">
              <a:solidFill>
                <a:schemeClr val="dk1"/>
              </a:solidFill>
            </a:endParaRPr>
          </a:p>
        </p:txBody>
      </p:sp>
      <p:sp>
        <p:nvSpPr>
          <p:cNvPr id="346" name="Google Shape;346;p32"/>
          <p:cNvSpPr txBox="1"/>
          <p:nvPr/>
        </p:nvSpPr>
        <p:spPr>
          <a:xfrm>
            <a:off x="1435800" y="2171438"/>
            <a:ext cx="6315000" cy="393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600">
                <a:solidFill>
                  <a:schemeClr val="dk1"/>
                </a:solidFill>
              </a:rPr>
              <a:t>2) We construct the covariance matrix of the positional fluctuations:</a:t>
            </a:r>
            <a:endParaRPr sz="1600">
              <a:solidFill>
                <a:schemeClr val="dk1"/>
              </a:solidFill>
            </a:endParaRPr>
          </a:p>
        </p:txBody>
      </p:sp>
      <p:pic>
        <p:nvPicPr>
          <p:cNvPr id="347" name="Google Shape;347;p32" title="cov_mat_eq.png"/>
          <p:cNvPicPr preferRelativeResize="0"/>
          <p:nvPr/>
        </p:nvPicPr>
        <p:blipFill>
          <a:blip r:embed="rId3">
            <a:alphaModFix/>
          </a:blip>
          <a:stretch>
            <a:fillRect/>
          </a:stretch>
        </p:blipFill>
        <p:spPr>
          <a:xfrm>
            <a:off x="3003375" y="2667762"/>
            <a:ext cx="3137239" cy="474875"/>
          </a:xfrm>
          <a:prstGeom prst="rect">
            <a:avLst/>
          </a:prstGeom>
          <a:noFill/>
          <a:ln>
            <a:noFill/>
          </a:ln>
        </p:spPr>
      </p:pic>
      <p:pic>
        <p:nvPicPr>
          <p:cNvPr id="348" name="Google Shape;348;p32" title="cov_mat_eq4.png"/>
          <p:cNvPicPr preferRelativeResize="0"/>
          <p:nvPr/>
        </p:nvPicPr>
        <p:blipFill>
          <a:blip r:embed="rId4">
            <a:alphaModFix/>
          </a:blip>
          <a:stretch>
            <a:fillRect/>
          </a:stretch>
        </p:blipFill>
        <p:spPr>
          <a:xfrm>
            <a:off x="1330292" y="4023725"/>
            <a:ext cx="6483410" cy="474875"/>
          </a:xfrm>
          <a:prstGeom prst="rect">
            <a:avLst/>
          </a:prstGeom>
          <a:noFill/>
          <a:ln>
            <a:noFill/>
          </a:ln>
        </p:spPr>
      </p:pic>
      <p:sp>
        <p:nvSpPr>
          <p:cNvPr id="349" name="Google Shape;349;p32"/>
          <p:cNvSpPr txBox="1"/>
          <p:nvPr/>
        </p:nvSpPr>
        <p:spPr>
          <a:xfrm>
            <a:off x="171751" y="3257363"/>
            <a:ext cx="8800500" cy="65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i="1" lang="it" sz="1500">
                <a:solidFill>
                  <a:schemeClr val="dk1"/>
                </a:solidFill>
              </a:rPr>
              <a:t>C</a:t>
            </a:r>
            <a:r>
              <a:rPr lang="it" sz="1500">
                <a:solidFill>
                  <a:schemeClr val="dk1"/>
                </a:solidFill>
              </a:rPr>
              <a:t> is a symmetric 3</a:t>
            </a:r>
            <a:r>
              <a:rPr i="1" lang="it" sz="1500">
                <a:solidFill>
                  <a:schemeClr val="dk1"/>
                </a:solidFill>
              </a:rPr>
              <a:t>N</a:t>
            </a:r>
            <a:r>
              <a:rPr lang="it" sz="1500">
                <a:solidFill>
                  <a:schemeClr val="dk1"/>
                </a:solidFill>
              </a:rPr>
              <a:t> x 3</a:t>
            </a:r>
            <a:r>
              <a:rPr i="1" lang="it" sz="1500">
                <a:solidFill>
                  <a:schemeClr val="dk1"/>
                </a:solidFill>
              </a:rPr>
              <a:t>N</a:t>
            </a:r>
            <a:r>
              <a:rPr lang="it" sz="1500">
                <a:solidFill>
                  <a:schemeClr val="dk1"/>
                </a:solidFill>
              </a:rPr>
              <a:t> matrix, which can be </a:t>
            </a:r>
            <a:r>
              <a:rPr b="1" lang="it" sz="1500">
                <a:solidFill>
                  <a:schemeClr val="dk1"/>
                </a:solidFill>
              </a:rPr>
              <a:t>diagonalized</a:t>
            </a:r>
            <a:r>
              <a:rPr lang="it" sz="1500">
                <a:solidFill>
                  <a:schemeClr val="dk1"/>
                </a:solidFill>
              </a:rPr>
              <a:t> with an orthonormal transformation matrix </a:t>
            </a:r>
            <a:r>
              <a:rPr i="1" lang="it" sz="1500">
                <a:solidFill>
                  <a:schemeClr val="dk1"/>
                </a:solidFill>
              </a:rPr>
              <a:t>R</a:t>
            </a:r>
            <a:r>
              <a:rPr lang="it" sz="1500">
                <a:solidFill>
                  <a:schemeClr val="dk1"/>
                </a:solidFill>
              </a:rPr>
              <a:t>:</a:t>
            </a:r>
            <a:endParaRPr sz="15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3"/>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Essential dynamics analysis</a:t>
            </a:r>
            <a:endParaRPr sz="2500">
              <a:latin typeface="Montserrat SemiBold"/>
              <a:ea typeface="Montserrat SemiBold"/>
              <a:cs typeface="Montserrat SemiBold"/>
              <a:sym typeface="Montserrat SemiBold"/>
            </a:endParaRPr>
          </a:p>
        </p:txBody>
      </p:sp>
      <p:sp>
        <p:nvSpPr>
          <p:cNvPr id="355" name="Google Shape;355;p33"/>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57" name="Google Shape;357;p33" title="cov_mat_eq4.png"/>
          <p:cNvPicPr preferRelativeResize="0"/>
          <p:nvPr/>
        </p:nvPicPr>
        <p:blipFill>
          <a:blip r:embed="rId3">
            <a:alphaModFix/>
          </a:blip>
          <a:stretch>
            <a:fillRect/>
          </a:stretch>
        </p:blipFill>
        <p:spPr>
          <a:xfrm>
            <a:off x="1777280" y="986700"/>
            <a:ext cx="6483410" cy="474875"/>
          </a:xfrm>
          <a:prstGeom prst="rect">
            <a:avLst/>
          </a:prstGeom>
          <a:noFill/>
          <a:ln>
            <a:noFill/>
          </a:ln>
        </p:spPr>
      </p:pic>
      <p:sp>
        <p:nvSpPr>
          <p:cNvPr id="358" name="Google Shape;358;p33"/>
          <p:cNvSpPr/>
          <p:nvPr/>
        </p:nvSpPr>
        <p:spPr>
          <a:xfrm rot="533377">
            <a:off x="1864261" y="1012425"/>
            <a:ext cx="236845" cy="325525"/>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59" name="Google Shape;359;p33"/>
          <p:cNvCxnSpPr/>
          <p:nvPr/>
        </p:nvCxnSpPr>
        <p:spPr>
          <a:xfrm flipH="1">
            <a:off x="1766221" y="1435104"/>
            <a:ext cx="168900" cy="463200"/>
          </a:xfrm>
          <a:prstGeom prst="straightConnector1">
            <a:avLst/>
          </a:prstGeom>
          <a:noFill/>
          <a:ln cap="flat" cmpd="sng" w="9525">
            <a:solidFill>
              <a:schemeClr val="dk1"/>
            </a:solidFill>
            <a:prstDash val="solid"/>
            <a:round/>
            <a:headEnd len="med" w="med" type="none"/>
            <a:tailEnd len="med" w="med" type="triangle"/>
          </a:ln>
        </p:spPr>
      </p:cxnSp>
      <p:sp>
        <p:nvSpPr>
          <p:cNvPr id="360" name="Google Shape;360;p33"/>
          <p:cNvSpPr txBox="1"/>
          <p:nvPr/>
        </p:nvSpPr>
        <p:spPr>
          <a:xfrm>
            <a:off x="478625" y="1831900"/>
            <a:ext cx="2744100" cy="1429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solidFill>
                  <a:srgbClr val="0000FF"/>
                </a:solidFill>
              </a:rPr>
              <a:t>Eigenvectors</a:t>
            </a:r>
            <a:r>
              <a:rPr lang="it" sz="1500">
                <a:solidFill>
                  <a:schemeClr val="dk1"/>
                </a:solidFill>
              </a:rPr>
              <a:t>: columns of </a:t>
            </a:r>
            <a:r>
              <a:rPr i="1" lang="it" sz="1500">
                <a:solidFill>
                  <a:schemeClr val="dk1"/>
                </a:solidFill>
              </a:rPr>
              <a:t>R</a:t>
            </a:r>
            <a:endParaRPr i="1" sz="1500">
              <a:solidFill>
                <a:schemeClr val="dk1"/>
              </a:solidFill>
            </a:endParaRPr>
          </a:p>
          <a:p>
            <a:pPr indent="0" lvl="0" marL="0" rtl="0" algn="just">
              <a:lnSpc>
                <a:spcPct val="115000"/>
              </a:lnSpc>
              <a:spcBef>
                <a:spcPts val="0"/>
              </a:spcBef>
              <a:spcAft>
                <a:spcPts val="0"/>
              </a:spcAft>
              <a:buNone/>
            </a:pPr>
            <a:r>
              <a:rPr lang="it" sz="1500">
                <a:solidFill>
                  <a:schemeClr val="dk1"/>
                </a:solidFill>
              </a:rPr>
              <a:t>directions along which the internal motion takes place;  also called principal/essential modes.</a:t>
            </a:r>
            <a:endParaRPr sz="1500">
              <a:solidFill>
                <a:schemeClr val="dk1"/>
              </a:solidFill>
            </a:endParaRPr>
          </a:p>
        </p:txBody>
      </p:sp>
      <p:sp>
        <p:nvSpPr>
          <p:cNvPr id="361" name="Google Shape;361;p33"/>
          <p:cNvSpPr/>
          <p:nvPr/>
        </p:nvSpPr>
        <p:spPr>
          <a:xfrm rot="533377">
            <a:off x="3881977" y="1012425"/>
            <a:ext cx="236845" cy="325525"/>
          </a:xfrm>
          <a:prstGeom prst="ellipse">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33"/>
          <p:cNvSpPr txBox="1"/>
          <p:nvPr/>
        </p:nvSpPr>
        <p:spPr>
          <a:xfrm>
            <a:off x="3535713" y="1831886"/>
            <a:ext cx="2622600" cy="96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solidFill>
                  <a:srgbClr val="188038"/>
                </a:solidFill>
              </a:rPr>
              <a:t>Eigenvalues</a:t>
            </a:r>
            <a:r>
              <a:rPr lang="it" sz="1500">
                <a:solidFill>
                  <a:schemeClr val="dk1"/>
                </a:solidFill>
              </a:rPr>
              <a:t>: </a:t>
            </a:r>
            <a:endParaRPr sz="1500">
              <a:solidFill>
                <a:schemeClr val="dk1"/>
              </a:solidFill>
            </a:endParaRPr>
          </a:p>
          <a:p>
            <a:pPr indent="0" lvl="0" marL="0" rtl="0" algn="just">
              <a:lnSpc>
                <a:spcPct val="115000"/>
              </a:lnSpc>
              <a:spcBef>
                <a:spcPts val="0"/>
              </a:spcBef>
              <a:spcAft>
                <a:spcPts val="0"/>
              </a:spcAft>
              <a:buNone/>
            </a:pPr>
            <a:r>
              <a:rPr lang="it" sz="1500">
                <a:solidFill>
                  <a:schemeClr val="dk1"/>
                </a:solidFill>
              </a:rPr>
              <a:t>mean square fluctuations of the principal components</a:t>
            </a:r>
            <a:endParaRPr sz="1500">
              <a:solidFill>
                <a:schemeClr val="dk1"/>
              </a:solidFill>
            </a:endParaRPr>
          </a:p>
        </p:txBody>
      </p:sp>
      <p:cxnSp>
        <p:nvCxnSpPr>
          <p:cNvPr id="363" name="Google Shape;363;p33"/>
          <p:cNvCxnSpPr/>
          <p:nvPr/>
        </p:nvCxnSpPr>
        <p:spPr>
          <a:xfrm flipH="1">
            <a:off x="5876914" y="1397213"/>
            <a:ext cx="2220900" cy="1800"/>
          </a:xfrm>
          <a:prstGeom prst="straightConnector1">
            <a:avLst/>
          </a:prstGeom>
          <a:noFill/>
          <a:ln cap="flat" cmpd="sng" w="9525">
            <a:solidFill>
              <a:srgbClr val="188038"/>
            </a:solidFill>
            <a:prstDash val="solid"/>
            <a:round/>
            <a:headEnd len="med" w="med" type="none"/>
            <a:tailEnd len="med" w="med" type="none"/>
          </a:ln>
        </p:spPr>
      </p:cxnSp>
      <p:cxnSp>
        <p:nvCxnSpPr>
          <p:cNvPr id="364" name="Google Shape;364;p33"/>
          <p:cNvCxnSpPr/>
          <p:nvPr/>
        </p:nvCxnSpPr>
        <p:spPr>
          <a:xfrm>
            <a:off x="4059271" y="1435104"/>
            <a:ext cx="219600" cy="441000"/>
          </a:xfrm>
          <a:prstGeom prst="straightConnector1">
            <a:avLst/>
          </a:prstGeom>
          <a:noFill/>
          <a:ln cap="flat" cmpd="sng" w="9525">
            <a:solidFill>
              <a:schemeClr val="dk1"/>
            </a:solidFill>
            <a:prstDash val="solid"/>
            <a:round/>
            <a:headEnd len="med" w="med" type="none"/>
            <a:tailEnd len="med" w="med" type="triangle"/>
          </a:ln>
        </p:spPr>
      </p:cxnSp>
      <p:sp>
        <p:nvSpPr>
          <p:cNvPr id="365" name="Google Shape;365;p33"/>
          <p:cNvSpPr txBox="1"/>
          <p:nvPr/>
        </p:nvSpPr>
        <p:spPr>
          <a:xfrm>
            <a:off x="203275" y="3738725"/>
            <a:ext cx="8779800" cy="7749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Clr>
                <a:schemeClr val="dk1"/>
              </a:buClr>
              <a:buSzPts val="1500"/>
              <a:buChar char="●"/>
            </a:pPr>
            <a:r>
              <a:rPr lang="it" sz="1500">
                <a:solidFill>
                  <a:schemeClr val="dk1"/>
                </a:solidFill>
              </a:rPr>
              <a:t>The first few principal modes often describe the relevant motion of the system (not a rule)</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The trajectory can be projected on the principal modes to give the </a:t>
            </a:r>
            <a:r>
              <a:rPr b="1" lang="it" sz="1500">
                <a:solidFill>
                  <a:schemeClr val="dk1"/>
                </a:solidFill>
              </a:rPr>
              <a:t>principal components</a:t>
            </a:r>
            <a:r>
              <a:rPr lang="it" sz="1500">
                <a:solidFill>
                  <a:schemeClr val="dk1"/>
                </a:solidFill>
              </a:rPr>
              <a:t> (</a:t>
            </a:r>
            <a:r>
              <a:rPr i="1" lang="it" sz="1500">
                <a:solidFill>
                  <a:schemeClr val="dk1"/>
                </a:solidFill>
              </a:rPr>
              <a:t>p</a:t>
            </a:r>
            <a:r>
              <a:rPr baseline="-25000" i="1" lang="it" sz="1500">
                <a:solidFill>
                  <a:schemeClr val="dk1"/>
                </a:solidFill>
              </a:rPr>
              <a:t>i</a:t>
            </a:r>
            <a:r>
              <a:rPr lang="it" sz="1500">
                <a:solidFill>
                  <a:schemeClr val="dk1"/>
                </a:solidFill>
              </a:rPr>
              <a:t>(</a:t>
            </a:r>
            <a:r>
              <a:rPr i="1" lang="it" sz="1500">
                <a:solidFill>
                  <a:schemeClr val="dk1"/>
                </a:solidFill>
              </a:rPr>
              <a:t>t</a:t>
            </a:r>
            <a:r>
              <a:rPr lang="it" sz="1500">
                <a:solidFill>
                  <a:schemeClr val="dk1"/>
                </a:solidFill>
              </a:rPr>
              <a:t>))</a:t>
            </a:r>
            <a:endParaRPr sz="15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4"/>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Essential dynamics analysis</a:t>
            </a:r>
            <a:endParaRPr sz="2500">
              <a:latin typeface="Montserrat SemiBold"/>
              <a:ea typeface="Montserrat SemiBold"/>
              <a:cs typeface="Montserrat SemiBold"/>
              <a:sym typeface="Montserrat SemiBold"/>
            </a:endParaRPr>
          </a:p>
        </p:txBody>
      </p:sp>
      <p:sp>
        <p:nvSpPr>
          <p:cNvPr id="371" name="Google Shape;371;p3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73" name="Google Shape;373;p34"/>
          <p:cNvSpPr txBox="1"/>
          <p:nvPr/>
        </p:nvSpPr>
        <p:spPr>
          <a:xfrm>
            <a:off x="887700" y="894925"/>
            <a:ext cx="7368600" cy="456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600">
                <a:solidFill>
                  <a:schemeClr val="dk1"/>
                </a:solidFill>
              </a:rPr>
              <a:t>The first few principal modes often describe the relevant motion of the system</a:t>
            </a:r>
            <a:endParaRPr sz="1600">
              <a:solidFill>
                <a:schemeClr val="dk1"/>
              </a:solidFill>
            </a:endParaRPr>
          </a:p>
        </p:txBody>
      </p:sp>
      <p:pic>
        <p:nvPicPr>
          <p:cNvPr id="374" name="Google Shape;374;p34" title="beta-h.jpg"/>
          <p:cNvPicPr preferRelativeResize="0"/>
          <p:nvPr/>
        </p:nvPicPr>
        <p:blipFill rotWithShape="1">
          <a:blip r:embed="rId3">
            <a:alphaModFix/>
          </a:blip>
          <a:srcRect b="32027" l="10588" r="8897" t="29691"/>
          <a:stretch/>
        </p:blipFill>
        <p:spPr>
          <a:xfrm>
            <a:off x="682113" y="1469733"/>
            <a:ext cx="2671329" cy="1270211"/>
          </a:xfrm>
          <a:prstGeom prst="rect">
            <a:avLst/>
          </a:prstGeom>
          <a:noFill/>
          <a:ln>
            <a:noFill/>
          </a:ln>
        </p:spPr>
      </p:pic>
      <p:sp>
        <p:nvSpPr>
          <p:cNvPr id="375" name="Google Shape;375;p34"/>
          <p:cNvSpPr txBox="1"/>
          <p:nvPr/>
        </p:nvSpPr>
        <p:spPr>
          <a:xfrm>
            <a:off x="199780" y="2739946"/>
            <a:ext cx="3636000" cy="997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solidFill>
                  <a:schemeClr val="dk1"/>
                </a:solidFill>
              </a:rPr>
              <a:t>Exercise of this afternoon</a:t>
            </a:r>
            <a:r>
              <a:rPr lang="it" sz="1500">
                <a:solidFill>
                  <a:schemeClr val="dk1"/>
                </a:solidFill>
              </a:rPr>
              <a:t>: </a:t>
            </a:r>
            <a:endParaRPr sz="1500">
              <a:solidFill>
                <a:schemeClr val="dk1"/>
              </a:solidFill>
            </a:endParaRPr>
          </a:p>
          <a:p>
            <a:pPr indent="0" lvl="0" marL="0" rtl="0" algn="ctr">
              <a:lnSpc>
                <a:spcPct val="115000"/>
              </a:lnSpc>
              <a:spcBef>
                <a:spcPts val="0"/>
              </a:spcBef>
              <a:spcAft>
                <a:spcPts val="0"/>
              </a:spcAft>
              <a:buNone/>
            </a:pPr>
            <a:r>
              <a:rPr lang="it" sz="1500">
                <a:solidFill>
                  <a:schemeClr val="dk1"/>
                </a:solidFill>
              </a:rPr>
              <a:t>Exploring the conformational landscape of GAG</a:t>
            </a:r>
            <a:r>
              <a:rPr baseline="30000" lang="it" sz="1500">
                <a:solidFill>
                  <a:schemeClr val="dk1"/>
                </a:solidFill>
              </a:rPr>
              <a:t>+</a:t>
            </a:r>
            <a:r>
              <a:rPr lang="it" sz="1500">
                <a:solidFill>
                  <a:schemeClr val="dk1"/>
                </a:solidFill>
              </a:rPr>
              <a:t> in H</a:t>
            </a:r>
            <a:r>
              <a:rPr baseline="-25000" lang="it" sz="1500">
                <a:solidFill>
                  <a:schemeClr val="dk1"/>
                </a:solidFill>
              </a:rPr>
              <a:t>2</a:t>
            </a:r>
            <a:r>
              <a:rPr lang="it" sz="1500">
                <a:solidFill>
                  <a:schemeClr val="dk1"/>
                </a:solidFill>
              </a:rPr>
              <a:t>O at T = 30 °C</a:t>
            </a:r>
            <a:endParaRPr sz="1500">
              <a:solidFill>
                <a:schemeClr val="dk1"/>
              </a:solidFill>
            </a:endParaRPr>
          </a:p>
        </p:txBody>
      </p:sp>
      <p:pic>
        <p:nvPicPr>
          <p:cNvPr id="376" name="Google Shape;376;p34" title="eigenval.png"/>
          <p:cNvPicPr preferRelativeResize="0"/>
          <p:nvPr/>
        </p:nvPicPr>
        <p:blipFill>
          <a:blip r:embed="rId4">
            <a:alphaModFix/>
          </a:blip>
          <a:stretch>
            <a:fillRect/>
          </a:stretch>
        </p:blipFill>
        <p:spPr>
          <a:xfrm>
            <a:off x="4183805" y="1670021"/>
            <a:ext cx="4760428" cy="2975267"/>
          </a:xfrm>
          <a:prstGeom prst="rect">
            <a:avLst/>
          </a:prstGeom>
          <a:noFill/>
          <a:ln cap="flat" cmpd="sng" w="9525">
            <a:solidFill>
              <a:schemeClr val="dk2"/>
            </a:solidFill>
            <a:prstDash val="solid"/>
            <a:round/>
            <a:headEnd len="sm" w="sm" type="none"/>
            <a:tailEnd len="sm" w="sm" type="none"/>
          </a:ln>
        </p:spPr>
      </p:pic>
      <p:cxnSp>
        <p:nvCxnSpPr>
          <p:cNvPr id="377" name="Google Shape;377;p34"/>
          <p:cNvCxnSpPr/>
          <p:nvPr/>
        </p:nvCxnSpPr>
        <p:spPr>
          <a:xfrm>
            <a:off x="1513999" y="3307171"/>
            <a:ext cx="2178000" cy="12900"/>
          </a:xfrm>
          <a:prstGeom prst="straightConnector1">
            <a:avLst/>
          </a:prstGeom>
          <a:noFill/>
          <a:ln cap="flat" cmpd="sng" w="9525">
            <a:solidFill>
              <a:srgbClr val="188038"/>
            </a:solidFill>
            <a:prstDash val="solid"/>
            <a:round/>
            <a:headEnd len="med" w="med" type="none"/>
            <a:tailEnd len="med" w="med" type="none"/>
          </a:ln>
        </p:spPr>
      </p:cxnSp>
      <p:sp>
        <p:nvSpPr>
          <p:cNvPr id="378" name="Google Shape;378;p34"/>
          <p:cNvSpPr txBox="1"/>
          <p:nvPr/>
        </p:nvSpPr>
        <p:spPr>
          <a:xfrm>
            <a:off x="304475" y="3798096"/>
            <a:ext cx="3426600" cy="847200"/>
          </a:xfrm>
          <a:prstGeom prst="rect">
            <a:avLst/>
          </a:prstGeom>
          <a:noFill/>
          <a:ln cap="flat" cmpd="sng" w="9525">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a:solidFill>
                  <a:schemeClr val="dk1"/>
                </a:solidFill>
              </a:rPr>
              <a:t>We focus on the backbone for the ED analysis since it defines the secondary structure (= conformations)</a:t>
            </a:r>
            <a:endParaRPr>
              <a:solidFill>
                <a:schemeClr val="dk1"/>
              </a:solidFill>
            </a:endParaRPr>
          </a:p>
        </p:txBody>
      </p:sp>
      <p:sp>
        <p:nvSpPr>
          <p:cNvPr id="379" name="Google Shape;379;p34"/>
          <p:cNvSpPr/>
          <p:nvPr/>
        </p:nvSpPr>
        <p:spPr>
          <a:xfrm>
            <a:off x="4951225" y="1964961"/>
            <a:ext cx="167400" cy="167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4"/>
          <p:cNvSpPr/>
          <p:nvPr/>
        </p:nvSpPr>
        <p:spPr>
          <a:xfrm>
            <a:off x="5088263" y="3592780"/>
            <a:ext cx="167400" cy="167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5"/>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Essential dynamics analysis</a:t>
            </a:r>
            <a:endParaRPr sz="2500">
              <a:latin typeface="Montserrat SemiBold"/>
              <a:ea typeface="Montserrat SemiBold"/>
              <a:cs typeface="Montserrat SemiBold"/>
              <a:sym typeface="Montserrat SemiBold"/>
            </a:endParaRPr>
          </a:p>
        </p:txBody>
      </p:sp>
      <p:sp>
        <p:nvSpPr>
          <p:cNvPr id="386" name="Google Shape;386;p3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88" name="Google Shape;388;p35"/>
          <p:cNvSpPr txBox="1"/>
          <p:nvPr/>
        </p:nvSpPr>
        <p:spPr>
          <a:xfrm>
            <a:off x="432150" y="958225"/>
            <a:ext cx="8279700" cy="393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550">
                <a:solidFill>
                  <a:schemeClr val="dk1"/>
                </a:solidFill>
              </a:rPr>
              <a:t>The trajectory can be projected on the principal modes to give the </a:t>
            </a:r>
            <a:r>
              <a:rPr b="1" lang="it" sz="1550">
                <a:solidFill>
                  <a:schemeClr val="dk1"/>
                </a:solidFill>
              </a:rPr>
              <a:t>principal components</a:t>
            </a:r>
            <a:endParaRPr sz="1550">
              <a:solidFill>
                <a:schemeClr val="dk1"/>
              </a:solidFill>
            </a:endParaRPr>
          </a:p>
        </p:txBody>
      </p:sp>
      <p:pic>
        <p:nvPicPr>
          <p:cNvPr id="389" name="Google Shape;389;p35" title="proj_eq3.png"/>
          <p:cNvPicPr preferRelativeResize="0"/>
          <p:nvPr/>
        </p:nvPicPr>
        <p:blipFill rotWithShape="1">
          <a:blip r:embed="rId3">
            <a:alphaModFix/>
          </a:blip>
          <a:srcRect b="51473" l="0" r="0" t="0"/>
          <a:stretch/>
        </p:blipFill>
        <p:spPr>
          <a:xfrm>
            <a:off x="3415625" y="1590900"/>
            <a:ext cx="2312751" cy="393600"/>
          </a:xfrm>
          <a:prstGeom prst="rect">
            <a:avLst/>
          </a:prstGeom>
          <a:noFill/>
          <a:ln>
            <a:noFill/>
          </a:ln>
        </p:spPr>
      </p:pic>
      <p:pic>
        <p:nvPicPr>
          <p:cNvPr id="390" name="Google Shape;390;p35" title="proj_eq3.png"/>
          <p:cNvPicPr preferRelativeResize="0"/>
          <p:nvPr/>
        </p:nvPicPr>
        <p:blipFill rotWithShape="1">
          <a:blip r:embed="rId3">
            <a:alphaModFix/>
          </a:blip>
          <a:srcRect b="0" l="0" r="0" t="51473"/>
          <a:stretch/>
        </p:blipFill>
        <p:spPr>
          <a:xfrm>
            <a:off x="3436925" y="2856250"/>
            <a:ext cx="2312751" cy="393600"/>
          </a:xfrm>
          <a:prstGeom prst="rect">
            <a:avLst/>
          </a:prstGeom>
          <a:noFill/>
          <a:ln>
            <a:noFill/>
          </a:ln>
        </p:spPr>
      </p:pic>
      <p:sp>
        <p:nvSpPr>
          <p:cNvPr id="391" name="Google Shape;391;p35"/>
          <p:cNvSpPr txBox="1"/>
          <p:nvPr/>
        </p:nvSpPr>
        <p:spPr>
          <a:xfrm>
            <a:off x="155700" y="2223563"/>
            <a:ext cx="88326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1550">
                <a:solidFill>
                  <a:schemeClr val="dk1"/>
                </a:solidFill>
              </a:rPr>
              <a:t>Since the first two principal components capture most of the variance, we retain only PC1 and PC2:</a:t>
            </a:r>
            <a:endParaRPr sz="1550">
              <a:solidFill>
                <a:schemeClr val="dk1"/>
              </a:solidFill>
            </a:endParaRPr>
          </a:p>
        </p:txBody>
      </p:sp>
      <p:sp>
        <p:nvSpPr>
          <p:cNvPr id="392" name="Google Shape;392;p35"/>
          <p:cNvSpPr txBox="1"/>
          <p:nvPr/>
        </p:nvSpPr>
        <p:spPr>
          <a:xfrm>
            <a:off x="371850" y="3488925"/>
            <a:ext cx="8400300" cy="443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550">
                <a:solidFill>
                  <a:schemeClr val="dk1"/>
                </a:solidFill>
              </a:rPr>
              <a:t>Each MD frame is therefore represented by one point in a 2D conformational space: 3N → 2</a:t>
            </a:r>
            <a:endParaRPr sz="155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6"/>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Step 5: Essential dynamics analysis</a:t>
            </a:r>
            <a:endParaRPr sz="2500">
              <a:latin typeface="Montserrat SemiBold"/>
              <a:ea typeface="Montserrat SemiBold"/>
              <a:cs typeface="Montserrat SemiBold"/>
              <a:sym typeface="Montserrat SemiBold"/>
            </a:endParaRPr>
          </a:p>
        </p:txBody>
      </p:sp>
      <p:sp>
        <p:nvSpPr>
          <p:cNvPr id="398" name="Google Shape;398;p3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00" name="Google Shape;400;p36"/>
          <p:cNvSpPr txBox="1"/>
          <p:nvPr/>
        </p:nvSpPr>
        <p:spPr>
          <a:xfrm>
            <a:off x="222398" y="1050466"/>
            <a:ext cx="4314000" cy="7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1550">
                <a:solidFill>
                  <a:schemeClr val="dk1"/>
                </a:solidFill>
              </a:rPr>
              <a:t>We build a 2D histogram from the pairs of PC1 and PC2 values sampled along the trajectory.</a:t>
            </a:r>
            <a:endParaRPr sz="1550">
              <a:solidFill>
                <a:schemeClr val="dk1"/>
              </a:solidFill>
            </a:endParaRPr>
          </a:p>
        </p:txBody>
      </p:sp>
      <p:pic>
        <p:nvPicPr>
          <p:cNvPr id="401" name="Google Shape;401;p36" title="2dhi.png"/>
          <p:cNvPicPr preferRelativeResize="0"/>
          <p:nvPr/>
        </p:nvPicPr>
        <p:blipFill rotWithShape="1">
          <a:blip r:embed="rId3">
            <a:alphaModFix/>
          </a:blip>
          <a:srcRect b="0" l="0" r="6734" t="5776"/>
          <a:stretch/>
        </p:blipFill>
        <p:spPr>
          <a:xfrm>
            <a:off x="4819975" y="1258829"/>
            <a:ext cx="4171402" cy="3160700"/>
          </a:xfrm>
          <a:prstGeom prst="rect">
            <a:avLst/>
          </a:prstGeom>
          <a:noFill/>
          <a:ln cap="flat" cmpd="sng" w="9525">
            <a:solidFill>
              <a:schemeClr val="dk2"/>
            </a:solidFill>
            <a:prstDash val="solid"/>
            <a:round/>
            <a:headEnd len="sm" w="sm" type="none"/>
            <a:tailEnd len="sm" w="sm" type="none"/>
          </a:ln>
        </p:spPr>
      </p:pic>
      <p:sp>
        <p:nvSpPr>
          <p:cNvPr id="402" name="Google Shape;402;p36"/>
          <p:cNvSpPr txBox="1"/>
          <p:nvPr/>
        </p:nvSpPr>
        <p:spPr>
          <a:xfrm>
            <a:off x="222403" y="1974131"/>
            <a:ext cx="4314000" cy="761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50">
                <a:solidFill>
                  <a:schemeClr val="dk1"/>
                </a:solidFill>
              </a:rPr>
              <a:t>For each square/bin </a:t>
            </a:r>
            <a:r>
              <a:rPr i="1" lang="it" sz="1550">
                <a:solidFill>
                  <a:schemeClr val="dk1"/>
                </a:solidFill>
              </a:rPr>
              <a:t>i</a:t>
            </a:r>
            <a:r>
              <a:rPr lang="it" sz="1550">
                <a:solidFill>
                  <a:schemeClr val="dk1"/>
                </a:solidFill>
              </a:rPr>
              <a:t>, we count how many PC pairs fall inside it → </a:t>
            </a:r>
            <a:r>
              <a:rPr i="1" lang="it" sz="1550">
                <a:solidFill>
                  <a:schemeClr val="dk1"/>
                </a:solidFill>
              </a:rPr>
              <a:t>N</a:t>
            </a:r>
            <a:r>
              <a:rPr baseline="-25000" i="1" lang="it" sz="1550">
                <a:solidFill>
                  <a:schemeClr val="dk1"/>
                </a:solidFill>
              </a:rPr>
              <a:t>i</a:t>
            </a:r>
            <a:endParaRPr baseline="-25000" i="1" sz="1550">
              <a:solidFill>
                <a:schemeClr val="dk1"/>
              </a:solidFill>
            </a:endParaRPr>
          </a:p>
        </p:txBody>
      </p:sp>
      <p:pic>
        <p:nvPicPr>
          <p:cNvPr id="403" name="Google Shape;403;p36" title="prob_eq.png"/>
          <p:cNvPicPr preferRelativeResize="0"/>
          <p:nvPr/>
        </p:nvPicPr>
        <p:blipFill rotWithShape="1">
          <a:blip r:embed="rId4">
            <a:alphaModFix/>
          </a:blip>
          <a:srcRect b="23869" l="3937" r="43007" t="23580"/>
          <a:stretch/>
        </p:blipFill>
        <p:spPr>
          <a:xfrm>
            <a:off x="1295911" y="2897770"/>
            <a:ext cx="2166973" cy="665475"/>
          </a:xfrm>
          <a:prstGeom prst="rect">
            <a:avLst/>
          </a:prstGeom>
          <a:noFill/>
          <a:ln>
            <a:noFill/>
          </a:ln>
        </p:spPr>
      </p:pic>
      <p:sp>
        <p:nvSpPr>
          <p:cNvPr id="404" name="Google Shape;404;p36"/>
          <p:cNvSpPr txBox="1"/>
          <p:nvPr/>
        </p:nvSpPr>
        <p:spPr>
          <a:xfrm>
            <a:off x="222400" y="3789934"/>
            <a:ext cx="4433400" cy="873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50">
                <a:solidFill>
                  <a:schemeClr val="dk1"/>
                </a:solidFill>
              </a:rPr>
              <a:t>The most populated regions correspond to </a:t>
            </a:r>
            <a:r>
              <a:rPr b="1" lang="it" sz="1550">
                <a:solidFill>
                  <a:schemeClr val="dk1"/>
                </a:solidFill>
              </a:rPr>
              <a:t>free-energy minima</a:t>
            </a:r>
            <a:r>
              <a:rPr lang="it" sz="1550">
                <a:solidFill>
                  <a:schemeClr val="dk1"/>
                </a:solidFill>
              </a:rPr>
              <a:t> and identify the </a:t>
            </a:r>
            <a:r>
              <a:rPr b="1" lang="it" sz="1550">
                <a:solidFill>
                  <a:schemeClr val="dk1"/>
                </a:solidFill>
              </a:rPr>
              <a:t>preferred conformational states</a:t>
            </a:r>
            <a:r>
              <a:rPr lang="it" sz="1550">
                <a:solidFill>
                  <a:schemeClr val="dk1"/>
                </a:solidFill>
              </a:rPr>
              <a:t> of the system.</a:t>
            </a:r>
            <a:endParaRPr baseline="-25000" i="1" sz="155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7"/>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Conclusions</a:t>
            </a:r>
            <a:endParaRPr sz="2500">
              <a:latin typeface="Montserrat SemiBold"/>
              <a:ea typeface="Montserrat SemiBold"/>
              <a:cs typeface="Montserrat SemiBold"/>
              <a:sym typeface="Montserrat SemiBold"/>
            </a:endParaRPr>
          </a:p>
        </p:txBody>
      </p:sp>
      <p:sp>
        <p:nvSpPr>
          <p:cNvPr id="410" name="Google Shape;410;p3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12" name="Google Shape;412;p37"/>
          <p:cNvSpPr txBox="1"/>
          <p:nvPr/>
        </p:nvSpPr>
        <p:spPr>
          <a:xfrm>
            <a:off x="102150" y="960950"/>
            <a:ext cx="8919000" cy="2223000"/>
          </a:xfrm>
          <a:prstGeom prst="rect">
            <a:avLst/>
          </a:prstGeom>
          <a:noFill/>
          <a:ln>
            <a:noFill/>
          </a:ln>
        </p:spPr>
        <p:txBody>
          <a:bodyPr anchorCtr="0" anchor="t" bIns="91425" lIns="91425" spcFirstLastPara="1" rIns="91425" wrap="square" tIns="91425">
            <a:noAutofit/>
          </a:bodyPr>
          <a:lstStyle/>
          <a:p>
            <a:pPr indent="-323850" lvl="0" marL="457200" rtl="0" algn="l">
              <a:lnSpc>
                <a:spcPct val="120000"/>
              </a:lnSpc>
              <a:spcBef>
                <a:spcPts val="0"/>
              </a:spcBef>
              <a:spcAft>
                <a:spcPts val="0"/>
              </a:spcAft>
              <a:buClr>
                <a:schemeClr val="dk1"/>
              </a:buClr>
              <a:buSzPts val="1500"/>
              <a:buChar char="●"/>
            </a:pPr>
            <a:r>
              <a:rPr lang="it" sz="1500">
                <a:solidFill>
                  <a:schemeClr val="dk1"/>
                </a:solidFill>
              </a:rPr>
              <a:t>Classical MD provides an atomistic picture of molecular motion over time</a:t>
            </a:r>
            <a:endParaRPr sz="1500">
              <a:solidFill>
                <a:schemeClr val="dk1"/>
              </a:solidFill>
            </a:endParaRPr>
          </a:p>
          <a:p>
            <a:pPr indent="-323850" lvl="0" marL="457200" rtl="0" algn="l">
              <a:lnSpc>
                <a:spcPct val="120000"/>
              </a:lnSpc>
              <a:spcBef>
                <a:spcPts val="0"/>
              </a:spcBef>
              <a:spcAft>
                <a:spcPts val="0"/>
              </a:spcAft>
              <a:buClr>
                <a:schemeClr val="dk1"/>
              </a:buClr>
              <a:buSzPts val="1500"/>
              <a:buChar char="●"/>
            </a:pPr>
            <a:r>
              <a:rPr lang="it" sz="1500">
                <a:solidFill>
                  <a:schemeClr val="dk1"/>
                </a:solidFill>
              </a:rPr>
              <a:t>A reliable simulation requires careful system preparation, energy minimization and equilibration</a:t>
            </a:r>
            <a:endParaRPr sz="1500">
              <a:solidFill>
                <a:schemeClr val="dk1"/>
              </a:solidFill>
            </a:endParaRPr>
          </a:p>
          <a:p>
            <a:pPr indent="-323850" lvl="0" marL="457200" rtl="0" algn="l">
              <a:lnSpc>
                <a:spcPct val="120000"/>
              </a:lnSpc>
              <a:spcBef>
                <a:spcPts val="0"/>
              </a:spcBef>
              <a:spcAft>
                <a:spcPts val="0"/>
              </a:spcAft>
              <a:buClr>
                <a:schemeClr val="dk1"/>
              </a:buClr>
              <a:buSzPts val="1500"/>
              <a:buChar char="●"/>
            </a:pPr>
            <a:r>
              <a:rPr lang="it" sz="1500">
                <a:solidFill>
                  <a:schemeClr val="dk1"/>
                </a:solidFill>
              </a:rPr>
              <a:t>The production trajectory can be analyzed to characterize structure, flexibility and solute–solvent interactions</a:t>
            </a:r>
            <a:endParaRPr sz="1500">
              <a:solidFill>
                <a:schemeClr val="dk1"/>
              </a:solidFill>
            </a:endParaRPr>
          </a:p>
          <a:p>
            <a:pPr indent="-323850" lvl="0" marL="457200" rtl="0" algn="l">
              <a:lnSpc>
                <a:spcPct val="120000"/>
              </a:lnSpc>
              <a:spcBef>
                <a:spcPts val="0"/>
              </a:spcBef>
              <a:spcAft>
                <a:spcPts val="0"/>
              </a:spcAft>
              <a:buClr>
                <a:schemeClr val="dk1"/>
              </a:buClr>
              <a:buSzPts val="1500"/>
              <a:buChar char="●"/>
            </a:pPr>
            <a:r>
              <a:rPr lang="it" sz="1500">
                <a:solidFill>
                  <a:schemeClr val="dk1"/>
                </a:solidFill>
              </a:rPr>
              <a:t>Essential Dynamics (PCA) reduces the dimensionality of the trajectory and identifies the dominant collective motions</a:t>
            </a:r>
            <a:endParaRPr sz="1500">
              <a:solidFill>
                <a:schemeClr val="dk1"/>
              </a:solidFill>
            </a:endParaRPr>
          </a:p>
          <a:p>
            <a:pPr indent="-323850" lvl="0" marL="457200" rtl="0" algn="l">
              <a:lnSpc>
                <a:spcPct val="120000"/>
              </a:lnSpc>
              <a:spcBef>
                <a:spcPts val="0"/>
              </a:spcBef>
              <a:spcAft>
                <a:spcPts val="0"/>
              </a:spcAft>
              <a:buClr>
                <a:schemeClr val="dk1"/>
              </a:buClr>
              <a:buSzPts val="1500"/>
              <a:buChar char="●"/>
            </a:pPr>
            <a:r>
              <a:rPr lang="it" sz="1500">
                <a:solidFill>
                  <a:schemeClr val="dk1"/>
                </a:solidFill>
              </a:rPr>
              <a:t>These approaches work when the relevant states and transitions are sufficiently sampled during the MD simulation</a:t>
            </a:r>
            <a:endParaRPr sz="1500">
              <a:solidFill>
                <a:schemeClr val="dk1"/>
              </a:solidFill>
            </a:endParaRPr>
          </a:p>
        </p:txBody>
      </p:sp>
      <p:sp>
        <p:nvSpPr>
          <p:cNvPr id="413" name="Google Shape;413;p37"/>
          <p:cNvSpPr txBox="1"/>
          <p:nvPr/>
        </p:nvSpPr>
        <p:spPr>
          <a:xfrm>
            <a:off x="2006100" y="3696350"/>
            <a:ext cx="5131800" cy="7143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600"/>
              <a:t>But what if the </a:t>
            </a:r>
            <a:r>
              <a:rPr b="1" lang="it" sz="1600"/>
              <a:t>transition</a:t>
            </a:r>
            <a:r>
              <a:rPr lang="it" sz="1600"/>
              <a:t> between two states occurs on a </a:t>
            </a:r>
            <a:r>
              <a:rPr b="1" lang="it" sz="1600"/>
              <a:t>timescale much longer</a:t>
            </a:r>
            <a:r>
              <a:rPr lang="it" sz="1600"/>
              <a:t> than our MD simulation?</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