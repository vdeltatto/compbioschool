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Montserrat SemiBold"/>
      <p:regular r:id="rId22"/>
      <p:bold r:id="rId23"/>
      <p:italic r:id="rId24"/>
      <p:boldItalic r:id="rId25"/>
    </p:embeddedFont>
    <p:embeddedFont>
      <p:font typeface="Montserrat Medium"/>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44">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44"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SemiBold-regular.fntdata"/><Relationship Id="rId21" Type="http://schemas.openxmlformats.org/officeDocument/2006/relationships/slide" Target="slides/slide16.xml"/><Relationship Id="rId24" Type="http://schemas.openxmlformats.org/officeDocument/2006/relationships/font" Target="fonts/MontserratSemiBold-italic.fntdata"/><Relationship Id="rId23" Type="http://schemas.openxmlformats.org/officeDocument/2006/relationships/font" Target="fonts/Montserrat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Medium-regular.fntdata"/><Relationship Id="rId25" Type="http://schemas.openxmlformats.org/officeDocument/2006/relationships/font" Target="fonts/MontserratSemiBold-boldItalic.fntdata"/><Relationship Id="rId28" Type="http://schemas.openxmlformats.org/officeDocument/2006/relationships/font" Target="fonts/MontserratMedium-italic.fntdata"/><Relationship Id="rId27" Type="http://schemas.openxmlformats.org/officeDocument/2006/relationships/font" Target="fonts/Montserrat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Medium-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404838b0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404838b0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a49f2f1e9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a49f2f1e9_2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a49f2f1e9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a49f2f1e9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a49f2f1e9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a49f2f1e9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it"/>
              <a:t>Explanation of the parameters.</a:t>
            </a:r>
            <a:endParaRPr/>
          </a:p>
          <a:p>
            <a:pPr indent="-298450" lvl="0" marL="457200" rtl="0" algn="l">
              <a:spcBef>
                <a:spcPts val="0"/>
              </a:spcBef>
              <a:spcAft>
                <a:spcPts val="0"/>
              </a:spcAft>
              <a:buSzPts val="1100"/>
              <a:buChar char="-"/>
            </a:pPr>
            <a:r>
              <a:rPr lang="it"/>
              <a:t>Conclusion: this is probably the most standard model for biomolecular simulations because it provides a good compromise between cost and accuracy: TIP3P famously overestimates water mobility (diffusion coefficient is too high), which speeds up sampling but deviates from real-world dynamics.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a49f2f1e9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a49f2f1e9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dk1"/>
                </a:solidFill>
              </a:rPr>
              <a:t>There are more accurate models (but they may be more expensive) that provide higher accuracy for physical properties like density, diffusion, and electrostatic behavior.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it"/>
              <a:t>TIP4P improves the representation of water electrostatics by placing the negative charge on a virtual site rather than directly on the oxygen atom.</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The water model should also be chosen together with the biomolecular force field, since their parameters are designed and validated as a combination.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a49f2f1e9_2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a49f2f1e9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Water is not just a background solvent. It is part of the molecular environment that determines how biomolecules behave.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b9738fe2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b9738fe2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Secondary structure = Ramachandran plots for example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8b9738fe2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8b9738fe2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Secondary structure = Ramachandran plots for example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a7fe0e3e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a7fe0e3e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a7fe0e3e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a7fe0e3e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Secondary structure = Ramachandran plots for example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8b9738fe2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8b9738fe2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b9738fe2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b9738fe2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a7fe0e3e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fa7fe0e3e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Random coil does not actually mean random. Even very short unfolded peptides have preferred regions of conformational space, and understanding these intrinsic preferences helps us understand what conformations are available before a protein folds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a7fe0e3e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a7fe0e3e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a81a01e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a81a01e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Clr>
                <a:schemeClr val="dk1"/>
              </a:buClr>
              <a:buSzPts val="1100"/>
              <a:buFont typeface="Arial"/>
              <a:buNone/>
            </a:pPr>
            <a:r>
              <a:rPr lang="it">
                <a:solidFill>
                  <a:schemeClr val="dk1"/>
                </a:solidFill>
              </a:rPr>
              <a:t>So far, we have focused on GAG⁺, which is deliberately a very small system. But of course molecular dynamics is not limited to systems of this size.</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it">
                <a:solidFill>
                  <a:schemeClr val="dk1"/>
                </a:solidFill>
              </a:rPr>
              <a:t>With modern GPUs and high-performance computing resources, we can now simulate much larger solvated systems, from complete proteins and membrane proteins to large biomolecular assemblies, and follow their dynamics for hundreds of nanoseconds or even microseconds.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it">
                <a:solidFill>
                  <a:schemeClr val="dk1"/>
                </a:solidFill>
              </a:rPr>
              <a:t>One example is shown here. These structures are assemblies formed by the short amyloid-β 16–22 peptide. Even though the individual peptide is very small, many copies can self-assemble into much larger β-sheet-rich structures. Molecular dynamics can then be used to investigate how these structures assemble, how stable they are, and importantly for this lecture, </a:t>
            </a:r>
            <a:r>
              <a:rPr b="1" lang="it">
                <a:solidFill>
                  <a:schemeClr val="dk1"/>
                </a:solidFill>
              </a:rPr>
              <a:t>how water behaves at and between the peptide interfaces</a:t>
            </a:r>
            <a:r>
              <a:rPr lang="it">
                <a:solidFill>
                  <a:schemeClr val="dk1"/>
                </a:solidFill>
              </a:rPr>
              <a:t>.</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it">
                <a:solidFill>
                  <a:schemeClr val="dk1"/>
                </a:solidFill>
              </a:rPr>
              <a:t>But larger is not always better. The size of the model should depend on the scientific question we want to answer. If we want to understand the global dynamics of a protein or an entire assembly, then we need to simulate the complete system. If instead we are interested in a very local phenomenon, sometimes we can focus on a particular domain, peptide sequence, or region of interest and reduce the computational cost — provided that the environment we remove is not essential for the process we want to study.</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it">
                <a:solidFill>
                  <a:schemeClr val="dk1"/>
                </a:solidFill>
              </a:rPr>
              <a:t>So the general message is that the same principles we have discussed for our small hydrated peptide extend to much more complex biomolecular systems: we choose an appropriate molecular model, include the relevant aqueous environment, run the dynamics, and use the trajectory to answer a specific biological or chemical question.</a:t>
            </a:r>
            <a:endParaRPr>
              <a:solidFill>
                <a:schemeClr val="dk1"/>
              </a:solidFill>
            </a:endParaRPr>
          </a:p>
          <a:p>
            <a:pPr indent="0" lvl="0" marL="0" marR="381000" rtl="0" algn="l">
              <a:lnSpc>
                <a:spcPct val="115000"/>
              </a:lnSpc>
              <a:spcBef>
                <a:spcPts val="1200"/>
              </a:spcBef>
              <a:spcAft>
                <a:spcPts val="1200"/>
              </a:spcAft>
              <a:buNone/>
            </a:pPr>
            <a:r>
              <a:rPr lang="it">
                <a:solidFill>
                  <a:schemeClr val="dk1"/>
                </a:solidFill>
              </a:rPr>
              <a:t>This afternoon, we will start from the simplest end of this spectrum and work with GAG⁺ ourselves, going through the complete workflow from setting up the hydrated system to extracting its conformational landscape. -&gt; next lecture will be focused on learning the full MD workflow + analyses</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sz="3500">
                <a:latin typeface="Montserrat SemiBold"/>
                <a:ea typeface="Montserrat SemiBold"/>
                <a:cs typeface="Montserrat SemiBold"/>
                <a:sym typeface="Montserrat SemiBold"/>
              </a:rPr>
              <a:t>Molecular Dynamics:</a:t>
            </a:r>
            <a:endParaRPr sz="3500">
              <a:latin typeface="Montserrat SemiBold"/>
              <a:ea typeface="Montserrat SemiBold"/>
              <a:cs typeface="Montserrat SemiBold"/>
              <a:sym typeface="Montserrat SemiBold"/>
            </a:endParaRPr>
          </a:p>
          <a:p>
            <a:pPr indent="0" lvl="0" marL="0" rtl="0" algn="ctr">
              <a:spcBef>
                <a:spcPts val="0"/>
              </a:spcBef>
              <a:spcAft>
                <a:spcPts val="0"/>
              </a:spcAft>
              <a:buNone/>
            </a:pPr>
            <a:r>
              <a:rPr lang="it" sz="2500">
                <a:latin typeface="Montserrat SemiBold"/>
                <a:ea typeface="Montserrat SemiBold"/>
                <a:cs typeface="Montserrat SemiBold"/>
                <a:sym typeface="Montserrat SemiBold"/>
              </a:rPr>
              <a:t>Simulations for hydrated biomolecules</a:t>
            </a:r>
            <a:endParaRPr sz="2500">
              <a:latin typeface="Montserrat SemiBold"/>
              <a:ea typeface="Montserrat SemiBold"/>
              <a:cs typeface="Montserrat SemiBold"/>
              <a:sym typeface="Montserrat SemiBold"/>
            </a:endParaRPr>
          </a:p>
        </p:txBody>
      </p:sp>
      <p:sp>
        <p:nvSpPr>
          <p:cNvPr id="55" name="Google Shape;55;p13"/>
          <p:cNvSpPr txBox="1"/>
          <p:nvPr>
            <p:ph idx="1" type="subTitle"/>
          </p:nvPr>
        </p:nvSpPr>
        <p:spPr>
          <a:xfrm>
            <a:off x="311700" y="29313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600">
                <a:latin typeface="Montserrat Medium"/>
                <a:ea typeface="Montserrat Medium"/>
                <a:cs typeface="Montserrat Medium"/>
                <a:sym typeface="Montserrat Medium"/>
              </a:rPr>
              <a:t>PWF </a:t>
            </a:r>
            <a:r>
              <a:rPr lang="it" sz="1600">
                <a:latin typeface="Montserrat Medium"/>
                <a:ea typeface="Montserrat Medium"/>
                <a:cs typeface="Montserrat Medium"/>
                <a:sym typeface="Montserrat Medium"/>
              </a:rPr>
              <a:t>Summer school on Theoretical and Computational Biophysics</a:t>
            </a:r>
            <a:endParaRPr sz="1600">
              <a:latin typeface="Montserrat Medium"/>
              <a:ea typeface="Montserrat Medium"/>
              <a:cs typeface="Montserrat Medium"/>
              <a:sym typeface="Montserrat Medium"/>
            </a:endParaRPr>
          </a:p>
          <a:p>
            <a:pPr indent="0" lvl="0" marL="0" rtl="0" algn="ctr">
              <a:spcBef>
                <a:spcPts val="0"/>
              </a:spcBef>
              <a:spcAft>
                <a:spcPts val="0"/>
              </a:spcAft>
              <a:buNone/>
            </a:pPr>
            <a:r>
              <a:t/>
            </a:r>
            <a:endParaRPr sz="1800"/>
          </a:p>
        </p:txBody>
      </p:sp>
      <p:sp>
        <p:nvSpPr>
          <p:cNvPr id="56" name="Google Shape;56;p13"/>
          <p:cNvSpPr/>
          <p:nvPr/>
        </p:nvSpPr>
        <p:spPr>
          <a:xfrm>
            <a:off x="0" y="0"/>
            <a:ext cx="427500" cy="5143500"/>
          </a:xfrm>
          <a:prstGeom prst="rect">
            <a:avLst/>
          </a:prstGeom>
          <a:gradFill>
            <a:gsLst>
              <a:gs pos="0">
                <a:srgbClr val="DCECD5"/>
              </a:gs>
              <a:gs pos="100000">
                <a:srgbClr val="92BC81"/>
              </a:gs>
            </a:gsLst>
            <a:path path="circle">
              <a:fillToRect b="50%" l="50%" r="50%" t="50%"/>
            </a:path>
            <a:tileRect/>
          </a:gradFill>
          <a:ln cap="flat" cmpd="sng" w="9525">
            <a:solidFill>
              <a:schemeClr val="lt1"/>
            </a:solidFill>
            <a:prstDash val="solid"/>
            <a:round/>
            <a:headEnd len="sm" w="sm" type="none"/>
            <a:tailEnd len="sm" w="sm" type="none"/>
          </a:ln>
          <a:effectLst>
            <a:outerShdw blurRad="57150" rotWithShape="0" algn="bl" dir="5400000" dist="19050">
              <a:srgbClr val="93C47D">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3187850" y="435062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dk2"/>
                </a:solidFill>
              </a:rPr>
              <a:t>Day 2/5</a:t>
            </a:r>
            <a:endParaRPr sz="1500">
              <a:solidFill>
                <a:schemeClr val="dk2"/>
              </a:solidFill>
            </a:endParaRPr>
          </a:p>
        </p:txBody>
      </p:sp>
      <p:sp>
        <p:nvSpPr>
          <p:cNvPr id="58" name="Google Shape;58;p13"/>
          <p:cNvSpPr txBox="1"/>
          <p:nvPr>
            <p:ph idx="1" type="subTitle"/>
          </p:nvPr>
        </p:nvSpPr>
        <p:spPr>
          <a:xfrm>
            <a:off x="2588150" y="3723900"/>
            <a:ext cx="41994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600">
                <a:latin typeface="Montserrat Medium"/>
                <a:ea typeface="Montserrat Medium"/>
                <a:cs typeface="Montserrat Medium"/>
                <a:sym typeface="Montserrat Medium"/>
              </a:rPr>
              <a:t>University of Colombo</a:t>
            </a:r>
            <a:endParaRPr sz="1600"/>
          </a:p>
        </p:txBody>
      </p:sp>
      <p:pic>
        <p:nvPicPr>
          <p:cNvPr descr="ICTP logo" id="59" name="Google Shape;59;p13"/>
          <p:cNvPicPr preferRelativeResize="0"/>
          <p:nvPr/>
        </p:nvPicPr>
        <p:blipFill>
          <a:blip r:embed="rId3">
            <a:alphaModFix/>
          </a:blip>
          <a:stretch>
            <a:fillRect/>
          </a:stretch>
        </p:blipFill>
        <p:spPr>
          <a:xfrm>
            <a:off x="790925" y="217625"/>
            <a:ext cx="2481185" cy="792600"/>
          </a:xfrm>
          <a:prstGeom prst="rect">
            <a:avLst/>
          </a:prstGeom>
          <a:noFill/>
          <a:ln>
            <a:noFill/>
          </a:ln>
        </p:spPr>
      </p:pic>
      <p:sp>
        <p:nvSpPr>
          <p:cNvPr id="60" name="Google Shape;60;p13"/>
          <p:cNvSpPr/>
          <p:nvPr/>
        </p:nvSpPr>
        <p:spPr>
          <a:xfrm>
            <a:off x="1795925" y="2719325"/>
            <a:ext cx="5965200" cy="777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Visual Identity | University of Colombo, Sri Lanka" id="61" name="Google Shape;61;p13"/>
          <p:cNvPicPr preferRelativeResize="0"/>
          <p:nvPr/>
        </p:nvPicPr>
        <p:blipFill>
          <a:blip r:embed="rId4">
            <a:alphaModFix/>
          </a:blip>
          <a:stretch>
            <a:fillRect/>
          </a:stretch>
        </p:blipFill>
        <p:spPr>
          <a:xfrm>
            <a:off x="6187850" y="217625"/>
            <a:ext cx="2657909" cy="792600"/>
          </a:xfrm>
          <a:prstGeom prst="rect">
            <a:avLst/>
          </a:prstGeom>
          <a:noFill/>
          <a:ln>
            <a:noFill/>
          </a:ln>
        </p:spPr>
      </p:pic>
      <p:sp>
        <p:nvSpPr>
          <p:cNvPr id="62" name="Google Shape;62;p13"/>
          <p:cNvSpPr txBox="1"/>
          <p:nvPr/>
        </p:nvSpPr>
        <p:spPr>
          <a:xfrm>
            <a:off x="7139750" y="4506125"/>
            <a:ext cx="15561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dk2"/>
                </a:solidFill>
              </a:rPr>
              <a:t>Dr. Marta Monti</a:t>
            </a:r>
            <a:endParaRPr sz="15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p:nvPr/>
        </p:nvSpPr>
        <p:spPr>
          <a:xfrm>
            <a:off x="2719500" y="1014600"/>
            <a:ext cx="3705000" cy="418200"/>
          </a:xfrm>
          <a:prstGeom prst="roundRect">
            <a:avLst>
              <a:gd fmla="val 16667" name="adj"/>
            </a:avLst>
          </a:prstGeom>
          <a:solidFill>
            <a:srgbClr val="E6B8AF">
              <a:alpha val="25910"/>
            </a:srgbClr>
          </a:solidFill>
          <a:ln cap="flat" cmpd="sng" w="9525">
            <a:solidFill>
              <a:srgbClr val="9900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300"/>
          </a:p>
        </p:txBody>
      </p:sp>
      <p:sp>
        <p:nvSpPr>
          <p:cNvPr id="68" name="Google Shape;68;p14"/>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Force Field</a:t>
            </a:r>
            <a:endParaRPr sz="2500">
              <a:latin typeface="Montserrat SemiBold"/>
              <a:ea typeface="Montserrat SemiBold"/>
              <a:cs typeface="Montserrat SemiBold"/>
              <a:sym typeface="Montserrat SemiBold"/>
            </a:endParaRPr>
          </a:p>
        </p:txBody>
      </p:sp>
      <p:sp>
        <p:nvSpPr>
          <p:cNvPr id="69" name="Google Shape;69;p14"/>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1" name="Google Shape;71;p14"/>
          <p:cNvSpPr txBox="1"/>
          <p:nvPr/>
        </p:nvSpPr>
        <p:spPr>
          <a:xfrm>
            <a:off x="2719500" y="1027503"/>
            <a:ext cx="3705000" cy="418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lang="it" sz="1600"/>
              <a:t>What about the parameters for H</a:t>
            </a:r>
            <a:r>
              <a:rPr b="1" baseline="-25000" lang="it" sz="1600"/>
              <a:t>2</a:t>
            </a:r>
            <a:r>
              <a:rPr b="1" lang="it" sz="1600"/>
              <a:t>O?</a:t>
            </a:r>
            <a:endParaRPr b="1" sz="1600"/>
          </a:p>
        </p:txBody>
      </p:sp>
      <p:pic>
        <p:nvPicPr>
          <p:cNvPr id="72" name="Google Shape;72;p14"/>
          <p:cNvPicPr preferRelativeResize="0"/>
          <p:nvPr/>
        </p:nvPicPr>
        <p:blipFill>
          <a:blip r:embed="rId3">
            <a:alphaModFix/>
          </a:blip>
          <a:stretch>
            <a:fillRect/>
          </a:stretch>
        </p:blipFill>
        <p:spPr>
          <a:xfrm>
            <a:off x="2340975" y="1754050"/>
            <a:ext cx="4462047" cy="2906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H</a:t>
            </a:r>
            <a:r>
              <a:rPr baseline="-25000" lang="it" sz="2500">
                <a:latin typeface="Montserrat SemiBold"/>
                <a:ea typeface="Montserrat SemiBold"/>
                <a:cs typeface="Montserrat SemiBold"/>
                <a:sym typeface="Montserrat SemiBold"/>
              </a:rPr>
              <a:t>2</a:t>
            </a:r>
            <a:r>
              <a:rPr lang="it" sz="2500">
                <a:latin typeface="Montserrat SemiBold"/>
                <a:ea typeface="Montserrat SemiBold"/>
                <a:cs typeface="Montserrat SemiBold"/>
                <a:sym typeface="Montserrat SemiBold"/>
              </a:rPr>
              <a:t>O models</a:t>
            </a:r>
            <a:endParaRPr sz="2500">
              <a:latin typeface="Montserrat SemiBold"/>
              <a:ea typeface="Montserrat SemiBold"/>
              <a:cs typeface="Montserrat SemiBold"/>
              <a:sym typeface="Montserrat SemiBold"/>
            </a:endParaRPr>
          </a:p>
        </p:txBody>
      </p:sp>
      <p:sp>
        <p:nvSpPr>
          <p:cNvPr id="78" name="Google Shape;78;p15"/>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0" name="Google Shape;80;p15"/>
          <p:cNvSpPr txBox="1"/>
          <p:nvPr/>
        </p:nvSpPr>
        <p:spPr>
          <a:xfrm>
            <a:off x="2606100" y="900925"/>
            <a:ext cx="3931800" cy="13608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lang="it" sz="1600"/>
              <a:t>Models for H</a:t>
            </a:r>
            <a:r>
              <a:rPr baseline="-25000" lang="it" sz="1600"/>
              <a:t>2</a:t>
            </a:r>
            <a:r>
              <a:rPr lang="it" sz="1600"/>
              <a:t>O can be distinguished by:</a:t>
            </a:r>
            <a:endParaRPr sz="1600"/>
          </a:p>
          <a:p>
            <a:pPr indent="-323850" lvl="0" marL="457200" marR="0" rtl="0" algn="just">
              <a:lnSpc>
                <a:spcPct val="115000"/>
              </a:lnSpc>
              <a:spcBef>
                <a:spcPts val="0"/>
              </a:spcBef>
              <a:spcAft>
                <a:spcPts val="0"/>
              </a:spcAft>
              <a:buSzPts val="1500"/>
              <a:buAutoNum type="arabicPeriod"/>
            </a:pPr>
            <a:r>
              <a:rPr lang="it" sz="1500"/>
              <a:t>Number of sites (interaction points)</a:t>
            </a:r>
            <a:endParaRPr sz="1500"/>
          </a:p>
          <a:p>
            <a:pPr indent="-323850" lvl="0" marL="457200" marR="0" rtl="0" algn="just">
              <a:lnSpc>
                <a:spcPct val="115000"/>
              </a:lnSpc>
              <a:spcBef>
                <a:spcPts val="0"/>
              </a:spcBef>
              <a:spcAft>
                <a:spcPts val="0"/>
              </a:spcAft>
              <a:buSzPts val="1500"/>
              <a:buAutoNum type="arabicPeriod"/>
            </a:pPr>
            <a:r>
              <a:rPr lang="it" sz="1500"/>
              <a:t>Rigidity</a:t>
            </a:r>
            <a:endParaRPr sz="1500"/>
          </a:p>
          <a:p>
            <a:pPr indent="-323850" lvl="0" marL="457200" marR="0" rtl="0" algn="just">
              <a:lnSpc>
                <a:spcPct val="115000"/>
              </a:lnSpc>
              <a:spcBef>
                <a:spcPts val="0"/>
              </a:spcBef>
              <a:spcAft>
                <a:spcPts val="0"/>
              </a:spcAft>
              <a:buSzPts val="1500"/>
              <a:buAutoNum type="arabicPeriod"/>
            </a:pPr>
            <a:r>
              <a:rPr lang="it" sz="1500"/>
              <a:t>Inclusion of polarization effects</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H</a:t>
            </a:r>
            <a:r>
              <a:rPr baseline="-25000" lang="it" sz="2500">
                <a:latin typeface="Montserrat SemiBold"/>
                <a:ea typeface="Montserrat SemiBold"/>
                <a:cs typeface="Montserrat SemiBold"/>
                <a:sym typeface="Montserrat SemiBold"/>
              </a:rPr>
              <a:t>2</a:t>
            </a:r>
            <a:r>
              <a:rPr lang="it" sz="2500">
                <a:latin typeface="Montserrat SemiBold"/>
                <a:ea typeface="Montserrat SemiBold"/>
                <a:cs typeface="Montserrat SemiBold"/>
                <a:sym typeface="Montserrat SemiBold"/>
              </a:rPr>
              <a:t>O models</a:t>
            </a:r>
            <a:endParaRPr sz="2500">
              <a:latin typeface="Montserrat SemiBold"/>
              <a:ea typeface="Montserrat SemiBold"/>
              <a:cs typeface="Montserrat SemiBold"/>
              <a:sym typeface="Montserrat SemiBold"/>
            </a:endParaRPr>
          </a:p>
        </p:txBody>
      </p:sp>
      <p:sp>
        <p:nvSpPr>
          <p:cNvPr id="86" name="Google Shape;86;p16"/>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8" name="Google Shape;88;p16"/>
          <p:cNvSpPr txBox="1"/>
          <p:nvPr/>
        </p:nvSpPr>
        <p:spPr>
          <a:xfrm>
            <a:off x="244050" y="3103813"/>
            <a:ext cx="8655900" cy="12348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SzPts val="1500"/>
              <a:buChar char="●"/>
            </a:pPr>
            <a:r>
              <a:rPr lang="it" sz="1500"/>
              <a:t>Three-site approach: 3 interaction points corresponding to the 3 atoms of the molecule</a:t>
            </a:r>
            <a:endParaRPr sz="1500"/>
          </a:p>
          <a:p>
            <a:pPr indent="-323850" lvl="0" marL="457200" marR="0" rtl="0" algn="just">
              <a:lnSpc>
                <a:spcPct val="115000"/>
              </a:lnSpc>
              <a:spcBef>
                <a:spcPts val="0"/>
              </a:spcBef>
              <a:spcAft>
                <a:spcPts val="0"/>
              </a:spcAft>
              <a:buSzPts val="1500"/>
              <a:buChar char="●"/>
            </a:pPr>
            <a:r>
              <a:rPr lang="it" sz="1500"/>
              <a:t>Each site has a point charge; LJ parameters for the O atom</a:t>
            </a:r>
            <a:endParaRPr sz="1500"/>
          </a:p>
          <a:p>
            <a:pPr indent="-323850" lvl="0" marL="457200" marR="0" rtl="0" algn="just">
              <a:lnSpc>
                <a:spcPct val="115000"/>
              </a:lnSpc>
              <a:spcBef>
                <a:spcPts val="0"/>
              </a:spcBef>
              <a:spcAft>
                <a:spcPts val="0"/>
              </a:spcAft>
              <a:buSzPts val="1500"/>
              <a:buChar char="●"/>
            </a:pPr>
            <a:r>
              <a:rPr lang="it" sz="1500"/>
              <a:t>Rigid geometry fixed according to the model; TIP3P uses a geometry close to the experimental gas-phase structure, while SPC uses the ideal tetrahedral HOH angle.</a:t>
            </a:r>
            <a:endParaRPr sz="1500"/>
          </a:p>
        </p:txBody>
      </p:sp>
      <p:sp>
        <p:nvSpPr>
          <p:cNvPr id="89" name="Google Shape;89;p16"/>
          <p:cNvSpPr txBox="1"/>
          <p:nvPr/>
        </p:nvSpPr>
        <p:spPr>
          <a:xfrm>
            <a:off x="2606100" y="900925"/>
            <a:ext cx="3931800" cy="13608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lang="it" sz="1600"/>
              <a:t>Models for H</a:t>
            </a:r>
            <a:r>
              <a:rPr baseline="-25000" lang="it" sz="1600"/>
              <a:t>2</a:t>
            </a:r>
            <a:r>
              <a:rPr lang="it" sz="1600"/>
              <a:t>O can be distinguished by:</a:t>
            </a:r>
            <a:endParaRPr sz="1600"/>
          </a:p>
          <a:p>
            <a:pPr indent="-323850" lvl="0" marL="457200" marR="0" rtl="0" algn="just">
              <a:lnSpc>
                <a:spcPct val="115000"/>
              </a:lnSpc>
              <a:spcBef>
                <a:spcPts val="0"/>
              </a:spcBef>
              <a:spcAft>
                <a:spcPts val="0"/>
              </a:spcAft>
              <a:buSzPts val="1500"/>
              <a:buAutoNum type="arabicPeriod"/>
            </a:pPr>
            <a:r>
              <a:rPr lang="it" sz="1500"/>
              <a:t>Number of sites (interaction points)</a:t>
            </a:r>
            <a:endParaRPr sz="1500"/>
          </a:p>
          <a:p>
            <a:pPr indent="-323850" lvl="0" marL="457200" marR="0" rtl="0" algn="just">
              <a:lnSpc>
                <a:spcPct val="115000"/>
              </a:lnSpc>
              <a:spcBef>
                <a:spcPts val="0"/>
              </a:spcBef>
              <a:spcAft>
                <a:spcPts val="0"/>
              </a:spcAft>
              <a:buSzPts val="1500"/>
              <a:buAutoNum type="arabicPeriod"/>
            </a:pPr>
            <a:r>
              <a:rPr lang="it" sz="1500"/>
              <a:t>Rigidity</a:t>
            </a:r>
            <a:endParaRPr sz="1500"/>
          </a:p>
          <a:p>
            <a:pPr indent="-323850" lvl="0" marL="457200" marR="0" rtl="0" algn="just">
              <a:lnSpc>
                <a:spcPct val="115000"/>
              </a:lnSpc>
              <a:spcBef>
                <a:spcPts val="0"/>
              </a:spcBef>
              <a:spcAft>
                <a:spcPts val="0"/>
              </a:spcAft>
              <a:buSzPts val="1500"/>
              <a:buAutoNum type="arabicPeriod"/>
            </a:pPr>
            <a:r>
              <a:rPr lang="it" sz="1500"/>
              <a:t>Inclusion of polarization effects</a:t>
            </a:r>
            <a:endParaRPr sz="1500"/>
          </a:p>
        </p:txBody>
      </p:sp>
      <p:sp>
        <p:nvSpPr>
          <p:cNvPr id="90" name="Google Shape;90;p16"/>
          <p:cNvSpPr txBox="1"/>
          <p:nvPr/>
        </p:nvSpPr>
        <p:spPr>
          <a:xfrm>
            <a:off x="3687600" y="2385600"/>
            <a:ext cx="1768800" cy="393600"/>
          </a:xfrm>
          <a:prstGeom prst="rect">
            <a:avLst/>
          </a:prstGeom>
          <a:noFill/>
          <a:ln cap="flat" cmpd="sng" w="19050">
            <a:solidFill>
              <a:srgbClr val="18803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it" sz="1600"/>
              <a:t>SPC and </a:t>
            </a:r>
            <a:r>
              <a:rPr b="1" lang="it" sz="1600">
                <a:solidFill>
                  <a:schemeClr val="dk1"/>
                </a:solidFill>
              </a:rPr>
              <a:t>TIP3P</a:t>
            </a:r>
            <a:endParaRPr b="1"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H</a:t>
            </a:r>
            <a:r>
              <a:rPr baseline="-25000" lang="it" sz="2500">
                <a:latin typeface="Montserrat SemiBold"/>
                <a:ea typeface="Montserrat SemiBold"/>
                <a:cs typeface="Montserrat SemiBold"/>
                <a:sym typeface="Montserrat SemiBold"/>
              </a:rPr>
              <a:t>2</a:t>
            </a:r>
            <a:r>
              <a:rPr lang="it" sz="2500">
                <a:latin typeface="Montserrat SemiBold"/>
                <a:ea typeface="Montserrat SemiBold"/>
                <a:cs typeface="Montserrat SemiBold"/>
                <a:sym typeface="Montserrat SemiBold"/>
              </a:rPr>
              <a:t>O models - TIP3P</a:t>
            </a:r>
            <a:endParaRPr sz="2500">
              <a:latin typeface="Montserrat SemiBold"/>
              <a:ea typeface="Montserrat SemiBold"/>
              <a:cs typeface="Montserrat SemiBold"/>
              <a:sym typeface="Montserrat SemiBold"/>
            </a:endParaRPr>
          </a:p>
        </p:txBody>
      </p:sp>
      <p:sp>
        <p:nvSpPr>
          <p:cNvPr id="96" name="Google Shape;96;p17"/>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98" name="Google Shape;98;p17"/>
          <p:cNvSpPr txBox="1"/>
          <p:nvPr/>
        </p:nvSpPr>
        <p:spPr>
          <a:xfrm>
            <a:off x="1578938" y="942975"/>
            <a:ext cx="1089600" cy="393600"/>
          </a:xfrm>
          <a:prstGeom prst="rect">
            <a:avLst/>
          </a:prstGeom>
          <a:noFill/>
          <a:ln cap="flat" cmpd="sng" w="19050">
            <a:solidFill>
              <a:srgbClr val="18803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it" sz="1600">
                <a:solidFill>
                  <a:schemeClr val="dk1"/>
                </a:solidFill>
              </a:rPr>
              <a:t>TIP3P</a:t>
            </a:r>
            <a:endParaRPr b="1" sz="1600"/>
          </a:p>
        </p:txBody>
      </p:sp>
      <p:pic>
        <p:nvPicPr>
          <p:cNvPr id="99" name="Google Shape;99;p17"/>
          <p:cNvPicPr preferRelativeResize="0"/>
          <p:nvPr/>
        </p:nvPicPr>
        <p:blipFill>
          <a:blip r:embed="rId3">
            <a:alphaModFix/>
          </a:blip>
          <a:stretch>
            <a:fillRect/>
          </a:stretch>
        </p:blipFill>
        <p:spPr>
          <a:xfrm>
            <a:off x="560463" y="2232551"/>
            <a:ext cx="3342275" cy="1587575"/>
          </a:xfrm>
          <a:prstGeom prst="rect">
            <a:avLst/>
          </a:prstGeom>
          <a:noFill/>
          <a:ln>
            <a:noFill/>
          </a:ln>
        </p:spPr>
      </p:pic>
      <p:pic>
        <p:nvPicPr>
          <p:cNvPr id="100" name="Google Shape;100;p17" title="Screenshot 2026-09-07 at 23.29.03.png"/>
          <p:cNvPicPr preferRelativeResize="0"/>
          <p:nvPr/>
        </p:nvPicPr>
        <p:blipFill rotWithShape="1">
          <a:blip r:embed="rId4">
            <a:alphaModFix/>
          </a:blip>
          <a:srcRect b="64769" l="0" r="37934" t="7001"/>
          <a:stretch/>
        </p:blipFill>
        <p:spPr>
          <a:xfrm>
            <a:off x="4284588" y="1544288"/>
            <a:ext cx="4530652" cy="1338266"/>
          </a:xfrm>
          <a:prstGeom prst="rect">
            <a:avLst/>
          </a:prstGeom>
          <a:noFill/>
          <a:ln>
            <a:noFill/>
          </a:ln>
        </p:spPr>
      </p:pic>
      <p:sp>
        <p:nvSpPr>
          <p:cNvPr id="101" name="Google Shape;101;p17"/>
          <p:cNvSpPr txBox="1"/>
          <p:nvPr/>
        </p:nvSpPr>
        <p:spPr>
          <a:xfrm>
            <a:off x="1152750" y="4406700"/>
            <a:ext cx="6838500" cy="3936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it" sz="1500"/>
              <a:t>Widely used and computationally efficient, but it overestimates water mobility</a:t>
            </a:r>
            <a:endParaRPr sz="1500"/>
          </a:p>
        </p:txBody>
      </p:sp>
      <p:pic>
        <p:nvPicPr>
          <p:cNvPr id="102" name="Google Shape;102;p17" title="Screenshot 2026-09-07 at 23.29.03.png"/>
          <p:cNvPicPr preferRelativeResize="0"/>
          <p:nvPr/>
        </p:nvPicPr>
        <p:blipFill rotWithShape="1">
          <a:blip r:embed="rId4">
            <a:alphaModFix/>
          </a:blip>
          <a:srcRect b="9014" l="0" r="37934" t="64674"/>
          <a:stretch/>
        </p:blipFill>
        <p:spPr>
          <a:xfrm>
            <a:off x="4284588" y="2951696"/>
            <a:ext cx="4530652" cy="124729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H</a:t>
            </a:r>
            <a:r>
              <a:rPr baseline="-25000" lang="it" sz="2500">
                <a:latin typeface="Montserrat SemiBold"/>
                <a:ea typeface="Montserrat SemiBold"/>
                <a:cs typeface="Montserrat SemiBold"/>
                <a:sym typeface="Montserrat SemiBold"/>
              </a:rPr>
              <a:t>2</a:t>
            </a:r>
            <a:r>
              <a:rPr lang="it" sz="2500">
                <a:latin typeface="Montserrat SemiBold"/>
                <a:ea typeface="Montserrat SemiBold"/>
                <a:cs typeface="Montserrat SemiBold"/>
                <a:sym typeface="Montserrat SemiBold"/>
              </a:rPr>
              <a:t>O models</a:t>
            </a:r>
            <a:endParaRPr sz="2500">
              <a:latin typeface="Montserrat SemiBold"/>
              <a:ea typeface="Montserrat SemiBold"/>
              <a:cs typeface="Montserrat SemiBold"/>
              <a:sym typeface="Montserrat SemiBold"/>
            </a:endParaRPr>
          </a:p>
        </p:txBody>
      </p:sp>
      <p:sp>
        <p:nvSpPr>
          <p:cNvPr id="108" name="Google Shape;108;p18"/>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10" name="Google Shape;110;p18"/>
          <p:cNvSpPr txBox="1"/>
          <p:nvPr/>
        </p:nvSpPr>
        <p:spPr>
          <a:xfrm>
            <a:off x="244050" y="1425895"/>
            <a:ext cx="8655900" cy="18222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SzPts val="1500"/>
              <a:buChar char="●"/>
            </a:pPr>
            <a:r>
              <a:rPr lang="it" sz="1500"/>
              <a:t>SPC/E model adds an average polarization correction </a:t>
            </a:r>
            <a:r>
              <a:rPr lang="it" sz="1500">
                <a:solidFill>
                  <a:schemeClr val="dk1"/>
                </a:solidFill>
              </a:rPr>
              <a:t>and</a:t>
            </a:r>
            <a:r>
              <a:rPr lang="it" sz="1500">
                <a:solidFill>
                  <a:schemeClr val="dk1"/>
                </a:solidFill>
              </a:rPr>
              <a:t> improves properties such as density and diffusion relative to SPC.</a:t>
            </a:r>
            <a:endParaRPr sz="1500"/>
          </a:p>
          <a:p>
            <a:pPr indent="-323850" lvl="0" marL="457200" marR="0" rtl="0" algn="just">
              <a:lnSpc>
                <a:spcPct val="115000"/>
              </a:lnSpc>
              <a:spcBef>
                <a:spcPts val="0"/>
              </a:spcBef>
              <a:spcAft>
                <a:spcPts val="0"/>
              </a:spcAft>
              <a:buSzPts val="1500"/>
              <a:buChar char="●"/>
            </a:pPr>
            <a:r>
              <a:rPr lang="it" sz="1500"/>
              <a:t>SPC/F is a flexible variant that provides improved diffusion and dielectric properties compared with rigid SPC.</a:t>
            </a:r>
            <a:endParaRPr sz="1500"/>
          </a:p>
          <a:p>
            <a:pPr indent="-323850" lvl="0" marL="457200" marR="0" rtl="0" algn="just">
              <a:lnSpc>
                <a:spcPct val="115000"/>
              </a:lnSpc>
              <a:spcBef>
                <a:spcPts val="0"/>
              </a:spcBef>
              <a:spcAft>
                <a:spcPts val="0"/>
              </a:spcAft>
              <a:buSzPts val="1500"/>
              <a:buChar char="●"/>
            </a:pPr>
            <a:r>
              <a:rPr lang="it" sz="1500"/>
              <a:t>TIP4P introduces a 4th interaction site carrying the negative charge along the HOH bisector, providing</a:t>
            </a:r>
            <a:r>
              <a:rPr lang="it" sz="1500">
                <a:solidFill>
                  <a:schemeClr val="dk1"/>
                </a:solidFill>
              </a:rPr>
              <a:t> a more realistic electrostatic representation.</a:t>
            </a:r>
            <a:endParaRPr sz="1500"/>
          </a:p>
        </p:txBody>
      </p:sp>
      <p:sp>
        <p:nvSpPr>
          <p:cNvPr id="111" name="Google Shape;111;p18"/>
          <p:cNvSpPr txBox="1"/>
          <p:nvPr/>
        </p:nvSpPr>
        <p:spPr>
          <a:xfrm>
            <a:off x="3239700" y="917184"/>
            <a:ext cx="2664600" cy="393600"/>
          </a:xfrm>
          <a:prstGeom prst="rect">
            <a:avLst/>
          </a:prstGeom>
          <a:noFill/>
          <a:ln cap="flat" cmpd="sng" w="19050">
            <a:solidFill>
              <a:srgbClr val="18803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1" lang="it" sz="1600"/>
              <a:t>SPC/E, SPC/F, and TIP4P</a:t>
            </a:r>
            <a:endParaRPr b="1" sz="1600"/>
          </a:p>
        </p:txBody>
      </p:sp>
      <p:pic>
        <p:nvPicPr>
          <p:cNvPr id="112" name="Google Shape;112;p18"/>
          <p:cNvPicPr preferRelativeResize="0"/>
          <p:nvPr/>
        </p:nvPicPr>
        <p:blipFill>
          <a:blip r:embed="rId3">
            <a:alphaModFix/>
          </a:blip>
          <a:stretch>
            <a:fillRect/>
          </a:stretch>
        </p:blipFill>
        <p:spPr>
          <a:xfrm>
            <a:off x="1295400" y="3363225"/>
            <a:ext cx="2258120" cy="1693600"/>
          </a:xfrm>
          <a:prstGeom prst="rect">
            <a:avLst/>
          </a:prstGeom>
          <a:noFill/>
          <a:ln>
            <a:noFill/>
          </a:ln>
        </p:spPr>
      </p:pic>
      <p:sp>
        <p:nvSpPr>
          <p:cNvPr id="113" name="Google Shape;113;p18"/>
          <p:cNvSpPr txBox="1"/>
          <p:nvPr/>
        </p:nvSpPr>
        <p:spPr>
          <a:xfrm>
            <a:off x="4863600" y="3724325"/>
            <a:ext cx="3680100" cy="9714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lang="it" sz="1500"/>
              <a:t>Different models reproduce different properties — there is no universally “best” water model.</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Why simulate biomolecules in water?</a:t>
            </a:r>
            <a:endParaRPr sz="2500">
              <a:latin typeface="Montserrat SemiBold"/>
              <a:ea typeface="Montserrat SemiBold"/>
              <a:cs typeface="Montserrat SemiBold"/>
              <a:sym typeface="Montserrat SemiBold"/>
            </a:endParaRPr>
          </a:p>
        </p:txBody>
      </p:sp>
      <p:sp>
        <p:nvSpPr>
          <p:cNvPr id="119" name="Google Shape;119;p19"/>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21" name="Google Shape;121;p19"/>
          <p:cNvSpPr txBox="1"/>
          <p:nvPr/>
        </p:nvSpPr>
        <p:spPr>
          <a:xfrm>
            <a:off x="745050" y="900688"/>
            <a:ext cx="7653900" cy="484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lang="it" sz="1600"/>
              <a:t>Biomolecules do not function in isolation: </a:t>
            </a:r>
            <a:r>
              <a:rPr b="1" lang="it" sz="1600"/>
              <a:t>their native environment is aqueous</a:t>
            </a:r>
            <a:r>
              <a:rPr lang="it" sz="1600"/>
              <a:t>.</a:t>
            </a:r>
            <a:endParaRPr sz="1600"/>
          </a:p>
        </p:txBody>
      </p:sp>
      <p:sp>
        <p:nvSpPr>
          <p:cNvPr id="122" name="Google Shape;122;p19"/>
          <p:cNvSpPr txBox="1"/>
          <p:nvPr/>
        </p:nvSpPr>
        <p:spPr>
          <a:xfrm>
            <a:off x="244050" y="1508549"/>
            <a:ext cx="8655900" cy="14901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SzPts val="1500"/>
              <a:buChar char="●"/>
            </a:pPr>
            <a:r>
              <a:rPr lang="it" sz="1500"/>
              <a:t>Water plays an essential role in the structure, stability and flexibility of biomolecules</a:t>
            </a:r>
            <a:endParaRPr sz="1500"/>
          </a:p>
          <a:p>
            <a:pPr indent="-323850" lvl="0" marL="457200" marR="0" rtl="0" algn="just">
              <a:lnSpc>
                <a:spcPct val="115000"/>
              </a:lnSpc>
              <a:spcBef>
                <a:spcPts val="0"/>
              </a:spcBef>
              <a:spcAft>
                <a:spcPts val="0"/>
              </a:spcAft>
              <a:buSzPts val="1500"/>
              <a:buChar char="●"/>
            </a:pPr>
            <a:r>
              <a:rPr lang="it" sz="1500"/>
              <a:t>It forms </a:t>
            </a:r>
            <a:r>
              <a:rPr lang="it" sz="1500"/>
              <a:t>hydrogen-bond networks with biomolecules</a:t>
            </a:r>
            <a:endParaRPr sz="1500"/>
          </a:p>
          <a:p>
            <a:pPr indent="-323850" lvl="0" marL="457200" marR="0" rtl="0" algn="just">
              <a:lnSpc>
                <a:spcPct val="115000"/>
              </a:lnSpc>
              <a:spcBef>
                <a:spcPts val="0"/>
              </a:spcBef>
              <a:spcAft>
                <a:spcPts val="0"/>
              </a:spcAft>
              <a:buSzPts val="1500"/>
              <a:buChar char="●"/>
            </a:pPr>
            <a:r>
              <a:rPr lang="it" sz="1500"/>
              <a:t>It screens electrostatic interactions</a:t>
            </a:r>
            <a:endParaRPr sz="1500"/>
          </a:p>
          <a:p>
            <a:pPr indent="-323850" lvl="0" marL="457200" marR="0" rtl="0" algn="just">
              <a:lnSpc>
                <a:spcPct val="115000"/>
              </a:lnSpc>
              <a:spcBef>
                <a:spcPts val="0"/>
              </a:spcBef>
              <a:spcAft>
                <a:spcPts val="0"/>
              </a:spcAft>
              <a:buSzPts val="1500"/>
              <a:buChar char="●"/>
            </a:pPr>
            <a:r>
              <a:rPr lang="it" sz="1500"/>
              <a:t>It contributes to hydrophobic effects</a:t>
            </a:r>
            <a:endParaRPr sz="1500"/>
          </a:p>
          <a:p>
            <a:pPr indent="-323850" lvl="0" marL="457200" marR="0" rtl="0" algn="just">
              <a:lnSpc>
                <a:spcPct val="115000"/>
              </a:lnSpc>
              <a:spcBef>
                <a:spcPts val="0"/>
              </a:spcBef>
              <a:spcAft>
                <a:spcPts val="0"/>
              </a:spcAft>
              <a:buSzPts val="1500"/>
              <a:buChar char="●"/>
            </a:pPr>
            <a:r>
              <a:rPr lang="it" sz="1500">
                <a:solidFill>
                  <a:schemeClr val="dk1"/>
                </a:solidFill>
              </a:rPr>
              <a:t>It can participate directly in binding, catalysis and conformational changes</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What can we learn from hydrated MD simulations?</a:t>
            </a:r>
            <a:endParaRPr sz="2500">
              <a:latin typeface="Montserrat SemiBold"/>
              <a:ea typeface="Montserrat SemiBold"/>
              <a:cs typeface="Montserrat SemiBold"/>
              <a:sym typeface="Montserrat SemiBold"/>
            </a:endParaRPr>
          </a:p>
        </p:txBody>
      </p:sp>
      <p:sp>
        <p:nvSpPr>
          <p:cNvPr id="128" name="Google Shape;128;p20"/>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30" name="Google Shape;130;p20"/>
          <p:cNvSpPr/>
          <p:nvPr/>
        </p:nvSpPr>
        <p:spPr>
          <a:xfrm>
            <a:off x="398700" y="1775716"/>
            <a:ext cx="2280900" cy="572700"/>
          </a:xfrm>
          <a:prstGeom prst="roundRect">
            <a:avLst>
              <a:gd fmla="val 16667" name="adj"/>
            </a:avLst>
          </a:prstGeom>
          <a:solidFill>
            <a:srgbClr val="F5D4F3">
              <a:alpha val="30450"/>
            </a:srgbClr>
          </a:solidFill>
          <a:ln cap="flat" cmpd="sng" w="9525">
            <a:solidFill>
              <a:srgbClr val="FF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Structural properties</a:t>
            </a:r>
            <a:endParaRPr sz="1300"/>
          </a:p>
        </p:txBody>
      </p:sp>
      <p:sp>
        <p:nvSpPr>
          <p:cNvPr id="131" name="Google Shape;131;p20"/>
          <p:cNvSpPr txBox="1"/>
          <p:nvPr/>
        </p:nvSpPr>
        <p:spPr>
          <a:xfrm>
            <a:off x="191855" y="2508666"/>
            <a:ext cx="2454900" cy="9549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SzPts val="1500"/>
              <a:buChar char="●"/>
            </a:pPr>
            <a:r>
              <a:rPr lang="it" sz="1500"/>
              <a:t>RMSD/RMSF</a:t>
            </a:r>
            <a:endParaRPr sz="1500"/>
          </a:p>
          <a:p>
            <a:pPr indent="-323850" lvl="0" marL="457200" marR="0" rtl="0" algn="just">
              <a:lnSpc>
                <a:spcPct val="115000"/>
              </a:lnSpc>
              <a:spcBef>
                <a:spcPts val="0"/>
              </a:spcBef>
              <a:spcAft>
                <a:spcPts val="0"/>
              </a:spcAft>
              <a:buSzPts val="1500"/>
              <a:buChar char="●"/>
            </a:pPr>
            <a:r>
              <a:rPr lang="it" sz="1500"/>
              <a:t>Radius of gyration</a:t>
            </a:r>
            <a:endParaRPr sz="1500"/>
          </a:p>
          <a:p>
            <a:pPr indent="-323850" lvl="0" marL="457200" marR="0" rtl="0" algn="just">
              <a:lnSpc>
                <a:spcPct val="115000"/>
              </a:lnSpc>
              <a:spcBef>
                <a:spcPts val="0"/>
              </a:spcBef>
              <a:spcAft>
                <a:spcPts val="0"/>
              </a:spcAft>
              <a:buSzPts val="1500"/>
              <a:buChar char="●"/>
            </a:pPr>
            <a:r>
              <a:rPr lang="it" sz="1500"/>
              <a:t>Secondary structure</a:t>
            </a:r>
            <a:endParaRPr sz="1500"/>
          </a:p>
        </p:txBody>
      </p:sp>
      <p:sp>
        <p:nvSpPr>
          <p:cNvPr id="132" name="Google Shape;132;p20"/>
          <p:cNvSpPr/>
          <p:nvPr/>
        </p:nvSpPr>
        <p:spPr>
          <a:xfrm>
            <a:off x="3267326" y="1775716"/>
            <a:ext cx="2280900" cy="572700"/>
          </a:xfrm>
          <a:prstGeom prst="roundRect">
            <a:avLst>
              <a:gd fmla="val 16667" name="adj"/>
            </a:avLst>
          </a:prstGeom>
          <a:solidFill>
            <a:srgbClr val="C9DAF8">
              <a:alpha val="30450"/>
            </a:srgbClr>
          </a:solidFill>
          <a:ln cap="flat" cmpd="sng" w="9525">
            <a:solidFill>
              <a:srgbClr val="0000FF"/>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Solvation properties</a:t>
            </a:r>
            <a:endParaRPr sz="1300"/>
          </a:p>
        </p:txBody>
      </p:sp>
      <p:sp>
        <p:nvSpPr>
          <p:cNvPr id="133" name="Google Shape;133;p20"/>
          <p:cNvSpPr txBox="1"/>
          <p:nvPr/>
        </p:nvSpPr>
        <p:spPr>
          <a:xfrm>
            <a:off x="3035773" y="2508666"/>
            <a:ext cx="2512500" cy="9549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SzPts val="1500"/>
              <a:buChar char="●"/>
            </a:pPr>
            <a:r>
              <a:rPr lang="it" sz="1500"/>
              <a:t>Hydrogen shell (RDF)</a:t>
            </a:r>
            <a:endParaRPr sz="1500"/>
          </a:p>
          <a:p>
            <a:pPr indent="-323850" lvl="0" marL="457200" marR="0" rtl="0" algn="just">
              <a:lnSpc>
                <a:spcPct val="115000"/>
              </a:lnSpc>
              <a:spcBef>
                <a:spcPts val="0"/>
              </a:spcBef>
              <a:spcAft>
                <a:spcPts val="0"/>
              </a:spcAft>
              <a:buSzPts val="1500"/>
              <a:buChar char="●"/>
            </a:pPr>
            <a:r>
              <a:rPr lang="it" sz="1500"/>
              <a:t>Hydrogen bonds</a:t>
            </a:r>
            <a:endParaRPr sz="1500"/>
          </a:p>
          <a:p>
            <a:pPr indent="-323850" lvl="0" marL="457200" marR="0" rtl="0" algn="just">
              <a:lnSpc>
                <a:spcPct val="115000"/>
              </a:lnSpc>
              <a:spcBef>
                <a:spcPts val="0"/>
              </a:spcBef>
              <a:spcAft>
                <a:spcPts val="0"/>
              </a:spcAft>
              <a:buSzPts val="1500"/>
              <a:buChar char="●"/>
            </a:pPr>
            <a:r>
              <a:rPr lang="it" sz="1500"/>
              <a:t>Water residence time</a:t>
            </a:r>
            <a:endParaRPr sz="1500"/>
          </a:p>
        </p:txBody>
      </p:sp>
      <p:sp>
        <p:nvSpPr>
          <p:cNvPr id="134" name="Google Shape;134;p20"/>
          <p:cNvSpPr/>
          <p:nvPr/>
        </p:nvSpPr>
        <p:spPr>
          <a:xfrm>
            <a:off x="6341575" y="1775716"/>
            <a:ext cx="2280900" cy="572700"/>
          </a:xfrm>
          <a:prstGeom prst="roundRect">
            <a:avLst>
              <a:gd fmla="val 16667" name="adj"/>
            </a:avLst>
          </a:prstGeom>
          <a:solidFill>
            <a:srgbClr val="98C087">
              <a:alpha val="30000"/>
            </a:srgbClr>
          </a:solidFill>
          <a:ln cap="flat" cmpd="sng" w="9525">
            <a:solidFill>
              <a:srgbClr val="188038"/>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Thermodynamic and kinetic</a:t>
            </a:r>
            <a:r>
              <a:rPr b="1" lang="it" sz="1600"/>
              <a:t> properties</a:t>
            </a:r>
            <a:endParaRPr sz="1300"/>
          </a:p>
        </p:txBody>
      </p:sp>
      <p:sp>
        <p:nvSpPr>
          <p:cNvPr id="135" name="Google Shape;135;p20"/>
          <p:cNvSpPr txBox="1"/>
          <p:nvPr/>
        </p:nvSpPr>
        <p:spPr>
          <a:xfrm>
            <a:off x="6127800" y="2508666"/>
            <a:ext cx="3016200" cy="9549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SzPts val="1500"/>
              <a:buChar char="●"/>
            </a:pPr>
            <a:r>
              <a:rPr lang="it" sz="1500"/>
              <a:t>Conformational populations</a:t>
            </a:r>
            <a:endParaRPr sz="1500"/>
          </a:p>
          <a:p>
            <a:pPr indent="-323850" lvl="0" marL="457200" marR="0" rtl="0" algn="just">
              <a:lnSpc>
                <a:spcPct val="115000"/>
              </a:lnSpc>
              <a:spcBef>
                <a:spcPts val="0"/>
              </a:spcBef>
              <a:spcAft>
                <a:spcPts val="0"/>
              </a:spcAft>
              <a:buSzPts val="1500"/>
              <a:buChar char="●"/>
            </a:pPr>
            <a:r>
              <a:rPr lang="it" sz="1500"/>
              <a:t>Binding affinities</a:t>
            </a:r>
            <a:endParaRPr sz="1500"/>
          </a:p>
          <a:p>
            <a:pPr indent="-323850" lvl="0" marL="457200" marR="0" rtl="0" algn="just">
              <a:lnSpc>
                <a:spcPct val="115000"/>
              </a:lnSpc>
              <a:spcBef>
                <a:spcPts val="0"/>
              </a:spcBef>
              <a:spcAft>
                <a:spcPts val="0"/>
              </a:spcAft>
              <a:buSzPts val="1500"/>
              <a:buChar char="●"/>
            </a:pPr>
            <a:r>
              <a:rPr lang="it" sz="1500"/>
              <a:t>Folding rates</a:t>
            </a:r>
            <a:endParaRPr sz="1500"/>
          </a:p>
        </p:txBody>
      </p:sp>
      <p:sp>
        <p:nvSpPr>
          <p:cNvPr id="136" name="Google Shape;136;p20"/>
          <p:cNvSpPr txBox="1"/>
          <p:nvPr/>
        </p:nvSpPr>
        <p:spPr>
          <a:xfrm>
            <a:off x="1640400" y="3885925"/>
            <a:ext cx="5863200" cy="777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lang="it" sz="1600"/>
              <a:t>We will see most of these quantities in detail in the next lecture </a:t>
            </a:r>
            <a:endParaRPr sz="1600"/>
          </a:p>
          <a:p>
            <a:pPr indent="0" lvl="0" marL="0" marR="0" rtl="0" algn="ctr">
              <a:lnSpc>
                <a:spcPct val="115000"/>
              </a:lnSpc>
              <a:spcBef>
                <a:spcPts val="0"/>
              </a:spcBef>
              <a:spcAft>
                <a:spcPts val="0"/>
              </a:spcAft>
              <a:buClr>
                <a:srgbClr val="000000"/>
              </a:buClr>
              <a:buSzPts val="1500"/>
              <a:buFont typeface="Arial"/>
              <a:buNone/>
            </a:pPr>
            <a:r>
              <a:rPr lang="it" sz="1600"/>
              <a:t>and in practice in the afternoon exercise!</a:t>
            </a:r>
            <a:endParaRPr sz="1600"/>
          </a:p>
        </p:txBody>
      </p:sp>
      <p:sp>
        <p:nvSpPr>
          <p:cNvPr id="137" name="Google Shape;137;p20"/>
          <p:cNvSpPr txBox="1"/>
          <p:nvPr/>
        </p:nvSpPr>
        <p:spPr>
          <a:xfrm>
            <a:off x="857850" y="922243"/>
            <a:ext cx="7428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600"/>
              <a:t>MD connects molecular structure, dynamics and hydration at atomic resolution.</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1"/>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What can we learn from hydrated MD simulations?</a:t>
            </a:r>
            <a:endParaRPr sz="2500">
              <a:latin typeface="Montserrat SemiBold"/>
              <a:ea typeface="Montserrat SemiBold"/>
              <a:cs typeface="Montserrat SemiBold"/>
              <a:sym typeface="Montserrat SemiBold"/>
            </a:endParaRPr>
          </a:p>
        </p:txBody>
      </p:sp>
      <p:sp>
        <p:nvSpPr>
          <p:cNvPr id="143" name="Google Shape;143;p21"/>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45" name="Google Shape;145;p21"/>
          <p:cNvSpPr txBox="1"/>
          <p:nvPr/>
        </p:nvSpPr>
        <p:spPr>
          <a:xfrm>
            <a:off x="1451250" y="942750"/>
            <a:ext cx="6241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600"/>
              <a:t>Example: MD simulations of small solvated peptides (GAG</a:t>
            </a:r>
            <a:r>
              <a:rPr baseline="30000" lang="it" sz="1600"/>
              <a:t>+</a:t>
            </a:r>
            <a:r>
              <a:rPr lang="it" sz="1600"/>
              <a:t>)</a:t>
            </a:r>
            <a:endParaRPr sz="1600"/>
          </a:p>
        </p:txBody>
      </p:sp>
      <p:pic>
        <p:nvPicPr>
          <p:cNvPr id="146" name="Google Shape;146;p21" title="beta-h.jpg"/>
          <p:cNvPicPr preferRelativeResize="0"/>
          <p:nvPr/>
        </p:nvPicPr>
        <p:blipFill rotWithShape="1">
          <a:blip r:embed="rId3">
            <a:alphaModFix/>
          </a:blip>
          <a:srcRect b="32027" l="10588" r="8897" t="29691"/>
          <a:stretch/>
        </p:blipFill>
        <p:spPr>
          <a:xfrm>
            <a:off x="3269690" y="1539516"/>
            <a:ext cx="2642227" cy="1256361"/>
          </a:xfrm>
          <a:prstGeom prst="rect">
            <a:avLst/>
          </a:prstGeom>
          <a:noFill/>
          <a:ln>
            <a:noFill/>
          </a:ln>
        </p:spPr>
      </p:pic>
      <p:sp>
        <p:nvSpPr>
          <p:cNvPr id="147" name="Google Shape;147;p21"/>
          <p:cNvSpPr/>
          <p:nvPr/>
        </p:nvSpPr>
        <p:spPr>
          <a:xfrm rot="-5400000">
            <a:off x="3648225" y="2410375"/>
            <a:ext cx="295500" cy="886800"/>
          </a:xfrm>
          <a:prstGeom prst="leftBrace">
            <a:avLst>
              <a:gd fmla="val 75025"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1"/>
          <p:cNvSpPr/>
          <p:nvPr/>
        </p:nvSpPr>
        <p:spPr>
          <a:xfrm rot="-5400000">
            <a:off x="4423875" y="2512525"/>
            <a:ext cx="304500" cy="673500"/>
          </a:xfrm>
          <a:prstGeom prst="leftBrace">
            <a:avLst>
              <a:gd fmla="val 75025"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21"/>
          <p:cNvSpPr/>
          <p:nvPr/>
        </p:nvSpPr>
        <p:spPr>
          <a:xfrm rot="-5400000">
            <a:off x="5195775" y="2418625"/>
            <a:ext cx="304500" cy="870300"/>
          </a:xfrm>
          <a:prstGeom prst="leftBrace">
            <a:avLst>
              <a:gd fmla="val 75025"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1"/>
          <p:cNvSpPr txBox="1"/>
          <p:nvPr/>
        </p:nvSpPr>
        <p:spPr>
          <a:xfrm>
            <a:off x="3088425" y="2972775"/>
            <a:ext cx="14151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t>Gly</a:t>
            </a:r>
            <a:endParaRPr sz="1500"/>
          </a:p>
          <a:p>
            <a:pPr indent="0" lvl="0" marL="0" rtl="0" algn="ctr">
              <a:spcBef>
                <a:spcPts val="0"/>
              </a:spcBef>
              <a:spcAft>
                <a:spcPts val="0"/>
              </a:spcAft>
              <a:buNone/>
            </a:pPr>
            <a:r>
              <a:rPr lang="it"/>
              <a:t>(C-protonated)</a:t>
            </a:r>
            <a:endParaRPr/>
          </a:p>
        </p:txBody>
      </p:sp>
      <p:sp>
        <p:nvSpPr>
          <p:cNvPr id="151" name="Google Shape;151;p21"/>
          <p:cNvSpPr txBox="1"/>
          <p:nvPr/>
        </p:nvSpPr>
        <p:spPr>
          <a:xfrm>
            <a:off x="4311565" y="2982091"/>
            <a:ext cx="5487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t>Ala</a:t>
            </a:r>
            <a:endParaRPr/>
          </a:p>
        </p:txBody>
      </p:sp>
      <p:sp>
        <p:nvSpPr>
          <p:cNvPr id="152" name="Google Shape;152;p21"/>
          <p:cNvSpPr txBox="1"/>
          <p:nvPr/>
        </p:nvSpPr>
        <p:spPr>
          <a:xfrm>
            <a:off x="4640475" y="2972775"/>
            <a:ext cx="14151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t>Gly</a:t>
            </a:r>
            <a:endParaRPr sz="1500"/>
          </a:p>
          <a:p>
            <a:pPr indent="0" lvl="0" marL="0" rtl="0" algn="ctr">
              <a:spcBef>
                <a:spcPts val="0"/>
              </a:spcBef>
              <a:spcAft>
                <a:spcPts val="0"/>
              </a:spcAft>
              <a:buNone/>
            </a:pPr>
            <a:r>
              <a:rPr lang="it"/>
              <a:t>(N-protonated)</a:t>
            </a:r>
            <a:endParaRPr/>
          </a:p>
        </p:txBody>
      </p:sp>
      <p:sp>
        <p:nvSpPr>
          <p:cNvPr id="153" name="Google Shape;153;p21"/>
          <p:cNvSpPr/>
          <p:nvPr/>
        </p:nvSpPr>
        <p:spPr>
          <a:xfrm>
            <a:off x="973348" y="4039200"/>
            <a:ext cx="7197300" cy="393600"/>
          </a:xfrm>
          <a:prstGeom prst="roundRect">
            <a:avLst>
              <a:gd fmla="val 16667" name="adj"/>
            </a:avLst>
          </a:prstGeom>
          <a:solidFill>
            <a:srgbClr val="E6B8AF">
              <a:alpha val="25910"/>
            </a:srgbClr>
          </a:solidFill>
          <a:ln cap="flat" cmpd="sng" w="9525">
            <a:solidFill>
              <a:srgbClr val="9900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300"/>
          </a:p>
        </p:txBody>
      </p:sp>
      <p:sp>
        <p:nvSpPr>
          <p:cNvPr id="154" name="Google Shape;154;p21"/>
          <p:cNvSpPr txBox="1"/>
          <p:nvPr/>
        </p:nvSpPr>
        <p:spPr>
          <a:xfrm>
            <a:off x="828900" y="4028250"/>
            <a:ext cx="7486200" cy="415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lang="it" sz="1600"/>
              <a:t>How many stable conformational states can such a small peptide have?</a:t>
            </a:r>
            <a:endParaRPr b="1"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What can we learn from hydrated MD simulations?</a:t>
            </a:r>
            <a:endParaRPr sz="2500">
              <a:latin typeface="Montserrat SemiBold"/>
              <a:ea typeface="Montserrat SemiBold"/>
              <a:cs typeface="Montserrat SemiBold"/>
              <a:sym typeface="Montserrat SemiBold"/>
            </a:endParaRPr>
          </a:p>
        </p:txBody>
      </p:sp>
      <p:sp>
        <p:nvSpPr>
          <p:cNvPr id="160" name="Google Shape;160;p22"/>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62" name="Google Shape;162;p22" title="beta-h.jpg"/>
          <p:cNvPicPr preferRelativeResize="0"/>
          <p:nvPr/>
        </p:nvPicPr>
        <p:blipFill rotWithShape="1">
          <a:blip r:embed="rId3">
            <a:alphaModFix/>
          </a:blip>
          <a:srcRect b="32027" l="10588" r="8897" t="29691"/>
          <a:stretch/>
        </p:blipFill>
        <p:spPr>
          <a:xfrm>
            <a:off x="3269690" y="1539516"/>
            <a:ext cx="2642227" cy="1256361"/>
          </a:xfrm>
          <a:prstGeom prst="rect">
            <a:avLst/>
          </a:prstGeom>
          <a:noFill/>
          <a:ln>
            <a:noFill/>
          </a:ln>
        </p:spPr>
      </p:pic>
      <p:sp>
        <p:nvSpPr>
          <p:cNvPr id="163" name="Google Shape;163;p22"/>
          <p:cNvSpPr/>
          <p:nvPr/>
        </p:nvSpPr>
        <p:spPr>
          <a:xfrm rot="-5400000">
            <a:off x="3648225" y="2410375"/>
            <a:ext cx="295500" cy="886800"/>
          </a:xfrm>
          <a:prstGeom prst="leftBrace">
            <a:avLst>
              <a:gd fmla="val 75025"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22"/>
          <p:cNvSpPr/>
          <p:nvPr/>
        </p:nvSpPr>
        <p:spPr>
          <a:xfrm rot="-5400000">
            <a:off x="4423875" y="2512525"/>
            <a:ext cx="304500" cy="673500"/>
          </a:xfrm>
          <a:prstGeom prst="leftBrace">
            <a:avLst>
              <a:gd fmla="val 75025"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2"/>
          <p:cNvSpPr/>
          <p:nvPr/>
        </p:nvSpPr>
        <p:spPr>
          <a:xfrm rot="-5400000">
            <a:off x="5195775" y="2418625"/>
            <a:ext cx="304500" cy="870300"/>
          </a:xfrm>
          <a:prstGeom prst="leftBrace">
            <a:avLst>
              <a:gd fmla="val 75025"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22"/>
          <p:cNvSpPr txBox="1"/>
          <p:nvPr/>
        </p:nvSpPr>
        <p:spPr>
          <a:xfrm>
            <a:off x="3088425" y="2972775"/>
            <a:ext cx="14151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t>Gly</a:t>
            </a:r>
            <a:endParaRPr sz="1500"/>
          </a:p>
          <a:p>
            <a:pPr indent="0" lvl="0" marL="0" rtl="0" algn="ctr">
              <a:spcBef>
                <a:spcPts val="0"/>
              </a:spcBef>
              <a:spcAft>
                <a:spcPts val="0"/>
              </a:spcAft>
              <a:buNone/>
            </a:pPr>
            <a:r>
              <a:rPr lang="it"/>
              <a:t>(C-protonated)</a:t>
            </a:r>
            <a:endParaRPr/>
          </a:p>
        </p:txBody>
      </p:sp>
      <p:sp>
        <p:nvSpPr>
          <p:cNvPr id="167" name="Google Shape;167;p22"/>
          <p:cNvSpPr txBox="1"/>
          <p:nvPr/>
        </p:nvSpPr>
        <p:spPr>
          <a:xfrm>
            <a:off x="4311565" y="2982091"/>
            <a:ext cx="5487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t>Ala</a:t>
            </a:r>
            <a:endParaRPr/>
          </a:p>
        </p:txBody>
      </p:sp>
      <p:sp>
        <p:nvSpPr>
          <p:cNvPr id="168" name="Google Shape;168;p22"/>
          <p:cNvSpPr txBox="1"/>
          <p:nvPr/>
        </p:nvSpPr>
        <p:spPr>
          <a:xfrm>
            <a:off x="4640475" y="2972775"/>
            <a:ext cx="14151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t>Gly</a:t>
            </a:r>
            <a:endParaRPr sz="1500"/>
          </a:p>
          <a:p>
            <a:pPr indent="0" lvl="0" marL="0" rtl="0" algn="ctr">
              <a:spcBef>
                <a:spcPts val="0"/>
              </a:spcBef>
              <a:spcAft>
                <a:spcPts val="0"/>
              </a:spcAft>
              <a:buNone/>
            </a:pPr>
            <a:r>
              <a:rPr lang="it"/>
              <a:t>(N-protonated)</a:t>
            </a:r>
            <a:endParaRPr/>
          </a:p>
        </p:txBody>
      </p:sp>
      <p:sp>
        <p:nvSpPr>
          <p:cNvPr id="169" name="Google Shape;169;p22"/>
          <p:cNvSpPr txBox="1"/>
          <p:nvPr/>
        </p:nvSpPr>
        <p:spPr>
          <a:xfrm>
            <a:off x="835650" y="4016725"/>
            <a:ext cx="7472700" cy="681000"/>
          </a:xfrm>
          <a:prstGeom prst="rect">
            <a:avLst/>
          </a:prstGeom>
          <a:noFill/>
          <a:ln>
            <a:noFill/>
          </a:ln>
        </p:spPr>
        <p:txBody>
          <a:bodyPr anchorCtr="0" anchor="t" bIns="91425" lIns="91425" spcFirstLastPara="1" rIns="91425" wrap="square" tIns="91425">
            <a:spAutoFit/>
          </a:bodyPr>
          <a:lstStyle/>
          <a:p>
            <a:pPr indent="-323850" lvl="0" marL="457200" rtl="0" algn="just">
              <a:lnSpc>
                <a:spcPct val="115000"/>
              </a:lnSpc>
              <a:spcBef>
                <a:spcPts val="0"/>
              </a:spcBef>
              <a:spcAft>
                <a:spcPts val="0"/>
              </a:spcAft>
              <a:buSzPts val="1500"/>
              <a:buChar char="●"/>
            </a:pPr>
            <a:r>
              <a:rPr lang="it" sz="1500"/>
              <a:t>Even a peptide this small has multiple stable conformational states</a:t>
            </a:r>
            <a:endParaRPr sz="1500"/>
          </a:p>
          <a:p>
            <a:pPr indent="-323850" lvl="0" marL="457200" rtl="0" algn="just">
              <a:lnSpc>
                <a:spcPct val="115000"/>
              </a:lnSpc>
              <a:spcBef>
                <a:spcPts val="0"/>
              </a:spcBef>
              <a:spcAft>
                <a:spcPts val="0"/>
              </a:spcAft>
              <a:buSzPts val="1500"/>
              <a:buChar char="●"/>
            </a:pPr>
            <a:r>
              <a:rPr lang="it" sz="1500"/>
              <a:t>Conformational landscape is affected by factors as hydration and temperature</a:t>
            </a:r>
            <a:endParaRPr sz="1500"/>
          </a:p>
        </p:txBody>
      </p:sp>
      <p:sp>
        <p:nvSpPr>
          <p:cNvPr id="170" name="Google Shape;170;p22"/>
          <p:cNvSpPr txBox="1"/>
          <p:nvPr/>
        </p:nvSpPr>
        <p:spPr>
          <a:xfrm>
            <a:off x="1451250" y="942750"/>
            <a:ext cx="6241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600"/>
              <a:t>Example: MD simulations of small solvated peptides (GAG</a:t>
            </a:r>
            <a:r>
              <a:rPr baseline="30000" lang="it" sz="1600"/>
              <a:t>+</a:t>
            </a:r>
            <a:r>
              <a:rPr lang="it" sz="1600"/>
              <a:t>)</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3"/>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GAG</a:t>
            </a:r>
            <a:r>
              <a:rPr baseline="30000" lang="it" sz="2500">
                <a:latin typeface="Montserrat SemiBold"/>
                <a:ea typeface="Montserrat SemiBold"/>
                <a:cs typeface="Montserrat SemiBold"/>
                <a:sym typeface="Montserrat SemiBold"/>
              </a:rPr>
              <a:t>+</a:t>
            </a:r>
            <a:r>
              <a:rPr lang="it" sz="2500">
                <a:latin typeface="Montserrat SemiBold"/>
                <a:ea typeface="Montserrat SemiBold"/>
                <a:cs typeface="Montserrat SemiBold"/>
                <a:sym typeface="Montserrat SemiBold"/>
              </a:rPr>
              <a:t> in aqueous environment</a:t>
            </a:r>
            <a:endParaRPr sz="2500">
              <a:latin typeface="Montserrat SemiBold"/>
              <a:ea typeface="Montserrat SemiBold"/>
              <a:cs typeface="Montserrat SemiBold"/>
              <a:sym typeface="Montserrat SemiBold"/>
            </a:endParaRPr>
          </a:p>
        </p:txBody>
      </p:sp>
      <p:sp>
        <p:nvSpPr>
          <p:cNvPr id="176" name="Google Shape;176;p23"/>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78" name="Google Shape;178;p23"/>
          <p:cNvSpPr txBox="1"/>
          <p:nvPr/>
        </p:nvSpPr>
        <p:spPr>
          <a:xfrm>
            <a:off x="1436700" y="825886"/>
            <a:ext cx="6270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600"/>
              <a:t>Two </a:t>
            </a:r>
            <a:r>
              <a:rPr b="1" lang="it" sz="1600"/>
              <a:t>main</a:t>
            </a:r>
            <a:r>
              <a:rPr lang="it" sz="1600"/>
              <a:t> populations of GAG</a:t>
            </a:r>
            <a:r>
              <a:rPr baseline="30000" lang="it" sz="1600"/>
              <a:t>+</a:t>
            </a:r>
            <a:r>
              <a:rPr lang="it" sz="1600"/>
              <a:t>: pPII- and </a:t>
            </a:r>
            <a:r>
              <a:rPr lang="it" sz="1500">
                <a:solidFill>
                  <a:schemeClr val="dk1"/>
                </a:solidFill>
              </a:rPr>
              <a:t>β-like</a:t>
            </a:r>
            <a:r>
              <a:rPr lang="it" sz="1600"/>
              <a:t> conformations</a:t>
            </a:r>
            <a:endParaRPr sz="1600"/>
          </a:p>
        </p:txBody>
      </p:sp>
      <p:pic>
        <p:nvPicPr>
          <p:cNvPr id="179" name="Google Shape;179;p23" title="rama_plot.png"/>
          <p:cNvPicPr preferRelativeResize="0"/>
          <p:nvPr/>
        </p:nvPicPr>
        <p:blipFill>
          <a:blip r:embed="rId3">
            <a:alphaModFix/>
          </a:blip>
          <a:stretch>
            <a:fillRect/>
          </a:stretch>
        </p:blipFill>
        <p:spPr>
          <a:xfrm>
            <a:off x="634475" y="1274050"/>
            <a:ext cx="3630976" cy="3630976"/>
          </a:xfrm>
          <a:prstGeom prst="rect">
            <a:avLst/>
          </a:prstGeom>
          <a:noFill/>
          <a:ln>
            <a:noFill/>
          </a:ln>
        </p:spPr>
      </p:pic>
      <p:pic>
        <p:nvPicPr>
          <p:cNvPr id="180" name="Google Shape;180;p23"/>
          <p:cNvPicPr preferRelativeResize="0"/>
          <p:nvPr/>
        </p:nvPicPr>
        <p:blipFill>
          <a:blip r:embed="rId4">
            <a:alphaModFix/>
          </a:blip>
          <a:stretch>
            <a:fillRect/>
          </a:stretch>
        </p:blipFill>
        <p:spPr>
          <a:xfrm>
            <a:off x="4999150" y="1339945"/>
            <a:ext cx="2962374" cy="2445337"/>
          </a:xfrm>
          <a:prstGeom prst="rect">
            <a:avLst/>
          </a:prstGeom>
          <a:noFill/>
          <a:ln>
            <a:noFill/>
          </a:ln>
        </p:spPr>
      </p:pic>
      <p:sp>
        <p:nvSpPr>
          <p:cNvPr id="181" name="Google Shape;181;p23"/>
          <p:cNvSpPr txBox="1"/>
          <p:nvPr/>
        </p:nvSpPr>
        <p:spPr>
          <a:xfrm>
            <a:off x="4451125" y="3958525"/>
            <a:ext cx="4058400" cy="946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it" sz="1500"/>
              <a:t>Ramachandran plot visualizes the backbone dihedral angles for amino acid residues.</a:t>
            </a:r>
            <a:endParaRPr sz="1500"/>
          </a:p>
          <a:p>
            <a:pPr indent="0" lvl="0" marL="0" rtl="0" algn="ctr">
              <a:lnSpc>
                <a:spcPct val="115000"/>
              </a:lnSpc>
              <a:spcBef>
                <a:spcPts val="0"/>
              </a:spcBef>
              <a:spcAft>
                <a:spcPts val="0"/>
              </a:spcAft>
              <a:buNone/>
            </a:pPr>
            <a:r>
              <a:rPr lang="it" sz="1500"/>
              <a:t>backbone angles ↔ secondary structure</a:t>
            </a:r>
            <a:endParaRPr sz="1500"/>
          </a:p>
        </p:txBody>
      </p:sp>
      <p:sp>
        <p:nvSpPr>
          <p:cNvPr id="182" name="Google Shape;182;p23"/>
          <p:cNvSpPr txBox="1"/>
          <p:nvPr/>
        </p:nvSpPr>
        <p:spPr>
          <a:xfrm>
            <a:off x="1118193" y="1816422"/>
            <a:ext cx="10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solidFill>
                  <a:srgbClr val="FF0000"/>
                </a:solidFill>
              </a:rPr>
              <a:t>β-sheet</a:t>
            </a:r>
            <a:endParaRPr b="1">
              <a:solidFill>
                <a:srgbClr val="FF0000"/>
              </a:solidFill>
            </a:endParaRPr>
          </a:p>
        </p:txBody>
      </p:sp>
      <p:sp>
        <p:nvSpPr>
          <p:cNvPr id="183" name="Google Shape;183;p23"/>
          <p:cNvSpPr txBox="1"/>
          <p:nvPr/>
        </p:nvSpPr>
        <p:spPr>
          <a:xfrm>
            <a:off x="2022575" y="1449646"/>
            <a:ext cx="688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solidFill>
                  <a:srgbClr val="FF0000"/>
                </a:solidFill>
              </a:rPr>
              <a:t>pPII</a:t>
            </a:r>
            <a:endParaRPr b="1">
              <a:solidFill>
                <a:srgbClr val="FF0000"/>
              </a:solidFill>
            </a:endParaRPr>
          </a:p>
        </p:txBody>
      </p:sp>
      <p:sp>
        <p:nvSpPr>
          <p:cNvPr id="184" name="Google Shape;184;p23"/>
          <p:cNvSpPr txBox="1"/>
          <p:nvPr/>
        </p:nvSpPr>
        <p:spPr>
          <a:xfrm>
            <a:off x="1618258" y="3280480"/>
            <a:ext cx="10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solidFill>
                  <a:srgbClr val="FF0000"/>
                </a:solidFill>
              </a:rPr>
              <a:t>RH ɑ-helix</a:t>
            </a:r>
            <a:endParaRPr b="1">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4"/>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GAG</a:t>
            </a:r>
            <a:r>
              <a:rPr baseline="30000" lang="it" sz="2500">
                <a:latin typeface="Montserrat SemiBold"/>
                <a:ea typeface="Montserrat SemiBold"/>
                <a:cs typeface="Montserrat SemiBold"/>
                <a:sym typeface="Montserrat SemiBold"/>
              </a:rPr>
              <a:t>+</a:t>
            </a:r>
            <a:r>
              <a:rPr lang="it" sz="2500">
                <a:latin typeface="Montserrat SemiBold"/>
                <a:ea typeface="Montserrat SemiBold"/>
                <a:cs typeface="Montserrat SemiBold"/>
                <a:sym typeface="Montserrat SemiBold"/>
              </a:rPr>
              <a:t> in aqueous environment</a:t>
            </a:r>
            <a:endParaRPr sz="2500">
              <a:latin typeface="Montserrat SemiBold"/>
              <a:ea typeface="Montserrat SemiBold"/>
              <a:cs typeface="Montserrat SemiBold"/>
              <a:sym typeface="Montserrat SemiBold"/>
            </a:endParaRPr>
          </a:p>
        </p:txBody>
      </p:sp>
      <p:sp>
        <p:nvSpPr>
          <p:cNvPr id="190" name="Google Shape;190;p24"/>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92" name="Google Shape;192;p24"/>
          <p:cNvSpPr txBox="1"/>
          <p:nvPr/>
        </p:nvSpPr>
        <p:spPr>
          <a:xfrm>
            <a:off x="4531825" y="1515913"/>
            <a:ext cx="4087500" cy="681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500"/>
              <a:t>pPII-like conformers are favoured at lower T, </a:t>
            </a:r>
            <a:endParaRPr sz="1500"/>
          </a:p>
          <a:p>
            <a:pPr indent="0" lvl="0" marL="0" rtl="0" algn="ctr">
              <a:lnSpc>
                <a:spcPct val="115000"/>
              </a:lnSpc>
              <a:spcBef>
                <a:spcPts val="0"/>
              </a:spcBef>
              <a:spcAft>
                <a:spcPts val="0"/>
              </a:spcAft>
              <a:buNone/>
            </a:pPr>
            <a:r>
              <a:rPr lang="it" sz="1500"/>
              <a:t>while </a:t>
            </a:r>
            <a:r>
              <a:rPr lang="it" sz="1500">
                <a:solidFill>
                  <a:schemeClr val="dk1"/>
                </a:solidFill>
              </a:rPr>
              <a:t>β-like </a:t>
            </a:r>
            <a:r>
              <a:rPr lang="it" sz="1500"/>
              <a:t>conformers </a:t>
            </a:r>
            <a:r>
              <a:rPr lang="it" sz="1500">
                <a:solidFill>
                  <a:schemeClr val="dk1"/>
                </a:solidFill>
              </a:rPr>
              <a:t>at higher T</a:t>
            </a:r>
            <a:endParaRPr sz="1500"/>
          </a:p>
        </p:txBody>
      </p:sp>
      <p:sp>
        <p:nvSpPr>
          <p:cNvPr id="193" name="Google Shape;193;p24"/>
          <p:cNvSpPr/>
          <p:nvPr/>
        </p:nvSpPr>
        <p:spPr>
          <a:xfrm>
            <a:off x="5046275" y="2455851"/>
            <a:ext cx="3022800" cy="393600"/>
          </a:xfrm>
          <a:prstGeom prst="roundRect">
            <a:avLst>
              <a:gd fmla="val 16667" name="adj"/>
            </a:avLst>
          </a:prstGeom>
          <a:solidFill>
            <a:srgbClr val="E6B8AF">
              <a:alpha val="25910"/>
            </a:srgbClr>
          </a:solidFill>
          <a:ln cap="flat" cmpd="sng" w="9525">
            <a:solidFill>
              <a:srgbClr val="9900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300"/>
          </a:p>
        </p:txBody>
      </p:sp>
      <p:sp>
        <p:nvSpPr>
          <p:cNvPr id="194" name="Google Shape;194;p24"/>
          <p:cNvSpPr txBox="1"/>
          <p:nvPr/>
        </p:nvSpPr>
        <p:spPr>
          <a:xfrm>
            <a:off x="5058200" y="2439130"/>
            <a:ext cx="30228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lang="it" sz="1600"/>
              <a:t>How did we understand that?</a:t>
            </a:r>
            <a:endParaRPr b="1" sz="1600"/>
          </a:p>
        </p:txBody>
      </p:sp>
      <p:cxnSp>
        <p:nvCxnSpPr>
          <p:cNvPr id="195" name="Google Shape;195;p24"/>
          <p:cNvCxnSpPr/>
          <p:nvPr/>
        </p:nvCxnSpPr>
        <p:spPr>
          <a:xfrm>
            <a:off x="6575574" y="2970371"/>
            <a:ext cx="0" cy="640500"/>
          </a:xfrm>
          <a:prstGeom prst="straightConnector1">
            <a:avLst/>
          </a:prstGeom>
          <a:noFill/>
          <a:ln cap="flat" cmpd="sng" w="9525">
            <a:solidFill>
              <a:schemeClr val="dk1"/>
            </a:solidFill>
            <a:prstDash val="solid"/>
            <a:round/>
            <a:headEnd len="med" w="med" type="none"/>
            <a:tailEnd len="med" w="med" type="triangle"/>
          </a:ln>
        </p:spPr>
      </p:cxnSp>
      <p:sp>
        <p:nvSpPr>
          <p:cNvPr id="196" name="Google Shape;196;p24"/>
          <p:cNvSpPr/>
          <p:nvPr/>
        </p:nvSpPr>
        <p:spPr>
          <a:xfrm>
            <a:off x="5627500" y="3731800"/>
            <a:ext cx="1872300" cy="681000"/>
          </a:xfrm>
          <a:prstGeom prst="roundRect">
            <a:avLst>
              <a:gd fmla="val 16667" name="adj"/>
            </a:avLst>
          </a:prstGeom>
          <a:solidFill>
            <a:srgbClr val="98C087">
              <a:alpha val="30000"/>
            </a:srgbClr>
          </a:solidFill>
          <a:ln cap="flat" cmpd="sng" w="9525">
            <a:solidFill>
              <a:srgbClr val="188038"/>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300"/>
          </a:p>
        </p:txBody>
      </p:sp>
      <p:sp>
        <p:nvSpPr>
          <p:cNvPr id="197" name="Google Shape;197;p24"/>
          <p:cNvSpPr txBox="1"/>
          <p:nvPr/>
        </p:nvSpPr>
        <p:spPr>
          <a:xfrm>
            <a:off x="5489275" y="3731793"/>
            <a:ext cx="2172600" cy="640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lang="it" sz="1600"/>
              <a:t>Starting with MD simulations!</a:t>
            </a:r>
            <a:endParaRPr b="1" sz="1600"/>
          </a:p>
        </p:txBody>
      </p:sp>
      <p:pic>
        <p:nvPicPr>
          <p:cNvPr id="198" name="Google Shape;198;p24" title="rama_plot.png"/>
          <p:cNvPicPr preferRelativeResize="0"/>
          <p:nvPr/>
        </p:nvPicPr>
        <p:blipFill>
          <a:blip r:embed="rId3">
            <a:alphaModFix/>
          </a:blip>
          <a:stretch>
            <a:fillRect/>
          </a:stretch>
        </p:blipFill>
        <p:spPr>
          <a:xfrm>
            <a:off x="633350" y="1274050"/>
            <a:ext cx="3630976" cy="3630976"/>
          </a:xfrm>
          <a:prstGeom prst="rect">
            <a:avLst/>
          </a:prstGeom>
          <a:noFill/>
          <a:ln>
            <a:noFill/>
          </a:ln>
        </p:spPr>
      </p:pic>
      <p:sp>
        <p:nvSpPr>
          <p:cNvPr id="199" name="Google Shape;199;p24"/>
          <p:cNvSpPr txBox="1"/>
          <p:nvPr/>
        </p:nvSpPr>
        <p:spPr>
          <a:xfrm>
            <a:off x="1117068" y="1816422"/>
            <a:ext cx="10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solidFill>
                  <a:srgbClr val="FF0000"/>
                </a:solidFill>
              </a:rPr>
              <a:t>β-sheet</a:t>
            </a:r>
            <a:endParaRPr b="1">
              <a:solidFill>
                <a:srgbClr val="FF0000"/>
              </a:solidFill>
            </a:endParaRPr>
          </a:p>
        </p:txBody>
      </p:sp>
      <p:sp>
        <p:nvSpPr>
          <p:cNvPr id="200" name="Google Shape;200;p24"/>
          <p:cNvSpPr txBox="1"/>
          <p:nvPr/>
        </p:nvSpPr>
        <p:spPr>
          <a:xfrm>
            <a:off x="2021450" y="1449646"/>
            <a:ext cx="688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solidFill>
                  <a:srgbClr val="FF0000"/>
                </a:solidFill>
              </a:rPr>
              <a:t>pPII</a:t>
            </a:r>
            <a:endParaRPr b="1">
              <a:solidFill>
                <a:srgbClr val="FF0000"/>
              </a:solidFill>
            </a:endParaRPr>
          </a:p>
        </p:txBody>
      </p:sp>
      <p:sp>
        <p:nvSpPr>
          <p:cNvPr id="201" name="Google Shape;201;p24"/>
          <p:cNvSpPr txBox="1"/>
          <p:nvPr/>
        </p:nvSpPr>
        <p:spPr>
          <a:xfrm>
            <a:off x="1617133" y="3280480"/>
            <a:ext cx="1075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a:solidFill>
                  <a:srgbClr val="FF0000"/>
                </a:solidFill>
              </a:rPr>
              <a:t>RH ɑ-helix</a:t>
            </a:r>
            <a:endParaRPr b="1">
              <a:solidFill>
                <a:srgbClr val="FF0000"/>
              </a:solidFill>
            </a:endParaRPr>
          </a:p>
        </p:txBody>
      </p:sp>
      <p:sp>
        <p:nvSpPr>
          <p:cNvPr id="202" name="Google Shape;202;p24"/>
          <p:cNvSpPr txBox="1"/>
          <p:nvPr/>
        </p:nvSpPr>
        <p:spPr>
          <a:xfrm>
            <a:off x="1436700" y="825886"/>
            <a:ext cx="6270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600"/>
              <a:t>Two </a:t>
            </a:r>
            <a:r>
              <a:rPr b="1" lang="it" sz="1600"/>
              <a:t>main</a:t>
            </a:r>
            <a:r>
              <a:rPr lang="it" sz="1600"/>
              <a:t> populations of GAG</a:t>
            </a:r>
            <a:r>
              <a:rPr baseline="30000" lang="it" sz="1600"/>
              <a:t>+</a:t>
            </a:r>
            <a:r>
              <a:rPr lang="it" sz="1600"/>
              <a:t>: pPII- and </a:t>
            </a:r>
            <a:r>
              <a:rPr lang="it" sz="1500">
                <a:solidFill>
                  <a:schemeClr val="dk1"/>
                </a:solidFill>
              </a:rPr>
              <a:t>β-like</a:t>
            </a:r>
            <a:r>
              <a:rPr lang="it" sz="1600"/>
              <a:t> conformations</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GAG</a:t>
            </a:r>
            <a:r>
              <a:rPr baseline="30000" lang="it" sz="2500">
                <a:latin typeface="Montserrat SemiBold"/>
                <a:ea typeface="Montserrat SemiBold"/>
                <a:cs typeface="Montserrat SemiBold"/>
                <a:sym typeface="Montserrat SemiBold"/>
              </a:rPr>
              <a:t>+</a:t>
            </a:r>
            <a:r>
              <a:rPr lang="it" sz="2500">
                <a:latin typeface="Montserrat SemiBold"/>
                <a:ea typeface="Montserrat SemiBold"/>
                <a:cs typeface="Montserrat SemiBold"/>
                <a:sym typeface="Montserrat SemiBold"/>
              </a:rPr>
              <a:t> in aqueous environment</a:t>
            </a:r>
            <a:endParaRPr sz="2500">
              <a:latin typeface="Montserrat SemiBold"/>
              <a:ea typeface="Montserrat SemiBold"/>
              <a:cs typeface="Montserrat SemiBold"/>
              <a:sym typeface="Montserrat SemiBold"/>
            </a:endParaRPr>
          </a:p>
        </p:txBody>
      </p:sp>
      <p:sp>
        <p:nvSpPr>
          <p:cNvPr id="208" name="Google Shape;208;p25"/>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10" name="Google Shape;210;p25"/>
          <p:cNvSpPr txBox="1"/>
          <p:nvPr/>
        </p:nvSpPr>
        <p:spPr>
          <a:xfrm>
            <a:off x="1837800" y="943813"/>
            <a:ext cx="54684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600"/>
              <a:t>There have been a few studies on G-x-G tripeptides</a:t>
            </a:r>
            <a:endParaRPr sz="1600"/>
          </a:p>
        </p:txBody>
      </p:sp>
      <p:pic>
        <p:nvPicPr>
          <p:cNvPr id="211" name="Google Shape;211;p25" title="Screenshot 2026-09-09 at 22.26.38.png"/>
          <p:cNvPicPr preferRelativeResize="0"/>
          <p:nvPr/>
        </p:nvPicPr>
        <p:blipFill rotWithShape="1">
          <a:blip r:embed="rId3">
            <a:alphaModFix/>
          </a:blip>
          <a:srcRect b="39447" l="24137" r="27170" t="32086"/>
          <a:stretch/>
        </p:blipFill>
        <p:spPr>
          <a:xfrm>
            <a:off x="5215750" y="1541666"/>
            <a:ext cx="3616548" cy="1373172"/>
          </a:xfrm>
          <a:prstGeom prst="rect">
            <a:avLst/>
          </a:prstGeom>
          <a:noFill/>
          <a:ln cap="flat" cmpd="sng" w="9525">
            <a:solidFill>
              <a:schemeClr val="dk2"/>
            </a:solidFill>
            <a:prstDash val="solid"/>
            <a:round/>
            <a:headEnd len="sm" w="sm" type="none"/>
            <a:tailEnd len="sm" w="sm" type="none"/>
          </a:ln>
        </p:spPr>
      </p:pic>
      <p:pic>
        <p:nvPicPr>
          <p:cNvPr id="212" name="Google Shape;212;p25" title="Screenshot 2026-09-09 at 23.15.52.png"/>
          <p:cNvPicPr preferRelativeResize="0"/>
          <p:nvPr/>
        </p:nvPicPr>
        <p:blipFill rotWithShape="1">
          <a:blip r:embed="rId4">
            <a:alphaModFix/>
          </a:blip>
          <a:srcRect b="27242" l="20085" r="36619" t="52037"/>
          <a:stretch/>
        </p:blipFill>
        <p:spPr>
          <a:xfrm>
            <a:off x="389485" y="2985913"/>
            <a:ext cx="4052838" cy="1259650"/>
          </a:xfrm>
          <a:prstGeom prst="rect">
            <a:avLst/>
          </a:prstGeom>
          <a:noFill/>
          <a:ln cap="flat" cmpd="sng" w="9525">
            <a:solidFill>
              <a:schemeClr val="dk2"/>
            </a:solidFill>
            <a:prstDash val="solid"/>
            <a:round/>
            <a:headEnd len="sm" w="sm" type="none"/>
            <a:tailEnd len="sm" w="sm" type="none"/>
          </a:ln>
        </p:spPr>
      </p:pic>
      <p:pic>
        <p:nvPicPr>
          <p:cNvPr id="213" name="Google Shape;213;p25" title="Screenshot 2026-09-09 at 23.36.35.png"/>
          <p:cNvPicPr preferRelativeResize="0"/>
          <p:nvPr/>
        </p:nvPicPr>
        <p:blipFill rotWithShape="1">
          <a:blip r:embed="rId5">
            <a:alphaModFix/>
          </a:blip>
          <a:srcRect b="42390" l="23404" r="29694" t="39092"/>
          <a:stretch/>
        </p:blipFill>
        <p:spPr>
          <a:xfrm>
            <a:off x="4897988" y="3206350"/>
            <a:ext cx="4052849" cy="1039205"/>
          </a:xfrm>
          <a:prstGeom prst="rect">
            <a:avLst/>
          </a:prstGeom>
          <a:noFill/>
          <a:ln cap="flat" cmpd="sng" w="9525">
            <a:solidFill>
              <a:schemeClr val="dk2"/>
            </a:solidFill>
            <a:prstDash val="solid"/>
            <a:round/>
            <a:headEnd len="sm" w="sm" type="none"/>
            <a:tailEnd len="sm" w="sm" type="none"/>
          </a:ln>
        </p:spPr>
      </p:pic>
      <p:pic>
        <p:nvPicPr>
          <p:cNvPr id="214" name="Google Shape;214;p25" title="Screenshot 2026-09-09 at 23.39.41.png"/>
          <p:cNvPicPr preferRelativeResize="0"/>
          <p:nvPr/>
        </p:nvPicPr>
        <p:blipFill rotWithShape="1">
          <a:blip r:embed="rId6">
            <a:alphaModFix/>
          </a:blip>
          <a:srcRect b="37454" l="19193" r="19075" t="40323"/>
          <a:stretch/>
        </p:blipFill>
        <p:spPr>
          <a:xfrm>
            <a:off x="193176" y="1688376"/>
            <a:ext cx="4619023" cy="1079751"/>
          </a:xfrm>
          <a:prstGeom prst="rect">
            <a:avLst/>
          </a:prstGeom>
          <a:noFill/>
          <a:ln cap="flat" cmpd="sng" w="9525">
            <a:solidFill>
              <a:schemeClr val="dk2"/>
            </a:solidFill>
            <a:prstDash val="solid"/>
            <a:round/>
            <a:headEnd len="sm" w="sm" type="none"/>
            <a:tailEnd len="sm" w="sm" type="none"/>
          </a:ln>
        </p:spPr>
      </p:pic>
      <p:sp>
        <p:nvSpPr>
          <p:cNvPr id="215" name="Google Shape;215;p25"/>
          <p:cNvSpPr txBox="1"/>
          <p:nvPr/>
        </p:nvSpPr>
        <p:spPr>
          <a:xfrm>
            <a:off x="1837800" y="4463338"/>
            <a:ext cx="54684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t>and many more that can’t fit the slide!</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GAG</a:t>
            </a:r>
            <a:r>
              <a:rPr baseline="30000" lang="it" sz="2500">
                <a:latin typeface="Montserrat SemiBold"/>
                <a:ea typeface="Montserrat SemiBold"/>
                <a:cs typeface="Montserrat SemiBold"/>
                <a:sym typeface="Montserrat SemiBold"/>
              </a:rPr>
              <a:t>+</a:t>
            </a:r>
            <a:r>
              <a:rPr lang="it" sz="2500">
                <a:latin typeface="Montserrat SemiBold"/>
                <a:ea typeface="Montserrat SemiBold"/>
                <a:cs typeface="Montserrat SemiBold"/>
                <a:sym typeface="Montserrat SemiBold"/>
              </a:rPr>
              <a:t> in aqueous environment</a:t>
            </a:r>
            <a:endParaRPr sz="2500">
              <a:latin typeface="Montserrat SemiBold"/>
              <a:ea typeface="Montserrat SemiBold"/>
              <a:cs typeface="Montserrat SemiBold"/>
              <a:sym typeface="Montserrat SemiBold"/>
            </a:endParaRPr>
          </a:p>
        </p:txBody>
      </p:sp>
      <p:sp>
        <p:nvSpPr>
          <p:cNvPr id="221" name="Google Shape;221;p26"/>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23" name="Google Shape;223;p26"/>
          <p:cNvSpPr txBox="1"/>
          <p:nvPr/>
        </p:nvSpPr>
        <p:spPr>
          <a:xfrm>
            <a:off x="208350" y="1690525"/>
            <a:ext cx="8727300" cy="2805300"/>
          </a:xfrm>
          <a:prstGeom prst="rect">
            <a:avLst/>
          </a:prstGeom>
          <a:noFill/>
          <a:ln>
            <a:noFill/>
          </a:ln>
        </p:spPr>
        <p:txBody>
          <a:bodyPr anchorCtr="0" anchor="t" bIns="91425" lIns="91425" spcFirstLastPara="1" rIns="91425" wrap="square" tIns="91425">
            <a:spAutoFit/>
          </a:bodyPr>
          <a:lstStyle/>
          <a:p>
            <a:pPr indent="-323850" lvl="0" marL="457200" rtl="0" algn="just">
              <a:lnSpc>
                <a:spcPct val="115000"/>
              </a:lnSpc>
              <a:spcBef>
                <a:spcPts val="0"/>
              </a:spcBef>
              <a:spcAft>
                <a:spcPts val="0"/>
              </a:spcAft>
              <a:buClr>
                <a:schemeClr val="dk1"/>
              </a:buClr>
              <a:buSzPts val="1500"/>
              <a:buChar char="●"/>
            </a:pPr>
            <a:r>
              <a:rPr lang="it" sz="1500">
                <a:solidFill>
                  <a:schemeClr val="dk1"/>
                </a:solidFill>
              </a:rPr>
              <a:t>Small GxG peptides allow us to probe the </a:t>
            </a:r>
            <a:r>
              <a:rPr b="1" lang="it" sz="1500">
                <a:solidFill>
                  <a:schemeClr val="dk1"/>
                </a:solidFill>
              </a:rPr>
              <a:t>intrinsic conformational preference of a residue</a:t>
            </a:r>
            <a:r>
              <a:rPr lang="it" sz="1500">
                <a:solidFill>
                  <a:schemeClr val="dk1"/>
                </a:solidFill>
              </a:rPr>
              <a:t> with minimal influence from tertiary structure.</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These intrinsic preferences help us understand the </a:t>
            </a:r>
            <a:r>
              <a:rPr b="1" lang="it" sz="1500">
                <a:solidFill>
                  <a:schemeClr val="dk1"/>
                </a:solidFill>
              </a:rPr>
              <a:t>starting ensemble for protein folding</a:t>
            </a:r>
            <a:r>
              <a:rPr lang="it" sz="1500">
                <a:solidFill>
                  <a:schemeClr val="dk1"/>
                </a:solidFill>
              </a:rPr>
              <a:t> and the behavior of intrinsically disordered regions.</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Their conformational populations are strongly influenced by </a:t>
            </a:r>
            <a:r>
              <a:rPr b="1" lang="it" sz="1500">
                <a:solidFill>
                  <a:schemeClr val="dk1"/>
                </a:solidFill>
              </a:rPr>
              <a:t>hydration, temperature and side-chain chemistry</a:t>
            </a:r>
            <a:r>
              <a:rPr lang="it" sz="1500">
                <a:solidFill>
                  <a:schemeClr val="dk1"/>
                </a:solidFill>
              </a:rPr>
              <a:t>.</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Experimental measurements usually provide </a:t>
            </a:r>
            <a:r>
              <a:rPr b="1" lang="it" sz="1500">
                <a:solidFill>
                  <a:schemeClr val="dk1"/>
                </a:solidFill>
              </a:rPr>
              <a:t>ensemble-averaged observables</a:t>
            </a:r>
            <a:r>
              <a:rPr lang="it" sz="1500">
                <a:solidFill>
                  <a:schemeClr val="dk1"/>
                </a:solidFill>
              </a:rPr>
              <a:t>; MD helps resolve the individual conformational states underlying those averages.</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Because extensive spectroscopic data exist, GxG peptides are also excellent </a:t>
            </a:r>
            <a:r>
              <a:rPr b="1" lang="it" sz="1500">
                <a:solidFill>
                  <a:schemeClr val="dk1"/>
                </a:solidFill>
              </a:rPr>
              <a:t>benchmarks for force fields and water models</a:t>
            </a:r>
            <a:r>
              <a:rPr lang="it" sz="1500">
                <a:solidFill>
                  <a:schemeClr val="dk1"/>
                </a:solidFill>
              </a:rPr>
              <a:t>.</a:t>
            </a:r>
            <a:endParaRPr sz="1500">
              <a:solidFill>
                <a:schemeClr val="dk1"/>
              </a:solidFill>
            </a:endParaRPr>
          </a:p>
        </p:txBody>
      </p:sp>
      <p:sp>
        <p:nvSpPr>
          <p:cNvPr id="224" name="Google Shape;224;p26"/>
          <p:cNvSpPr/>
          <p:nvPr/>
        </p:nvSpPr>
        <p:spPr>
          <a:xfrm>
            <a:off x="1492350" y="1021075"/>
            <a:ext cx="6159300" cy="432300"/>
          </a:xfrm>
          <a:prstGeom prst="roundRect">
            <a:avLst>
              <a:gd fmla="val 16667" name="adj"/>
            </a:avLst>
          </a:prstGeom>
          <a:solidFill>
            <a:srgbClr val="E6B8AF">
              <a:alpha val="25910"/>
            </a:srgbClr>
          </a:solidFill>
          <a:ln cap="flat" cmpd="sng" w="9525">
            <a:solidFill>
              <a:srgbClr val="9900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300"/>
          </a:p>
        </p:txBody>
      </p:sp>
      <p:sp>
        <p:nvSpPr>
          <p:cNvPr id="225" name="Google Shape;225;p26"/>
          <p:cNvSpPr txBox="1"/>
          <p:nvPr/>
        </p:nvSpPr>
        <p:spPr>
          <a:xfrm>
            <a:off x="1555975" y="1014188"/>
            <a:ext cx="6079800" cy="432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lang="it" sz="1600"/>
              <a:t>Why study the conformational landscape of these peptides?</a:t>
            </a:r>
            <a:endParaRPr b="1"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7"/>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GAG</a:t>
            </a:r>
            <a:r>
              <a:rPr baseline="30000" lang="it" sz="2500">
                <a:latin typeface="Montserrat SemiBold"/>
                <a:ea typeface="Montserrat SemiBold"/>
                <a:cs typeface="Montserrat SemiBold"/>
                <a:sym typeface="Montserrat SemiBold"/>
              </a:rPr>
              <a:t>+</a:t>
            </a:r>
            <a:r>
              <a:rPr lang="it" sz="2500">
                <a:latin typeface="Montserrat SemiBold"/>
                <a:ea typeface="Montserrat SemiBold"/>
                <a:cs typeface="Montserrat SemiBold"/>
                <a:sym typeface="Montserrat SemiBold"/>
              </a:rPr>
              <a:t> in aqueous environment</a:t>
            </a:r>
            <a:endParaRPr sz="2500">
              <a:latin typeface="Montserrat SemiBold"/>
              <a:ea typeface="Montserrat SemiBold"/>
              <a:cs typeface="Montserrat SemiBold"/>
              <a:sym typeface="Montserrat SemiBold"/>
            </a:endParaRPr>
          </a:p>
        </p:txBody>
      </p:sp>
      <p:sp>
        <p:nvSpPr>
          <p:cNvPr id="231" name="Google Shape;231;p27"/>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33" name="Google Shape;233;p27"/>
          <p:cNvSpPr/>
          <p:nvPr/>
        </p:nvSpPr>
        <p:spPr>
          <a:xfrm>
            <a:off x="2751149" y="965550"/>
            <a:ext cx="3587700" cy="393600"/>
          </a:xfrm>
          <a:prstGeom prst="roundRect">
            <a:avLst>
              <a:gd fmla="val 16667" name="adj"/>
            </a:avLst>
          </a:prstGeom>
          <a:solidFill>
            <a:srgbClr val="E6B8AF">
              <a:alpha val="25910"/>
            </a:srgbClr>
          </a:solidFill>
          <a:ln cap="flat" cmpd="sng" w="9525">
            <a:solidFill>
              <a:srgbClr val="990000"/>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300"/>
          </a:p>
        </p:txBody>
      </p:sp>
      <p:sp>
        <p:nvSpPr>
          <p:cNvPr id="234" name="Google Shape;234;p27"/>
          <p:cNvSpPr txBox="1"/>
          <p:nvPr/>
        </p:nvSpPr>
        <p:spPr>
          <a:xfrm>
            <a:off x="2659350" y="949663"/>
            <a:ext cx="38253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lang="it" sz="1600"/>
              <a:t>Why pPII at low T and β at high T?</a:t>
            </a:r>
            <a:endParaRPr b="1" sz="1600"/>
          </a:p>
        </p:txBody>
      </p:sp>
      <p:pic>
        <p:nvPicPr>
          <p:cNvPr id="235" name="Google Shape;235;p27" title="deltag.png"/>
          <p:cNvPicPr preferRelativeResize="0"/>
          <p:nvPr/>
        </p:nvPicPr>
        <p:blipFill rotWithShape="1">
          <a:blip r:embed="rId3">
            <a:alphaModFix/>
          </a:blip>
          <a:srcRect b="26454" l="4797" r="5869" t="13479"/>
          <a:stretch/>
        </p:blipFill>
        <p:spPr>
          <a:xfrm>
            <a:off x="3476113" y="1574450"/>
            <a:ext cx="2137780" cy="313750"/>
          </a:xfrm>
          <a:prstGeom prst="rect">
            <a:avLst/>
          </a:prstGeom>
          <a:noFill/>
          <a:ln>
            <a:noFill/>
          </a:ln>
        </p:spPr>
      </p:pic>
      <p:pic>
        <p:nvPicPr>
          <p:cNvPr id="236" name="Google Shape;236;p27"/>
          <p:cNvPicPr preferRelativeResize="0"/>
          <p:nvPr/>
        </p:nvPicPr>
        <p:blipFill>
          <a:blip r:embed="rId4">
            <a:alphaModFix/>
          </a:blip>
          <a:stretch>
            <a:fillRect/>
          </a:stretch>
        </p:blipFill>
        <p:spPr>
          <a:xfrm>
            <a:off x="238575" y="2055900"/>
            <a:ext cx="4503148" cy="2073438"/>
          </a:xfrm>
          <a:prstGeom prst="rect">
            <a:avLst/>
          </a:prstGeom>
          <a:noFill/>
          <a:ln>
            <a:noFill/>
          </a:ln>
        </p:spPr>
      </p:pic>
      <p:sp>
        <p:nvSpPr>
          <p:cNvPr id="237" name="Google Shape;237;p27"/>
          <p:cNvSpPr txBox="1"/>
          <p:nvPr/>
        </p:nvSpPr>
        <p:spPr>
          <a:xfrm>
            <a:off x="4789350" y="2155413"/>
            <a:ext cx="4206300" cy="1743300"/>
          </a:xfrm>
          <a:prstGeom prst="rect">
            <a:avLst/>
          </a:prstGeom>
          <a:noFill/>
          <a:ln>
            <a:noFill/>
          </a:ln>
        </p:spPr>
        <p:txBody>
          <a:bodyPr anchorCtr="0" anchor="t" bIns="91425" lIns="91425" spcFirstLastPara="1" rIns="91425" wrap="square" tIns="91425">
            <a:spAutoFit/>
          </a:bodyPr>
          <a:lstStyle/>
          <a:p>
            <a:pPr indent="-323850" lvl="0" marL="457200" rtl="0" algn="just">
              <a:lnSpc>
                <a:spcPct val="115000"/>
              </a:lnSpc>
              <a:spcBef>
                <a:spcPts val="0"/>
              </a:spcBef>
              <a:spcAft>
                <a:spcPts val="0"/>
              </a:spcAft>
              <a:buClr>
                <a:schemeClr val="dk1"/>
              </a:buClr>
              <a:buSzPts val="1500"/>
              <a:buChar char="●"/>
            </a:pPr>
            <a:r>
              <a:rPr lang="it" sz="1500">
                <a:solidFill>
                  <a:schemeClr val="dk1"/>
                </a:solidFill>
              </a:rPr>
              <a:t>pPII is enthalpically favored: favorable peptide–water interactions stabilize this conformation (“clathrate-like” hydration structure)</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lang="it" sz="1500">
                <a:solidFill>
                  <a:schemeClr val="dk1"/>
                </a:solidFill>
              </a:rPr>
              <a:t>β-strand is entropically favored: more heterogeneous hydration environment</a:t>
            </a:r>
            <a:endParaRPr sz="1500">
              <a:solidFill>
                <a:schemeClr val="dk1"/>
              </a:solidFill>
            </a:endParaRPr>
          </a:p>
        </p:txBody>
      </p:sp>
      <p:sp>
        <p:nvSpPr>
          <p:cNvPr id="238" name="Google Shape;238;p27"/>
          <p:cNvSpPr txBox="1"/>
          <p:nvPr/>
        </p:nvSpPr>
        <p:spPr>
          <a:xfrm>
            <a:off x="1406250" y="4331425"/>
            <a:ext cx="6331500" cy="681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it" sz="1500">
                <a:solidFill>
                  <a:schemeClr val="dk1"/>
                </a:solidFill>
              </a:rPr>
              <a:t>Low T:</a:t>
            </a:r>
            <a:r>
              <a:rPr lang="it" sz="1500">
                <a:solidFill>
                  <a:schemeClr val="dk1"/>
                </a:solidFill>
              </a:rPr>
              <a:t> smaller TΔS → </a:t>
            </a:r>
            <a:r>
              <a:rPr lang="it" sz="1500">
                <a:solidFill>
                  <a:schemeClr val="dk1"/>
                </a:solidFill>
              </a:rPr>
              <a:t>enthalpic stabilization dominates</a:t>
            </a:r>
            <a:r>
              <a:rPr b="1" lang="it" sz="1500">
                <a:solidFill>
                  <a:schemeClr val="dk1"/>
                </a:solidFill>
              </a:rPr>
              <a:t> → pPII favored</a:t>
            </a:r>
            <a:endParaRPr sz="1500">
              <a:solidFill>
                <a:schemeClr val="dk1"/>
              </a:solidFill>
            </a:endParaRPr>
          </a:p>
          <a:p>
            <a:pPr indent="0" lvl="0" marL="0" rtl="0" algn="just">
              <a:lnSpc>
                <a:spcPct val="115000"/>
              </a:lnSpc>
              <a:spcBef>
                <a:spcPts val="0"/>
              </a:spcBef>
              <a:spcAft>
                <a:spcPts val="0"/>
              </a:spcAft>
              <a:buNone/>
            </a:pPr>
            <a:r>
              <a:rPr b="1" lang="it" sz="1500">
                <a:solidFill>
                  <a:schemeClr val="dk1"/>
                </a:solidFill>
              </a:rPr>
              <a:t>High T:</a:t>
            </a:r>
            <a:r>
              <a:rPr lang="it" sz="1500">
                <a:solidFill>
                  <a:schemeClr val="dk1"/>
                </a:solidFill>
              </a:rPr>
              <a:t> larger </a:t>
            </a:r>
            <a:r>
              <a:rPr lang="it" sz="1500">
                <a:solidFill>
                  <a:schemeClr val="dk1"/>
                </a:solidFill>
              </a:rPr>
              <a:t>TΔS</a:t>
            </a:r>
            <a:r>
              <a:rPr lang="it" sz="1500">
                <a:solidFill>
                  <a:schemeClr val="dk1"/>
                </a:solidFill>
              </a:rPr>
              <a:t> → </a:t>
            </a:r>
            <a:r>
              <a:rPr b="1" lang="it" sz="1500">
                <a:solidFill>
                  <a:schemeClr val="dk1"/>
                </a:solidFill>
              </a:rPr>
              <a:t>β population increases</a:t>
            </a:r>
            <a:endParaRPr sz="15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txBox="1"/>
          <p:nvPr>
            <p:ph type="title"/>
          </p:nvPr>
        </p:nvSpPr>
        <p:spPr>
          <a:xfrm>
            <a:off x="311700" y="146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From small peptides to large biomolecular assemblies</a:t>
            </a:r>
            <a:endParaRPr sz="2500">
              <a:latin typeface="Montserrat SemiBold"/>
              <a:ea typeface="Montserrat SemiBold"/>
              <a:cs typeface="Montserrat SemiBold"/>
              <a:sym typeface="Montserrat SemiBold"/>
            </a:endParaRPr>
          </a:p>
        </p:txBody>
      </p:sp>
      <p:sp>
        <p:nvSpPr>
          <p:cNvPr id="244" name="Google Shape;244;p28"/>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246" name="Google Shape;246;p28"/>
          <p:cNvSpPr txBox="1"/>
          <p:nvPr/>
        </p:nvSpPr>
        <p:spPr>
          <a:xfrm>
            <a:off x="1177950" y="4396675"/>
            <a:ext cx="25278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it">
                <a:solidFill>
                  <a:schemeClr val="dk1"/>
                </a:solidFill>
              </a:rPr>
              <a:t>Amyloid-β 16-22 peptides</a:t>
            </a:r>
            <a:endParaRPr b="1">
              <a:solidFill>
                <a:schemeClr val="dk1"/>
              </a:solidFill>
            </a:endParaRPr>
          </a:p>
        </p:txBody>
      </p:sp>
      <p:pic>
        <p:nvPicPr>
          <p:cNvPr id="247" name="Google Shape;247;p28"/>
          <p:cNvPicPr preferRelativeResize="0"/>
          <p:nvPr/>
        </p:nvPicPr>
        <p:blipFill>
          <a:blip r:embed="rId3">
            <a:alphaModFix/>
          </a:blip>
          <a:stretch>
            <a:fillRect/>
          </a:stretch>
        </p:blipFill>
        <p:spPr>
          <a:xfrm>
            <a:off x="311700" y="1068382"/>
            <a:ext cx="4260298" cy="3195218"/>
          </a:xfrm>
          <a:prstGeom prst="rect">
            <a:avLst/>
          </a:prstGeom>
          <a:noFill/>
          <a:ln>
            <a:noFill/>
          </a:ln>
        </p:spPr>
      </p:pic>
      <p:sp>
        <p:nvSpPr>
          <p:cNvPr id="248" name="Google Shape;248;p28"/>
          <p:cNvSpPr txBox="1"/>
          <p:nvPr/>
        </p:nvSpPr>
        <p:spPr>
          <a:xfrm>
            <a:off x="4572000" y="1281038"/>
            <a:ext cx="4260300" cy="2878200"/>
          </a:xfrm>
          <a:prstGeom prst="rect">
            <a:avLst/>
          </a:prstGeom>
          <a:noFill/>
          <a:ln>
            <a:noFill/>
          </a:ln>
        </p:spPr>
        <p:txBody>
          <a:bodyPr anchorCtr="0" anchor="t" bIns="91425" lIns="91425" spcFirstLastPara="1" rIns="91425" wrap="square" tIns="91425">
            <a:spAutoFit/>
          </a:bodyPr>
          <a:lstStyle/>
          <a:p>
            <a:pPr indent="-317500" lvl="0" marL="457200" rtl="0" algn="just">
              <a:lnSpc>
                <a:spcPct val="115000"/>
              </a:lnSpc>
              <a:spcBef>
                <a:spcPts val="0"/>
              </a:spcBef>
              <a:spcAft>
                <a:spcPts val="0"/>
              </a:spcAft>
              <a:buClr>
                <a:schemeClr val="dk1"/>
              </a:buClr>
              <a:buSzPts val="1400"/>
              <a:buChar char="●"/>
            </a:pPr>
            <a:r>
              <a:rPr lang="it">
                <a:solidFill>
                  <a:schemeClr val="dk1"/>
                </a:solidFill>
              </a:rPr>
              <a:t>Modern MD can treat </a:t>
            </a:r>
            <a:r>
              <a:rPr b="1" lang="it">
                <a:solidFill>
                  <a:schemeClr val="dk1"/>
                </a:solidFill>
              </a:rPr>
              <a:t>large solvated biomolecular assemblies</a:t>
            </a:r>
            <a:r>
              <a:rPr lang="it">
                <a:solidFill>
                  <a:schemeClr val="dk1"/>
                </a:solidFill>
              </a:rPr>
              <a:t> containing many peptide/protein chains and thousands of water molecules.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it">
                <a:solidFill>
                  <a:schemeClr val="dk1"/>
                </a:solidFill>
              </a:rPr>
              <a:t>We can investigate processes such as aggregation, self-assembly and hydration of interfaces.</a:t>
            </a:r>
            <a:endParaRPr>
              <a:solidFill>
                <a:schemeClr val="dk1"/>
              </a:solidFill>
            </a:endParaRPr>
          </a:p>
          <a:p>
            <a:pPr indent="-317500" lvl="0" marL="457200" rtl="0" algn="just">
              <a:lnSpc>
                <a:spcPct val="115000"/>
              </a:lnSpc>
              <a:spcBef>
                <a:spcPts val="0"/>
              </a:spcBef>
              <a:spcAft>
                <a:spcPts val="0"/>
              </a:spcAft>
              <a:buClr>
                <a:schemeClr val="dk1"/>
              </a:buClr>
              <a:buSzPts val="1400"/>
              <a:buChar char="●"/>
            </a:pPr>
            <a:r>
              <a:rPr lang="it">
                <a:solidFill>
                  <a:schemeClr val="dk1"/>
                </a:solidFill>
              </a:rPr>
              <a:t>The system size should follow the </a:t>
            </a:r>
            <a:r>
              <a:rPr b="1" lang="it">
                <a:solidFill>
                  <a:schemeClr val="dk1"/>
                </a:solidFill>
              </a:rPr>
              <a:t>scientific question</a:t>
            </a:r>
            <a:r>
              <a:rPr lang="it">
                <a:solidFill>
                  <a:schemeClr val="dk1"/>
                </a:solidFill>
              </a:rPr>
              <a:t>: sometimes the full assembly is needed, while in other cases a smaller region or sequence is sufficient.</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