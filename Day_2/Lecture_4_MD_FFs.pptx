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5143500" cx="9144000"/>
  <p:notesSz cx="6858000" cy="9144000"/>
  <p:embeddedFontLst>
    <p:embeddedFont>
      <p:font typeface="Montserrat SemiBold"/>
      <p:regular r:id="rId29"/>
      <p:bold r:id="rId30"/>
      <p:italic r:id="rId31"/>
      <p:boldItalic r:id="rId32"/>
    </p:embeddedFont>
    <p:embeddedFont>
      <p:font typeface="Montserrat Medium"/>
      <p:regular r:id="rId33"/>
      <p:bold r:id="rId34"/>
      <p:italic r:id="rId35"/>
      <p:boldItalic r:id="rId3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624">
          <p15:clr>
            <a:srgbClr val="747775"/>
          </p15:clr>
        </p15:guide>
        <p15:guide id="2" pos="249">
          <p15:clr>
            <a:srgbClr val="747775"/>
          </p15:clr>
        </p15:guide>
      </p15:sldGuideLst>
    </p:ext>
    <p:ext uri="GoogleSlidesCustomDataVersion2">
      <go:slidesCustomData xmlns:go="http://customooxmlschemas.google.com/" r:id="rId37" roundtripDataSignature="AMtx7mj7zhD8OTb62pYVx0KfBUzAa+6K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624" orient="horz"/>
        <p:guide pos="249"/>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MontserratSemiBold-regular.fntdata"/><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font" Target="fonts/MontserratSemiBold-italic.fntdata"/><Relationship Id="rId30" Type="http://schemas.openxmlformats.org/officeDocument/2006/relationships/font" Target="fonts/MontserratSemiBold-bold.fntdata"/><Relationship Id="rId11" Type="http://schemas.openxmlformats.org/officeDocument/2006/relationships/slide" Target="slides/slide6.xml"/><Relationship Id="rId33" Type="http://schemas.openxmlformats.org/officeDocument/2006/relationships/font" Target="fonts/MontserratMedium-regular.fntdata"/><Relationship Id="rId10" Type="http://schemas.openxmlformats.org/officeDocument/2006/relationships/slide" Target="slides/slide5.xml"/><Relationship Id="rId32" Type="http://schemas.openxmlformats.org/officeDocument/2006/relationships/font" Target="fonts/MontserratSemiBold-boldItalic.fntdata"/><Relationship Id="rId13" Type="http://schemas.openxmlformats.org/officeDocument/2006/relationships/slide" Target="slides/slide8.xml"/><Relationship Id="rId35" Type="http://schemas.openxmlformats.org/officeDocument/2006/relationships/font" Target="fonts/MontserratMedium-italic.fntdata"/><Relationship Id="rId12" Type="http://schemas.openxmlformats.org/officeDocument/2006/relationships/slide" Target="slides/slide7.xml"/><Relationship Id="rId34" Type="http://schemas.openxmlformats.org/officeDocument/2006/relationships/font" Target="fonts/MontserratMedium-bold.fntdata"/><Relationship Id="rId15" Type="http://schemas.openxmlformats.org/officeDocument/2006/relationships/slide" Target="slides/slide10.xml"/><Relationship Id="rId37" Type="http://customschemas.google.com/relationships/presentationmetadata" Target="metadata"/><Relationship Id="rId14" Type="http://schemas.openxmlformats.org/officeDocument/2006/relationships/slide" Target="slides/slide9.xml"/><Relationship Id="rId36" Type="http://schemas.openxmlformats.org/officeDocument/2006/relationships/font" Target="fonts/MontserratMedium-boldItalic.fntdata"/><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1: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2" name="Google Shape;5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 name="Shape 63"/>
        <p:cNvGrpSpPr/>
        <p:nvPr/>
      </p:nvGrpSpPr>
      <p:grpSpPr>
        <a:xfrm>
          <a:off x="0" y="0"/>
          <a:ext cx="0" cy="0"/>
          <a:chOff x="0" y="0"/>
          <a:chExt cx="0" cy="0"/>
        </a:xfrm>
      </p:grpSpPr>
      <p:sp>
        <p:nvSpPr>
          <p:cNvPr id="64" name="Google Shape;64;p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5" name="Google Shape;65;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Before looking at the different types of interactions, let’s first recall what actually happens in a molecular dynamics simulation.</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We start from an initial configuration of the system: the positions of all atoms and their initial velocities. From these coordinates, we calculate the forces acting on each particle as a consequence of the interactions with the other particles in the system.</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Once we know the forces, we can use Newton’s equations of motion to propagate the system forward by a very small time step. This gives us new positions and velocities. We then calculate the forces again, propagate another step, and repeat this procedure many times.</a:t>
            </a:r>
            <a:endParaRPr>
              <a:solidFill>
                <a:schemeClr val="dk1"/>
              </a:solidFill>
            </a:endParaRPr>
          </a:p>
          <a:p>
            <a:pPr indent="0" lvl="0" marL="0" marR="381000" rtl="0" algn="l">
              <a:lnSpc>
                <a:spcPct val="115000"/>
              </a:lnSpc>
              <a:spcBef>
                <a:spcPts val="1200"/>
              </a:spcBef>
              <a:spcAft>
                <a:spcPts val="0"/>
              </a:spcAft>
              <a:buClr>
                <a:schemeClr val="dk1"/>
              </a:buClr>
              <a:buSzPts val="1100"/>
              <a:buFont typeface="Arial"/>
              <a:buNone/>
            </a:pPr>
            <a:r>
              <a:rPr lang="it">
                <a:solidFill>
                  <a:schemeClr val="dk1"/>
                </a:solidFill>
              </a:rPr>
              <a:t>In this way we generate a trajectory, which describes how the system evolves with time. From this trajectory we can then calculate the quantities we are interested in — structural properties, energies, diffusion, conformational changes, and so on.</a:t>
            </a:r>
            <a:endParaRPr>
              <a:solidFill>
                <a:schemeClr val="dk1"/>
              </a:solidFill>
            </a:endParaRPr>
          </a:p>
          <a:p>
            <a:pPr indent="0" lvl="0" marL="0" marR="381000" rtl="0" algn="l">
              <a:lnSpc>
                <a:spcPct val="115000"/>
              </a:lnSpc>
              <a:spcBef>
                <a:spcPts val="1200"/>
              </a:spcBef>
              <a:spcAft>
                <a:spcPts val="1200"/>
              </a:spcAft>
              <a:buSzPts val="1100"/>
              <a:buNone/>
            </a:pPr>
            <a:r>
              <a:rPr lang="it">
                <a:solidFill>
                  <a:schemeClr val="dk1"/>
                </a:solidFill>
              </a:rPr>
              <a:t>If the simulation is not yet long enough to sample the behaviour we are interested in, we simply continue the cycle.</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7" name="Google Shape;97;p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marR="381000" rtl="0" algn="l">
              <a:lnSpc>
                <a:spcPct val="115000"/>
              </a:lnSpc>
              <a:spcBef>
                <a:spcPts val="1200"/>
              </a:spcBef>
              <a:spcAft>
                <a:spcPts val="1200"/>
              </a:spcAft>
              <a:buSzPts val="1100"/>
              <a:buNone/>
            </a:pPr>
            <a:r>
              <a:rPr lang="it">
                <a:solidFill>
                  <a:schemeClr val="dk1"/>
                </a:solidFill>
              </a:rPr>
              <a:t>So the key ingredient in this whole workflow is really the calculation of the forces: to run an MD simulation, we need a model that tells us how the particles interact with each other.</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5" name="Google Shape;145;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p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7" name="Google Shape;177;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p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p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1" name="Google Shape;201;p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b="1" lang="it"/>
              <a:t>London dispersion attraction</a:t>
            </a:r>
            <a:r>
              <a:rPr lang="it"/>
              <a:t>: even an atom with no permanent dipole has electrons that are constantly moving. At any instant, the electron cloud can become slightly asymmetric, creating a temporary dipole. This can induce a dipole in a neighbouring atom, and the two become weakly attracted. That is the origin of London dispersion.</a:t>
            </a:r>
            <a:endParaRPr/>
          </a:p>
          <a:p>
            <a:pPr indent="0" lvl="0" marL="0" rtl="0" algn="l">
              <a:lnSpc>
                <a:spcPct val="100000"/>
              </a:lnSpc>
              <a:spcBef>
                <a:spcPts val="0"/>
              </a:spcBef>
              <a:spcAft>
                <a:spcPts val="0"/>
              </a:spcAft>
              <a:buSzPts val="1100"/>
              <a:buNone/>
            </a:pPr>
            <a:r>
              <a:t/>
            </a:r>
            <a:endParaRPr/>
          </a:p>
          <a:p>
            <a:pPr indent="0" lvl="0" marL="0" rtl="0" algn="l">
              <a:lnSpc>
                <a:spcPct val="115000"/>
              </a:lnSpc>
              <a:spcBef>
                <a:spcPts val="0"/>
              </a:spcBef>
              <a:spcAft>
                <a:spcPts val="0"/>
              </a:spcAft>
              <a:buClr>
                <a:schemeClr val="dk1"/>
              </a:buClr>
              <a:buSzPts val="1100"/>
              <a:buFont typeface="Arial"/>
              <a:buNone/>
            </a:pPr>
            <a:r>
              <a:rPr lang="it">
                <a:solidFill>
                  <a:schemeClr val="dk1"/>
                </a:solidFill>
              </a:rPr>
              <a:t>Let’s now look at the van der Waals contribution to the force field. This term acts between atoms that are not directly bonded to each other and contains two competing effects: an attractive interaction at intermediate distances and a very strong repulsion when atoms get too close.</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The attractive part is mainly due to </a:t>
            </a:r>
            <a:r>
              <a:rPr b="1" lang="it">
                <a:solidFill>
                  <a:schemeClr val="dk1"/>
                </a:solidFill>
              </a:rPr>
              <a:t>London dispersion</a:t>
            </a:r>
            <a:r>
              <a:rPr lang="it">
                <a:solidFill>
                  <a:schemeClr val="dk1"/>
                </a:solidFill>
              </a:rPr>
              <a:t>. Electrons are constantly moving, so even in an atom or molecule with no permanent dipole, the electron density can become temporarily asymmetric. This creates an instantaneous dipole, which can induce another dipole in a neighbouring atom. The interaction between these temporary dipoles produces a weak attraction.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On the other hand, if two atoms approach each other too closely, their electron clouds start to overlap. Because of the Pauli exclusion principle, this becomes energetically very unfavorable and produces a strong short-range repulsion.</a:t>
            </a:r>
            <a:endParaRPr>
              <a:solidFill>
                <a:schemeClr val="dk1"/>
              </a:solidFill>
            </a:endParaRPr>
          </a:p>
          <a:p>
            <a:pPr indent="0" lvl="0" marL="0" rtl="0" algn="l">
              <a:lnSpc>
                <a:spcPct val="115000"/>
              </a:lnSpc>
              <a:spcBef>
                <a:spcPts val="1200"/>
              </a:spcBef>
              <a:spcAft>
                <a:spcPts val="0"/>
              </a:spcAft>
              <a:buClr>
                <a:schemeClr val="dk1"/>
              </a:buClr>
              <a:buSzPts val="1100"/>
              <a:buFont typeface="Arial"/>
              <a:buNone/>
            </a:pPr>
            <a:r>
              <a:rPr lang="it">
                <a:solidFill>
                  <a:schemeClr val="dk1"/>
                </a:solidFill>
              </a:rPr>
              <a:t>Both effects depend very strongly on the distance between the atoms, which is why we need a distance-dependent potential to describe them</a:t>
            </a:r>
            <a:endParaRPr>
              <a:solidFill>
                <a:schemeClr val="dk1"/>
              </a:solidFill>
            </a:endParaRPr>
          </a:p>
          <a:p>
            <a:pPr indent="0" lvl="0" marL="0" rtl="0" algn="l">
              <a:lnSpc>
                <a:spcPct val="100000"/>
              </a:lnSpc>
              <a:spcBef>
                <a:spcPts val="120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p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0" name="Google Shape;210;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
              <a:t>In most classical biomolecular force fields, these two effects are represented using the Lennard–Jones potential.</a:t>
            </a:r>
            <a:endParaRPr/>
          </a:p>
          <a:p>
            <a:pPr indent="0" lvl="0" marL="0" rtl="0" algn="l">
              <a:lnSpc>
                <a:spcPct val="115000"/>
              </a:lnSpc>
              <a:spcBef>
                <a:spcPts val="0"/>
              </a:spcBef>
              <a:spcAft>
                <a:spcPts val="0"/>
              </a:spcAft>
              <a:buClr>
                <a:schemeClr val="dk1"/>
              </a:buClr>
              <a:buSzPts val="1100"/>
              <a:buFont typeface="Arial"/>
              <a:buNone/>
            </a:pPr>
            <a:r>
              <a:rPr lang="it"/>
              <a:t>The Lennard–Jones potential combines these two physical effects in a very simple mathematical form.</a:t>
            </a:r>
            <a:endParaRPr/>
          </a:p>
          <a:p>
            <a:pPr indent="0" lvl="0" marL="0" rtl="0" algn="l">
              <a:lnSpc>
                <a:spcPct val="115000"/>
              </a:lnSpc>
              <a:spcBef>
                <a:spcPts val="1200"/>
              </a:spcBef>
              <a:spcAft>
                <a:spcPts val="0"/>
              </a:spcAft>
              <a:buClr>
                <a:schemeClr val="dk1"/>
              </a:buClr>
              <a:buSzPts val="1100"/>
              <a:buFont typeface="Arial"/>
              <a:buNone/>
            </a:pPr>
            <a:r>
              <a:rPr lang="it"/>
              <a:t>The first term varies as 1/r121/r^{12} and represents the strong short-range repulsion. Notice how rapidly this term increases when rr becomes small: this effectively prevents two atoms from occupying the same region of space.</a:t>
            </a:r>
            <a:endParaRPr/>
          </a:p>
          <a:p>
            <a:pPr indent="0" lvl="0" marL="0" rtl="0" algn="l">
              <a:lnSpc>
                <a:spcPct val="115000"/>
              </a:lnSpc>
              <a:spcBef>
                <a:spcPts val="1200"/>
              </a:spcBef>
              <a:spcAft>
                <a:spcPts val="0"/>
              </a:spcAft>
              <a:buClr>
                <a:schemeClr val="dk1"/>
              </a:buClr>
              <a:buSzPts val="1100"/>
              <a:buFont typeface="Arial"/>
              <a:buNone/>
            </a:pPr>
            <a:r>
              <a:rPr lang="it"/>
              <a:t>The second term varies as 1/r61/r^6 and represents the attractive London dispersion interaction.</a:t>
            </a:r>
            <a:endParaRPr/>
          </a:p>
          <a:p>
            <a:pPr indent="0" lvl="0" marL="0" rtl="0" algn="l">
              <a:lnSpc>
                <a:spcPct val="115000"/>
              </a:lnSpc>
              <a:spcBef>
                <a:spcPts val="1200"/>
              </a:spcBef>
              <a:spcAft>
                <a:spcPts val="0"/>
              </a:spcAft>
              <a:buClr>
                <a:schemeClr val="dk1"/>
              </a:buClr>
              <a:buSzPts val="1100"/>
              <a:buFont typeface="Arial"/>
              <a:buNone/>
            </a:pPr>
            <a:r>
              <a:rPr lang="it"/>
              <a:t>The balance between these two terms gives the characteristic shape shown here. At very short distances the energy becomes very large and positive, so the interaction is strongly repulsive. At somewhat larger distances the attractive contribution dominates and the energy becomes negative. And when the atoms are very far apart, both contributions go to zero, so the van der Waals interaction disappears.</a:t>
            </a:r>
            <a:endParaRPr/>
          </a:p>
          <a:p>
            <a:pPr indent="0" lvl="0" marL="0" rtl="0" algn="l">
              <a:lnSpc>
                <a:spcPct val="100000"/>
              </a:lnSpc>
              <a:spcBef>
                <a:spcPts val="1200"/>
              </a:spcBef>
              <a:spcAft>
                <a:spcPts val="0"/>
              </a:spcAft>
              <a:buSzPts val="1100"/>
              <a:buNone/>
            </a:pPr>
            <a:r>
              <a:rPr lang="it"/>
              <a:t>The r−6r^{-6} dependence has a physical basis in London dispersion theory, whereas the r−12r^{-12} repulsive term is mainly a convenient empirical approximation because it is computationally simple</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p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6" name="Google Shape;226;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Clr>
                <a:schemeClr val="dk1"/>
              </a:buClr>
              <a:buSzPts val="1100"/>
              <a:buFont typeface="Arial"/>
              <a:buNone/>
            </a:pPr>
            <a:r>
              <a:rPr lang="it"/>
              <a:t>The shape of the Lennard–Jones potential is controlled by two parameters, σ\sigma and ε\varepsilon, and these parameters depend on the atom types involved.</a:t>
            </a:r>
            <a:endParaRPr/>
          </a:p>
          <a:p>
            <a:pPr indent="0" lvl="0" marL="0" rtl="0" algn="l">
              <a:lnSpc>
                <a:spcPct val="115000"/>
              </a:lnSpc>
              <a:spcBef>
                <a:spcPts val="1200"/>
              </a:spcBef>
              <a:spcAft>
                <a:spcPts val="0"/>
              </a:spcAft>
              <a:buClr>
                <a:schemeClr val="dk1"/>
              </a:buClr>
              <a:buSzPts val="1100"/>
              <a:buFont typeface="Arial"/>
              <a:buNone/>
            </a:pPr>
            <a:r>
              <a:rPr lang="it"/>
              <a:t>ε\varepsilon is the depth of the potential-energy well. So it tells us how favorable the attractive interaction is: a larger ε\varepsilon means a deeper well and therefore a stronger attraction.</a:t>
            </a:r>
            <a:endParaRPr/>
          </a:p>
          <a:p>
            <a:pPr indent="0" lvl="0" marL="0" rtl="0" algn="l">
              <a:lnSpc>
                <a:spcPct val="115000"/>
              </a:lnSpc>
              <a:spcBef>
                <a:spcPts val="1200"/>
              </a:spcBef>
              <a:spcAft>
                <a:spcPts val="0"/>
              </a:spcAft>
              <a:buClr>
                <a:schemeClr val="dk1"/>
              </a:buClr>
              <a:buSzPts val="1100"/>
              <a:buFont typeface="Arial"/>
              <a:buNone/>
            </a:pPr>
            <a:r>
              <a:rPr lang="it"/>
              <a:t>σ\sigma is related to the effective size of the atoms. More precisely, it is the distance at which the Lennard–Jones energy becomes zero. So σ\sigma is not the equilibrium distance</a:t>
            </a:r>
            <a:endParaRPr/>
          </a:p>
          <a:p>
            <a:pPr indent="0" lvl="0" marL="0" rtl="0" algn="l">
              <a:lnSpc>
                <a:spcPct val="100000"/>
              </a:lnSpc>
              <a:spcBef>
                <a:spcPts val="1200"/>
              </a:spcBef>
              <a:spcAft>
                <a:spcPts val="0"/>
              </a:spcAft>
              <a:buSzPts val="1100"/>
              <a:buNone/>
            </a:pPr>
            <a:r>
              <a:rPr lang="it"/>
              <a:t>The most favorable distance corresponds to the minimum of the potential, which occurs at r=21/6σr=2^{1/6}\sigma. At this distance the energy is exactly −ε-\varepsilon. Here the attractive and repulsive contributions balance each other.</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it">
                <a:solidFill>
                  <a:schemeClr val="dk1"/>
                </a:solidFill>
              </a:rPr>
              <a:t>So, in very simple terms, </a:t>
            </a:r>
            <a:r>
              <a:rPr b="1" lang="it">
                <a:solidFill>
                  <a:schemeClr val="dk1"/>
                </a:solidFill>
              </a:rPr>
              <a:t>σ\sigma controls how close the atoms can comfortably approach, while ε\varepsilon controls how strongly they attract each other.</a:t>
            </a:r>
            <a:r>
              <a:rPr lang="it">
                <a:solidFill>
                  <a:schemeClr val="dk1"/>
                </a:solidFill>
              </a:rPr>
              <a:t>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9" name="Google Shape;239;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p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0" name="Google Shape;250;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1" name="Google Shape;261;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171450" lvl="0" marL="171450" marR="0" rtl="0" algn="l">
              <a:lnSpc>
                <a:spcPct val="100000"/>
              </a:lnSpc>
              <a:spcBef>
                <a:spcPts val="0"/>
              </a:spcBef>
              <a:spcAft>
                <a:spcPts val="0"/>
              </a:spcAft>
              <a:buClr>
                <a:srgbClr val="000000"/>
              </a:buClr>
              <a:buSzPts val="1100"/>
              <a:buFont typeface="Arial"/>
              <a:buChar char="-"/>
            </a:pPr>
            <a:r>
              <a:rPr lang="it">
                <a:solidFill>
                  <a:schemeClr val="dk1"/>
                </a:solidFill>
              </a:rPr>
              <a:t>talk about simulation vs periodic cells: the simulation box is treated as surrounded by infinite replica over the three dimensions of the space. This is simply accomplished by considering that if a particle moves out of the box, an image particle moves in to replace it </a:t>
            </a:r>
            <a:endParaRPr/>
          </a:p>
          <a:p>
            <a:pPr indent="-171450" lvl="0" marL="171450" rtl="0" algn="l">
              <a:lnSpc>
                <a:spcPct val="100000"/>
              </a:lnSpc>
              <a:spcBef>
                <a:spcPts val="0"/>
              </a:spcBef>
              <a:spcAft>
                <a:spcPts val="0"/>
              </a:spcAft>
              <a:buSzPts val="1100"/>
              <a:buFont typeface="Arial"/>
              <a:buChar char="-"/>
            </a:pPr>
            <a:r>
              <a:rPr lang="it">
                <a:solidFill>
                  <a:schemeClr val="dk1"/>
                </a:solidFill>
              </a:rPr>
              <a:t>interaction between particles in the simulation cell and the periodic ones: how do we treat them?</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1" name="Shape 281"/>
        <p:cNvGrpSpPr/>
        <p:nvPr/>
      </p:nvGrpSpPr>
      <p:grpSpPr>
        <a:xfrm>
          <a:off x="0" y="0"/>
          <a:ext cx="0" cy="0"/>
          <a:chOff x="0" y="0"/>
          <a:chExt cx="0" cy="0"/>
        </a:xfrm>
      </p:grpSpPr>
      <p:sp>
        <p:nvSpPr>
          <p:cNvPr id="282" name="Google Shape;28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3" name="Google Shape;28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it">
                <a:solidFill>
                  <a:schemeClr val="dk1"/>
                </a:solidFill>
              </a:rPr>
              <a:t>Because the box is repeated infinitely, atom i has many periodic copies of atom j around it. We do not want to count all of these copies as separate nearby neighbours. Instead, for short-range pair interactions, we use the </a:t>
            </a:r>
            <a:r>
              <a:rPr b="1" lang="it">
                <a:solidFill>
                  <a:schemeClr val="dk1"/>
                </a:solidFill>
              </a:rPr>
              <a:t>minimum image convention</a:t>
            </a:r>
            <a:r>
              <a:rPr lang="it">
                <a:solidFill>
                  <a:schemeClr val="dk1"/>
                </a:solidFill>
              </a:rPr>
              <a:t>: we take the shortest distance between i and any periodic image of j (= </a:t>
            </a:r>
            <a:r>
              <a:rPr b="0" i="0" lang="it" sz="1100" u="none" cap="none" strike="noStrike">
                <a:solidFill>
                  <a:srgbClr val="000000"/>
                </a:solidFill>
                <a:latin typeface="Arial"/>
                <a:ea typeface="Arial"/>
                <a:cs typeface="Arial"/>
                <a:sym typeface="Arial"/>
              </a:rPr>
              <a:t>a particle interacts only with the nearest image of all the other particles</a:t>
            </a:r>
            <a:r>
              <a:rPr lang="it">
                <a:solidFill>
                  <a:schemeClr val="dk1"/>
                </a:solidFill>
              </a:rPr>
              <a:t>)</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1" name="Shape 291"/>
        <p:cNvGrpSpPr/>
        <p:nvPr/>
      </p:nvGrpSpPr>
      <p:grpSpPr>
        <a:xfrm>
          <a:off x="0" y="0"/>
          <a:ext cx="0" cy="0"/>
          <a:chOff x="0" y="0"/>
          <a:chExt cx="0" cy="0"/>
        </a:xfrm>
      </p:grpSpPr>
      <p:sp>
        <p:nvSpPr>
          <p:cNvPr id="292" name="Google Shape;292;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3" name="Google Shape;293;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
                <a:solidFill>
                  <a:schemeClr val="dk1"/>
                </a:solidFill>
              </a:rPr>
              <a:t>In principle, the computation of non-bonded interactions within the PBC and minimum image convention requires a huge number of pairwise calculations. Indeed, for each atom i, we should loop over all the j-atoms to find the minimum image distance, rij. A first assumption can be made imposing that the potential is equal to zero when rij &gt; rcut, thus the distance between two atoms is bigger than the potential cutoff.</a:t>
            </a:r>
            <a:endParaRPr/>
          </a:p>
          <a:p>
            <a:pPr indent="0" lvl="0" marL="0" rtl="0" algn="l">
              <a:lnSpc>
                <a:spcPct val="100000"/>
              </a:lnSpc>
              <a:spcBef>
                <a:spcPts val="0"/>
              </a:spcBef>
              <a:spcAft>
                <a:spcPts val="0"/>
              </a:spcAft>
              <a:buSzPts val="1100"/>
              <a:buNone/>
            </a:pPr>
            <a:r>
              <a:t/>
            </a:r>
            <a:endParaRPr>
              <a:solidFill>
                <a:schemeClr val="dk1"/>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6" name="Shape 306"/>
        <p:cNvGrpSpPr/>
        <p:nvPr/>
      </p:nvGrpSpPr>
      <p:grpSpPr>
        <a:xfrm>
          <a:off x="0" y="0"/>
          <a:ext cx="0" cy="0"/>
          <a:chOff x="0" y="0"/>
          <a:chExt cx="0" cy="0"/>
        </a:xfrm>
      </p:grpSpPr>
      <p:sp>
        <p:nvSpPr>
          <p:cNvPr id="307" name="Google Shape;307;p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8" name="Google Shape;308;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1" name="Google Shape;321;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3" name="Google Shape;343;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5" name="Google Shape;35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it"/>
              <a:t>We will see in the next lessons the connection between these parameters and the topology we provide as input</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9" name="Shape 369"/>
        <p:cNvGrpSpPr/>
        <p:nvPr/>
      </p:nvGrpSpPr>
      <p:grpSpPr>
        <a:xfrm>
          <a:off x="0" y="0"/>
          <a:ext cx="0" cy="0"/>
          <a:chOff x="0" y="0"/>
          <a:chExt cx="0" cy="0"/>
        </a:xfrm>
      </p:grpSpPr>
      <p:sp>
        <p:nvSpPr>
          <p:cNvPr id="370" name="Google Shape;370;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1" name="Google Shape;371;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4" name="Shape 384"/>
        <p:cNvGrpSpPr/>
        <p:nvPr/>
      </p:nvGrpSpPr>
      <p:grpSpPr>
        <a:xfrm>
          <a:off x="0" y="0"/>
          <a:ext cx="0" cy="0"/>
          <a:chOff x="0" y="0"/>
          <a:chExt cx="0" cy="0"/>
        </a:xfrm>
      </p:grpSpPr>
      <p:sp>
        <p:nvSpPr>
          <p:cNvPr id="385" name="Google Shape;385;g3fa490b3df7_0_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86" name="Google Shape;386;g3fa490b3df7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4"/>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11" name="Google Shape;11;p24"/>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 name="Shape 13"/>
        <p:cNvGrpSpPr/>
        <p:nvPr/>
      </p:nvGrpSpPr>
      <p:grpSpPr>
        <a:xfrm>
          <a:off x="0" y="0"/>
          <a:ext cx="0" cy="0"/>
          <a:chOff x="0" y="0"/>
          <a:chExt cx="0" cy="0"/>
        </a:xfrm>
      </p:grpSpPr>
      <p:sp>
        <p:nvSpPr>
          <p:cNvPr id="14" name="Google Shape;14;p2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15" name="Google Shape;15;p2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16" name="Google Shape;16;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 name="Shape 17"/>
        <p:cNvGrpSpPr/>
        <p:nvPr/>
      </p:nvGrpSpPr>
      <p:grpSpPr>
        <a:xfrm>
          <a:off x="0" y="0"/>
          <a:ext cx="0" cy="0"/>
          <a:chOff x="0" y="0"/>
          <a:chExt cx="0" cy="0"/>
        </a:xfrm>
      </p:grpSpPr>
      <p:sp>
        <p:nvSpPr>
          <p:cNvPr id="18" name="Google Shape;18;p2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19" name="Google Shape;19;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2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2" name="Google Shape;22;p27"/>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3" name="Google Shape;23;p27"/>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24" name="Google Shape;24;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2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27" name="Google Shape;27;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29"/>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30" name="Google Shape;30;p29"/>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31" name="Google Shape;31;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30"/>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34" name="Google Shape;34;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 name="Google Shape;37;p31"/>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38" name="Google Shape;38;p31"/>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31"/>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40" name="Google Shape;40;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32"/>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43" name="Google Shape;43;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33"/>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33"/>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47" name="Google Shape;47;p3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3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7" name="Google Shape;7;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8" name="Google Shape;8;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it"/>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pn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9.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6.png"/><Relationship Id="rId5"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7.png"/><Relationship Id="rId5"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3.png"/><Relationship Id="rId4"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12.png"/><Relationship Id="rId5"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7.png"/><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24.png"/><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28.png"/><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23.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2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2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6.png"/><Relationship Id="rId4" Type="http://schemas.openxmlformats.org/officeDocument/2006/relationships/image" Target="../media/image18.png"/><Relationship Id="rId5" Type="http://schemas.openxmlformats.org/officeDocument/2006/relationships/image" Target="../media/image20.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7.png"/><Relationship Id="rId4" Type="http://schemas.openxmlformats.org/officeDocument/2006/relationships/image" Target="../media/image2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p>
            <a:pPr indent="0" lvl="0" marL="0" rtl="0" algn="ctr">
              <a:lnSpc>
                <a:spcPct val="100000"/>
              </a:lnSpc>
              <a:spcBef>
                <a:spcPts val="0"/>
              </a:spcBef>
              <a:spcAft>
                <a:spcPts val="0"/>
              </a:spcAft>
              <a:buSzPts val="5200"/>
              <a:buNone/>
            </a:pPr>
            <a:r>
              <a:rPr lang="it" sz="3500">
                <a:latin typeface="Montserrat SemiBold"/>
                <a:ea typeface="Montserrat SemiBold"/>
                <a:cs typeface="Montserrat SemiBold"/>
                <a:sym typeface="Montserrat SemiBold"/>
              </a:rPr>
              <a:t>Molecular Dynamics:</a:t>
            </a:r>
            <a:endParaRPr sz="3500">
              <a:latin typeface="Montserrat SemiBold"/>
              <a:ea typeface="Montserrat SemiBold"/>
              <a:cs typeface="Montserrat SemiBold"/>
              <a:sym typeface="Montserrat SemiBold"/>
            </a:endParaRPr>
          </a:p>
          <a:p>
            <a:pPr indent="0" lvl="0" marL="0" rtl="0" algn="ctr">
              <a:lnSpc>
                <a:spcPct val="100000"/>
              </a:lnSpc>
              <a:spcBef>
                <a:spcPts val="0"/>
              </a:spcBef>
              <a:spcAft>
                <a:spcPts val="0"/>
              </a:spcAft>
              <a:buSzPts val="5200"/>
              <a:buNone/>
            </a:pPr>
            <a:r>
              <a:rPr lang="it" sz="2500">
                <a:latin typeface="Montserrat SemiBold"/>
                <a:ea typeface="Montserrat SemiBold"/>
                <a:cs typeface="Montserrat SemiBold"/>
                <a:sym typeface="Montserrat SemiBold"/>
              </a:rPr>
              <a:t>Interactions and Force Fields</a:t>
            </a:r>
            <a:endParaRPr sz="2500">
              <a:latin typeface="Montserrat SemiBold"/>
              <a:ea typeface="Montserrat SemiBold"/>
              <a:cs typeface="Montserrat SemiBold"/>
              <a:sym typeface="Montserrat SemiBold"/>
            </a:endParaRPr>
          </a:p>
        </p:txBody>
      </p:sp>
      <p:sp>
        <p:nvSpPr>
          <p:cNvPr id="55" name="Google Shape;55;p1"/>
          <p:cNvSpPr txBox="1"/>
          <p:nvPr>
            <p:ph idx="1" type="subTitle"/>
          </p:nvPr>
        </p:nvSpPr>
        <p:spPr>
          <a:xfrm>
            <a:off x="311700" y="2931300"/>
            <a:ext cx="85206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it" sz="1600">
                <a:latin typeface="Montserrat Medium"/>
                <a:ea typeface="Montserrat Medium"/>
                <a:cs typeface="Montserrat Medium"/>
                <a:sym typeface="Montserrat Medium"/>
              </a:rPr>
              <a:t>PWF Summer school on Theoretical and Computational Biophysics</a:t>
            </a:r>
            <a:endParaRPr sz="1600">
              <a:latin typeface="Montserrat Medium"/>
              <a:ea typeface="Montserrat Medium"/>
              <a:cs typeface="Montserrat Medium"/>
              <a:sym typeface="Montserrat Medium"/>
            </a:endParaRPr>
          </a:p>
          <a:p>
            <a:pPr indent="0" lvl="0" marL="0" rtl="0" algn="ctr">
              <a:lnSpc>
                <a:spcPct val="100000"/>
              </a:lnSpc>
              <a:spcBef>
                <a:spcPts val="0"/>
              </a:spcBef>
              <a:spcAft>
                <a:spcPts val="0"/>
              </a:spcAft>
              <a:buSzPts val="2800"/>
              <a:buNone/>
            </a:pPr>
            <a:r>
              <a:t/>
            </a:r>
            <a:endParaRPr sz="1800"/>
          </a:p>
        </p:txBody>
      </p:sp>
      <p:sp>
        <p:nvSpPr>
          <p:cNvPr id="56" name="Google Shape;56;p1"/>
          <p:cNvSpPr/>
          <p:nvPr/>
        </p:nvSpPr>
        <p:spPr>
          <a:xfrm>
            <a:off x="0" y="0"/>
            <a:ext cx="427500" cy="5143500"/>
          </a:xfrm>
          <a:prstGeom prst="rect">
            <a:avLst/>
          </a:prstGeom>
          <a:gradFill>
            <a:gsLst>
              <a:gs pos="0">
                <a:srgbClr val="DCECD5"/>
              </a:gs>
              <a:gs pos="100000">
                <a:srgbClr val="92BC81"/>
              </a:gs>
            </a:gsLst>
            <a:path path="circle">
              <a:fillToRect b="50%" l="50%" r="50%" t="50%"/>
            </a:path>
            <a:tileRect/>
          </a:gradFill>
          <a:ln cap="flat" cmpd="sng" w="9525">
            <a:solidFill>
              <a:schemeClr val="lt1"/>
            </a:solidFill>
            <a:prstDash val="solid"/>
            <a:round/>
            <a:headEnd len="sm" w="sm" type="none"/>
            <a:tailEnd len="sm" w="sm" type="none"/>
          </a:ln>
          <a:effectLst>
            <a:outerShdw blurRad="57150" rotWithShape="0" algn="bl" dir="5400000" dist="19050">
              <a:srgbClr val="93C47D">
                <a:alpha val="50196"/>
              </a:srgbClr>
            </a:outerShdw>
          </a:effectLst>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7" name="Google Shape;57;p1"/>
          <p:cNvSpPr txBox="1"/>
          <p:nvPr/>
        </p:nvSpPr>
        <p:spPr>
          <a:xfrm>
            <a:off x="3187850" y="4350625"/>
            <a:ext cx="30000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it" sz="1500" u="none" cap="none" strike="noStrike">
                <a:solidFill>
                  <a:schemeClr val="dk2"/>
                </a:solidFill>
                <a:latin typeface="Arial"/>
                <a:ea typeface="Arial"/>
                <a:cs typeface="Arial"/>
                <a:sym typeface="Arial"/>
              </a:rPr>
              <a:t>Day 2/5</a:t>
            </a:r>
            <a:endParaRPr b="0" i="0" sz="1500" u="none" cap="none" strike="noStrike">
              <a:solidFill>
                <a:schemeClr val="dk2"/>
              </a:solidFill>
              <a:latin typeface="Arial"/>
              <a:ea typeface="Arial"/>
              <a:cs typeface="Arial"/>
              <a:sym typeface="Arial"/>
            </a:endParaRPr>
          </a:p>
        </p:txBody>
      </p:sp>
      <p:sp>
        <p:nvSpPr>
          <p:cNvPr id="58" name="Google Shape;58;p1"/>
          <p:cNvSpPr txBox="1"/>
          <p:nvPr>
            <p:ph idx="1" type="subTitle"/>
          </p:nvPr>
        </p:nvSpPr>
        <p:spPr>
          <a:xfrm>
            <a:off x="2588150" y="3723900"/>
            <a:ext cx="4199400" cy="792600"/>
          </a:xfrm>
          <a:prstGeom prst="rect">
            <a:avLst/>
          </a:prstGeom>
          <a:noFill/>
          <a:ln>
            <a:noFill/>
          </a:ln>
        </p:spPr>
        <p:txBody>
          <a:bodyPr anchorCtr="0" anchor="t" bIns="91425" lIns="91425" spcFirstLastPara="1" rIns="91425" wrap="square" tIns="91425">
            <a:normAutofit/>
          </a:bodyPr>
          <a:lstStyle/>
          <a:p>
            <a:pPr indent="0" lvl="0" marL="0" rtl="0" algn="ctr">
              <a:lnSpc>
                <a:spcPct val="100000"/>
              </a:lnSpc>
              <a:spcBef>
                <a:spcPts val="0"/>
              </a:spcBef>
              <a:spcAft>
                <a:spcPts val="0"/>
              </a:spcAft>
              <a:buSzPts val="2800"/>
              <a:buNone/>
            </a:pPr>
            <a:r>
              <a:rPr lang="it" sz="1600">
                <a:latin typeface="Montserrat Medium"/>
                <a:ea typeface="Montserrat Medium"/>
                <a:cs typeface="Montserrat Medium"/>
                <a:sym typeface="Montserrat Medium"/>
              </a:rPr>
              <a:t>University of Colombo</a:t>
            </a:r>
            <a:endParaRPr sz="1600"/>
          </a:p>
        </p:txBody>
      </p:sp>
      <p:pic>
        <p:nvPicPr>
          <p:cNvPr descr="ICTP logo" id="59" name="Google Shape;59;p1"/>
          <p:cNvPicPr preferRelativeResize="0"/>
          <p:nvPr/>
        </p:nvPicPr>
        <p:blipFill rotWithShape="1">
          <a:blip r:embed="rId3">
            <a:alphaModFix/>
          </a:blip>
          <a:srcRect b="0" l="0" r="0" t="0"/>
          <a:stretch/>
        </p:blipFill>
        <p:spPr>
          <a:xfrm>
            <a:off x="790925" y="217625"/>
            <a:ext cx="2481185" cy="792600"/>
          </a:xfrm>
          <a:prstGeom prst="rect">
            <a:avLst/>
          </a:prstGeom>
          <a:noFill/>
          <a:ln>
            <a:noFill/>
          </a:ln>
        </p:spPr>
      </p:pic>
      <p:sp>
        <p:nvSpPr>
          <p:cNvPr id="60" name="Google Shape;60;p1"/>
          <p:cNvSpPr/>
          <p:nvPr/>
        </p:nvSpPr>
        <p:spPr>
          <a:xfrm>
            <a:off x="1795925" y="2719325"/>
            <a:ext cx="5965200" cy="777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descr="Visual Identity | University of Colombo, Sri Lanka" id="61" name="Google Shape;61;p1"/>
          <p:cNvPicPr preferRelativeResize="0"/>
          <p:nvPr/>
        </p:nvPicPr>
        <p:blipFill rotWithShape="1">
          <a:blip r:embed="rId4">
            <a:alphaModFix/>
          </a:blip>
          <a:srcRect b="0" l="0" r="0" t="0"/>
          <a:stretch/>
        </p:blipFill>
        <p:spPr>
          <a:xfrm>
            <a:off x="6187850" y="217625"/>
            <a:ext cx="2657909" cy="792600"/>
          </a:xfrm>
          <a:prstGeom prst="rect">
            <a:avLst/>
          </a:prstGeom>
          <a:noFill/>
          <a:ln>
            <a:noFill/>
          </a:ln>
        </p:spPr>
      </p:pic>
      <p:sp>
        <p:nvSpPr>
          <p:cNvPr id="62" name="Google Shape;62;p1"/>
          <p:cNvSpPr txBox="1"/>
          <p:nvPr/>
        </p:nvSpPr>
        <p:spPr>
          <a:xfrm>
            <a:off x="7139750" y="4506125"/>
            <a:ext cx="1556100" cy="4155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500"/>
              <a:buFont typeface="Arial"/>
              <a:buNone/>
            </a:pPr>
            <a:r>
              <a:rPr b="0" i="0" lang="it" sz="1500" u="none" cap="none" strike="noStrike">
                <a:solidFill>
                  <a:schemeClr val="dk2"/>
                </a:solidFill>
                <a:latin typeface="Arial"/>
                <a:ea typeface="Arial"/>
                <a:cs typeface="Arial"/>
                <a:sym typeface="Arial"/>
              </a:rPr>
              <a:t>Dr. Marta Monti</a:t>
            </a:r>
            <a:endParaRPr b="0" i="0" sz="1500" u="none" cap="none" strike="noStrike">
              <a:solidFill>
                <a:schemeClr val="dk2"/>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 name="Shape 66"/>
        <p:cNvGrpSpPr/>
        <p:nvPr/>
      </p:nvGrpSpPr>
      <p:grpSpPr>
        <a:xfrm>
          <a:off x="0" y="0"/>
          <a:ext cx="0" cy="0"/>
          <a:chOff x="0" y="0"/>
          <a:chExt cx="0" cy="0"/>
        </a:xfrm>
      </p:grpSpPr>
      <p:sp>
        <p:nvSpPr>
          <p:cNvPr id="67" name="Google Shape;67;p2"/>
          <p:cNvSpPr/>
          <p:nvPr/>
        </p:nvSpPr>
        <p:spPr>
          <a:xfrm>
            <a:off x="2943725" y="1840550"/>
            <a:ext cx="1433400" cy="672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8" name="Google Shape;68;p2"/>
          <p:cNvSpPr txBox="1"/>
          <p:nvPr/>
        </p:nvSpPr>
        <p:spPr>
          <a:xfrm>
            <a:off x="2912115" y="1827755"/>
            <a:ext cx="1490700" cy="672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Compute </a:t>
            </a:r>
            <a:r>
              <a:rPr lang="it" sz="1500"/>
              <a:t>forces</a:t>
            </a:r>
            <a:r>
              <a:rPr b="0" i="0" lang="it" sz="1500" u="none" cap="none" strike="noStrike">
                <a:solidFill>
                  <a:srgbClr val="000000"/>
                </a:solidFill>
                <a:latin typeface="Arial"/>
                <a:ea typeface="Arial"/>
                <a:cs typeface="Arial"/>
                <a:sym typeface="Arial"/>
              </a:rPr>
              <a:t> (</a:t>
            </a:r>
            <a:r>
              <a:rPr b="0" i="1" lang="it" sz="1500" u="none" cap="none" strike="noStrike">
                <a:solidFill>
                  <a:srgbClr val="000000"/>
                </a:solidFill>
                <a:latin typeface="Arial"/>
                <a:ea typeface="Arial"/>
                <a:cs typeface="Arial"/>
                <a:sym typeface="Arial"/>
              </a:rPr>
              <a:t>F</a:t>
            </a:r>
            <a:r>
              <a:rPr b="0" baseline="-25000" i="1" lang="it" sz="1500" u="none" cap="none" strike="noStrike">
                <a:solidFill>
                  <a:srgbClr val="000000"/>
                </a:solidFill>
                <a:latin typeface="Arial"/>
                <a:ea typeface="Arial"/>
                <a:cs typeface="Arial"/>
                <a:sym typeface="Arial"/>
              </a:rPr>
              <a:t>i</a:t>
            </a:r>
            <a:r>
              <a:rPr b="0" lang="it" sz="1500" u="none" cap="none" strike="noStrike">
                <a:solidFill>
                  <a:srgbClr val="000000"/>
                </a:solidFill>
                <a:latin typeface="Arial"/>
                <a:ea typeface="Arial"/>
                <a:cs typeface="Arial"/>
                <a:sym typeface="Arial"/>
              </a:rPr>
              <a:t>)</a:t>
            </a:r>
            <a:endParaRPr b="1" sz="1500" u="none" cap="none" strike="noStrike">
              <a:solidFill>
                <a:srgbClr val="000000"/>
              </a:solidFill>
              <a:latin typeface="Arial"/>
              <a:ea typeface="Arial"/>
              <a:cs typeface="Arial"/>
              <a:sym typeface="Arial"/>
            </a:endParaRPr>
          </a:p>
        </p:txBody>
      </p:sp>
      <p:sp>
        <p:nvSpPr>
          <p:cNvPr id="69" name="Google Shape;69;p2"/>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Overview</a:t>
            </a:r>
            <a:endParaRPr sz="2500">
              <a:latin typeface="Montserrat SemiBold"/>
              <a:ea typeface="Montserrat SemiBold"/>
              <a:cs typeface="Montserrat SemiBold"/>
              <a:sym typeface="Montserrat SemiBold"/>
            </a:endParaRPr>
          </a:p>
        </p:txBody>
      </p:sp>
      <p:sp>
        <p:nvSpPr>
          <p:cNvPr id="70" name="Google Shape;70;p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1" name="Google Shape;71;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72" name="Google Shape;72;p2"/>
          <p:cNvSpPr txBox="1"/>
          <p:nvPr/>
        </p:nvSpPr>
        <p:spPr>
          <a:xfrm>
            <a:off x="290400" y="787329"/>
            <a:ext cx="8563200" cy="7227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In a molecular dynamics (MD) simulation, we integrate the equation of motions to follow the temporal evolution of a set of </a:t>
            </a:r>
            <a:r>
              <a:rPr b="0" i="1" lang="it" sz="1600" u="none" cap="none" strike="noStrike">
                <a:solidFill>
                  <a:srgbClr val="000000"/>
                </a:solidFill>
                <a:latin typeface="Arial"/>
                <a:ea typeface="Arial"/>
                <a:cs typeface="Arial"/>
                <a:sym typeface="Arial"/>
              </a:rPr>
              <a:t>N</a:t>
            </a:r>
            <a:r>
              <a:rPr b="0" i="0" lang="it" sz="1600" u="none" cap="none" strike="noStrike">
                <a:solidFill>
                  <a:srgbClr val="000000"/>
                </a:solidFill>
                <a:latin typeface="Arial"/>
                <a:ea typeface="Arial"/>
                <a:cs typeface="Arial"/>
                <a:sym typeface="Arial"/>
              </a:rPr>
              <a:t> </a:t>
            </a:r>
            <a:r>
              <a:rPr b="1" i="0" lang="it" sz="1600" u="none" cap="none" strike="noStrike">
                <a:solidFill>
                  <a:srgbClr val="000000"/>
                </a:solidFill>
                <a:latin typeface="Arial"/>
                <a:ea typeface="Arial"/>
                <a:cs typeface="Arial"/>
                <a:sym typeface="Arial"/>
              </a:rPr>
              <a:t>interacting</a:t>
            </a:r>
            <a:r>
              <a:rPr b="0" i="0" lang="it" sz="1600" u="none" cap="none" strike="noStrike">
                <a:solidFill>
                  <a:srgbClr val="000000"/>
                </a:solidFill>
                <a:latin typeface="Arial"/>
                <a:ea typeface="Arial"/>
                <a:cs typeface="Arial"/>
                <a:sym typeface="Arial"/>
              </a:rPr>
              <a:t> particles:</a:t>
            </a:r>
            <a:endParaRPr b="1" i="0" sz="1600" u="none" cap="none" strike="noStrike">
              <a:solidFill>
                <a:srgbClr val="000000"/>
              </a:solidFill>
              <a:latin typeface="Arial"/>
              <a:ea typeface="Arial"/>
              <a:cs typeface="Arial"/>
              <a:sym typeface="Arial"/>
            </a:endParaRPr>
          </a:p>
        </p:txBody>
      </p:sp>
      <p:sp>
        <p:nvSpPr>
          <p:cNvPr id="73" name="Google Shape;73;p2"/>
          <p:cNvSpPr/>
          <p:nvPr/>
        </p:nvSpPr>
        <p:spPr>
          <a:xfrm>
            <a:off x="530175" y="1662200"/>
            <a:ext cx="1638300" cy="393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4" name="Google Shape;74;p2"/>
          <p:cNvSpPr txBox="1"/>
          <p:nvPr/>
        </p:nvSpPr>
        <p:spPr>
          <a:xfrm>
            <a:off x="559575" y="1630400"/>
            <a:ext cx="1579500" cy="45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Initial positions</a:t>
            </a:r>
            <a:endParaRPr b="1" i="0" sz="1500" u="none" cap="none" strike="noStrike">
              <a:solidFill>
                <a:srgbClr val="000000"/>
              </a:solidFill>
              <a:latin typeface="Arial"/>
              <a:ea typeface="Arial"/>
              <a:cs typeface="Arial"/>
              <a:sym typeface="Arial"/>
            </a:endParaRPr>
          </a:p>
        </p:txBody>
      </p:sp>
      <p:sp>
        <p:nvSpPr>
          <p:cNvPr id="75" name="Google Shape;75;p2"/>
          <p:cNvSpPr/>
          <p:nvPr/>
        </p:nvSpPr>
        <p:spPr>
          <a:xfrm>
            <a:off x="530175" y="2322600"/>
            <a:ext cx="1638300" cy="393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6" name="Google Shape;76;p2"/>
          <p:cNvSpPr txBox="1"/>
          <p:nvPr/>
        </p:nvSpPr>
        <p:spPr>
          <a:xfrm>
            <a:off x="559575" y="2290800"/>
            <a:ext cx="1579500" cy="45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Initial velocities</a:t>
            </a:r>
            <a:endParaRPr b="1" i="0" sz="1500" u="none" cap="none" strike="noStrike">
              <a:solidFill>
                <a:srgbClr val="000000"/>
              </a:solidFill>
              <a:latin typeface="Arial"/>
              <a:ea typeface="Arial"/>
              <a:cs typeface="Arial"/>
              <a:sym typeface="Arial"/>
            </a:endParaRPr>
          </a:p>
        </p:txBody>
      </p:sp>
      <p:sp>
        <p:nvSpPr>
          <p:cNvPr id="77" name="Google Shape;77;p2"/>
          <p:cNvSpPr/>
          <p:nvPr/>
        </p:nvSpPr>
        <p:spPr>
          <a:xfrm>
            <a:off x="2396644" y="208760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8" name="Google Shape;78;p2"/>
          <p:cNvSpPr/>
          <p:nvPr/>
        </p:nvSpPr>
        <p:spPr>
          <a:xfrm>
            <a:off x="4604444" y="208760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9" name="Google Shape;79;p2"/>
          <p:cNvSpPr/>
          <p:nvPr/>
        </p:nvSpPr>
        <p:spPr>
          <a:xfrm>
            <a:off x="5181775" y="1840550"/>
            <a:ext cx="1490700" cy="672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0" name="Google Shape;80;p2"/>
          <p:cNvSpPr txBox="1"/>
          <p:nvPr/>
        </p:nvSpPr>
        <p:spPr>
          <a:xfrm>
            <a:off x="5108375" y="1806200"/>
            <a:ext cx="1638300" cy="72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Time integration of trajectory</a:t>
            </a:r>
            <a:endParaRPr b="1" baseline="-25000" i="1" sz="1500" u="none" cap="none" strike="noStrike">
              <a:solidFill>
                <a:srgbClr val="000000"/>
              </a:solidFill>
              <a:latin typeface="Arial"/>
              <a:ea typeface="Arial"/>
              <a:cs typeface="Arial"/>
              <a:sym typeface="Arial"/>
            </a:endParaRPr>
          </a:p>
        </p:txBody>
      </p:sp>
      <p:sp>
        <p:nvSpPr>
          <p:cNvPr id="81" name="Google Shape;81;p2"/>
          <p:cNvSpPr/>
          <p:nvPr/>
        </p:nvSpPr>
        <p:spPr>
          <a:xfrm>
            <a:off x="6900494" y="208760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2" name="Google Shape;82;p2"/>
          <p:cNvSpPr/>
          <p:nvPr/>
        </p:nvSpPr>
        <p:spPr>
          <a:xfrm>
            <a:off x="7478625" y="1849700"/>
            <a:ext cx="930600" cy="672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3" name="Google Shape;83;p2"/>
          <p:cNvSpPr txBox="1"/>
          <p:nvPr/>
        </p:nvSpPr>
        <p:spPr>
          <a:xfrm>
            <a:off x="7478625" y="1815350"/>
            <a:ext cx="930600" cy="72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Measure quantity</a:t>
            </a:r>
            <a:endParaRPr b="1" baseline="-25000" i="1" sz="1500" u="none" cap="none" strike="noStrike">
              <a:solidFill>
                <a:srgbClr val="000000"/>
              </a:solidFill>
              <a:latin typeface="Arial"/>
              <a:ea typeface="Arial"/>
              <a:cs typeface="Arial"/>
              <a:sym typeface="Arial"/>
            </a:endParaRPr>
          </a:p>
        </p:txBody>
      </p:sp>
      <p:sp>
        <p:nvSpPr>
          <p:cNvPr id="84" name="Google Shape;84;p2"/>
          <p:cNvSpPr/>
          <p:nvPr/>
        </p:nvSpPr>
        <p:spPr>
          <a:xfrm rot="5397054">
            <a:off x="7768884" y="2693799"/>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5" name="Google Shape;85;p2"/>
          <p:cNvSpPr/>
          <p:nvPr/>
        </p:nvSpPr>
        <p:spPr>
          <a:xfrm>
            <a:off x="7274025" y="3009418"/>
            <a:ext cx="1339800" cy="866400"/>
          </a:xfrm>
          <a:prstGeom prst="diamond">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6" name="Google Shape;86;p2"/>
          <p:cNvSpPr txBox="1"/>
          <p:nvPr/>
        </p:nvSpPr>
        <p:spPr>
          <a:xfrm>
            <a:off x="7304325" y="3245818"/>
            <a:ext cx="12792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FF0000"/>
                </a:solidFill>
                <a:latin typeface="Arial"/>
                <a:ea typeface="Arial"/>
                <a:cs typeface="Arial"/>
                <a:sym typeface="Arial"/>
              </a:rPr>
              <a:t>Converged?</a:t>
            </a:r>
            <a:endParaRPr b="1" baseline="-25000" i="1" sz="1500" u="none" cap="none" strike="noStrike">
              <a:solidFill>
                <a:srgbClr val="FF0000"/>
              </a:solidFill>
              <a:latin typeface="Arial"/>
              <a:ea typeface="Arial"/>
              <a:cs typeface="Arial"/>
              <a:sym typeface="Arial"/>
            </a:endParaRPr>
          </a:p>
        </p:txBody>
      </p:sp>
      <p:cxnSp>
        <p:nvCxnSpPr>
          <p:cNvPr id="87" name="Google Shape;87;p2"/>
          <p:cNvCxnSpPr/>
          <p:nvPr/>
        </p:nvCxnSpPr>
        <p:spPr>
          <a:xfrm flipH="1">
            <a:off x="3674325" y="3442618"/>
            <a:ext cx="3630000" cy="7200"/>
          </a:xfrm>
          <a:prstGeom prst="straightConnector1">
            <a:avLst/>
          </a:prstGeom>
          <a:noFill/>
          <a:ln cap="flat" cmpd="sng" w="19050">
            <a:solidFill>
              <a:schemeClr val="dk1"/>
            </a:solidFill>
            <a:prstDash val="solid"/>
            <a:round/>
            <a:headEnd len="sm" w="sm" type="none"/>
            <a:tailEnd len="sm" w="sm" type="none"/>
          </a:ln>
        </p:spPr>
      </p:cxnSp>
      <p:cxnSp>
        <p:nvCxnSpPr>
          <p:cNvPr id="88" name="Google Shape;88;p2"/>
          <p:cNvCxnSpPr/>
          <p:nvPr/>
        </p:nvCxnSpPr>
        <p:spPr>
          <a:xfrm rot="10800000">
            <a:off x="3656075" y="2598688"/>
            <a:ext cx="8700" cy="862500"/>
          </a:xfrm>
          <a:prstGeom prst="straightConnector1">
            <a:avLst/>
          </a:prstGeom>
          <a:noFill/>
          <a:ln cap="flat" cmpd="sng" w="19050">
            <a:solidFill>
              <a:schemeClr val="dk1"/>
            </a:solidFill>
            <a:prstDash val="solid"/>
            <a:round/>
            <a:headEnd len="sm" w="sm" type="none"/>
            <a:tailEnd len="sm" w="sm" type="none"/>
          </a:ln>
        </p:spPr>
      </p:cxnSp>
      <p:sp>
        <p:nvSpPr>
          <p:cNvPr id="89" name="Google Shape;89;p2"/>
          <p:cNvSpPr/>
          <p:nvPr/>
        </p:nvSpPr>
        <p:spPr>
          <a:xfrm>
            <a:off x="3580325" y="2538050"/>
            <a:ext cx="160200" cy="172800"/>
          </a:xfrm>
          <a:prstGeom prst="triangl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0" name="Google Shape;90;p2"/>
          <p:cNvSpPr txBox="1"/>
          <p:nvPr/>
        </p:nvSpPr>
        <p:spPr>
          <a:xfrm>
            <a:off x="6672475" y="3092518"/>
            <a:ext cx="548700" cy="350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No</a:t>
            </a:r>
            <a:endParaRPr b="1" baseline="-25000" i="1" sz="1500" u="none" cap="none" strike="noStrike">
              <a:solidFill>
                <a:srgbClr val="000000"/>
              </a:solidFill>
              <a:latin typeface="Arial"/>
              <a:ea typeface="Arial"/>
              <a:cs typeface="Arial"/>
              <a:sym typeface="Arial"/>
            </a:endParaRPr>
          </a:p>
        </p:txBody>
      </p:sp>
      <p:cxnSp>
        <p:nvCxnSpPr>
          <p:cNvPr id="91" name="Google Shape;91;p2"/>
          <p:cNvCxnSpPr/>
          <p:nvPr/>
        </p:nvCxnSpPr>
        <p:spPr>
          <a:xfrm flipH="1" rot="10800000">
            <a:off x="7938525" y="3875818"/>
            <a:ext cx="10800" cy="522000"/>
          </a:xfrm>
          <a:prstGeom prst="straightConnector1">
            <a:avLst/>
          </a:prstGeom>
          <a:noFill/>
          <a:ln cap="flat" cmpd="sng" w="19050">
            <a:solidFill>
              <a:schemeClr val="dk1"/>
            </a:solidFill>
            <a:prstDash val="solid"/>
            <a:round/>
            <a:headEnd len="sm" w="sm" type="none"/>
            <a:tailEnd len="sm" w="sm" type="none"/>
          </a:ln>
        </p:spPr>
      </p:cxnSp>
      <p:sp>
        <p:nvSpPr>
          <p:cNvPr id="92" name="Google Shape;92;p2"/>
          <p:cNvSpPr txBox="1"/>
          <p:nvPr/>
        </p:nvSpPr>
        <p:spPr>
          <a:xfrm>
            <a:off x="7900324" y="3912433"/>
            <a:ext cx="548700" cy="350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Yes</a:t>
            </a:r>
            <a:endParaRPr b="1" baseline="-25000" i="1" sz="1500" u="none" cap="none" strike="noStrike">
              <a:solidFill>
                <a:srgbClr val="000000"/>
              </a:solidFill>
              <a:latin typeface="Arial"/>
              <a:ea typeface="Arial"/>
              <a:cs typeface="Arial"/>
              <a:sym typeface="Arial"/>
            </a:endParaRPr>
          </a:p>
        </p:txBody>
      </p:sp>
      <p:sp>
        <p:nvSpPr>
          <p:cNvPr id="93" name="Google Shape;93;p2"/>
          <p:cNvSpPr/>
          <p:nvPr/>
        </p:nvSpPr>
        <p:spPr>
          <a:xfrm>
            <a:off x="7554225" y="4397825"/>
            <a:ext cx="779400" cy="672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 name="Google Shape;94;p2"/>
          <p:cNvSpPr txBox="1"/>
          <p:nvPr/>
        </p:nvSpPr>
        <p:spPr>
          <a:xfrm>
            <a:off x="7554225" y="4535525"/>
            <a:ext cx="779400" cy="350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38761D"/>
                </a:solidFill>
                <a:latin typeface="Arial"/>
                <a:ea typeface="Arial"/>
                <a:cs typeface="Arial"/>
                <a:sym typeface="Arial"/>
              </a:rPr>
              <a:t>Finish</a:t>
            </a:r>
            <a:endParaRPr b="1" baseline="-25000" i="1" sz="1500" u="none" cap="none" strike="noStrike">
              <a:solidFill>
                <a:srgbClr val="38761D"/>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3"/>
          <p:cNvSpPr/>
          <p:nvPr/>
        </p:nvSpPr>
        <p:spPr>
          <a:xfrm>
            <a:off x="2943725" y="1840550"/>
            <a:ext cx="1433400" cy="672300"/>
          </a:xfrm>
          <a:prstGeom prst="rect">
            <a:avLst/>
          </a:prstGeom>
          <a:noFill/>
          <a:ln cap="flat" cmpd="sng" w="19050">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0" name="Google Shape;100;p3"/>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Overview</a:t>
            </a:r>
            <a:endParaRPr sz="2500">
              <a:latin typeface="Montserrat SemiBold"/>
              <a:ea typeface="Montserrat SemiBold"/>
              <a:cs typeface="Montserrat SemiBold"/>
              <a:sym typeface="Montserrat SemiBold"/>
            </a:endParaRPr>
          </a:p>
        </p:txBody>
      </p:sp>
      <p:sp>
        <p:nvSpPr>
          <p:cNvPr id="101" name="Google Shape;101;p3"/>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2" name="Google Shape;102;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103" name="Google Shape;103;p3"/>
          <p:cNvSpPr txBox="1"/>
          <p:nvPr/>
        </p:nvSpPr>
        <p:spPr>
          <a:xfrm>
            <a:off x="290400" y="787329"/>
            <a:ext cx="8563200" cy="7227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In a molecular dynamics (MD) simulation, we integrate the equation of motions to follow the temporal evolution of a set of </a:t>
            </a:r>
            <a:r>
              <a:rPr b="0" i="1" lang="it" sz="1600" u="none" cap="none" strike="noStrike">
                <a:solidFill>
                  <a:srgbClr val="000000"/>
                </a:solidFill>
                <a:latin typeface="Arial"/>
                <a:ea typeface="Arial"/>
                <a:cs typeface="Arial"/>
                <a:sym typeface="Arial"/>
              </a:rPr>
              <a:t>N</a:t>
            </a:r>
            <a:r>
              <a:rPr b="0" i="0" lang="it" sz="1600" u="none" cap="none" strike="noStrike">
                <a:solidFill>
                  <a:srgbClr val="000000"/>
                </a:solidFill>
                <a:latin typeface="Arial"/>
                <a:ea typeface="Arial"/>
                <a:cs typeface="Arial"/>
                <a:sym typeface="Arial"/>
              </a:rPr>
              <a:t> </a:t>
            </a:r>
            <a:r>
              <a:rPr b="1" i="0" lang="it" sz="1600" u="none" cap="none" strike="noStrike">
                <a:solidFill>
                  <a:srgbClr val="000000"/>
                </a:solidFill>
                <a:latin typeface="Arial"/>
                <a:ea typeface="Arial"/>
                <a:cs typeface="Arial"/>
                <a:sym typeface="Arial"/>
              </a:rPr>
              <a:t>interacting</a:t>
            </a:r>
            <a:r>
              <a:rPr b="0" i="0" lang="it" sz="1600" u="none" cap="none" strike="noStrike">
                <a:solidFill>
                  <a:srgbClr val="000000"/>
                </a:solidFill>
                <a:latin typeface="Arial"/>
                <a:ea typeface="Arial"/>
                <a:cs typeface="Arial"/>
                <a:sym typeface="Arial"/>
              </a:rPr>
              <a:t> particles:</a:t>
            </a:r>
            <a:endParaRPr b="1" i="0" sz="1600" u="none" cap="none" strike="noStrike">
              <a:solidFill>
                <a:srgbClr val="000000"/>
              </a:solidFill>
              <a:latin typeface="Arial"/>
              <a:ea typeface="Arial"/>
              <a:cs typeface="Arial"/>
              <a:sym typeface="Arial"/>
            </a:endParaRPr>
          </a:p>
        </p:txBody>
      </p:sp>
      <p:sp>
        <p:nvSpPr>
          <p:cNvPr id="104" name="Google Shape;104;p3"/>
          <p:cNvSpPr/>
          <p:nvPr/>
        </p:nvSpPr>
        <p:spPr>
          <a:xfrm>
            <a:off x="530175" y="1662200"/>
            <a:ext cx="1638300" cy="393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3"/>
          <p:cNvSpPr txBox="1"/>
          <p:nvPr/>
        </p:nvSpPr>
        <p:spPr>
          <a:xfrm>
            <a:off x="559575" y="1630400"/>
            <a:ext cx="1579500" cy="45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Initial positions</a:t>
            </a:r>
            <a:endParaRPr b="1" i="0" sz="1500" u="none" cap="none" strike="noStrike">
              <a:solidFill>
                <a:srgbClr val="000000"/>
              </a:solidFill>
              <a:latin typeface="Arial"/>
              <a:ea typeface="Arial"/>
              <a:cs typeface="Arial"/>
              <a:sym typeface="Arial"/>
            </a:endParaRPr>
          </a:p>
        </p:txBody>
      </p:sp>
      <p:sp>
        <p:nvSpPr>
          <p:cNvPr id="106" name="Google Shape;106;p3"/>
          <p:cNvSpPr/>
          <p:nvPr/>
        </p:nvSpPr>
        <p:spPr>
          <a:xfrm>
            <a:off x="530175" y="2322600"/>
            <a:ext cx="1638300" cy="3936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7" name="Google Shape;107;p3"/>
          <p:cNvSpPr txBox="1"/>
          <p:nvPr/>
        </p:nvSpPr>
        <p:spPr>
          <a:xfrm>
            <a:off x="559575" y="2290800"/>
            <a:ext cx="1579500" cy="457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Initial velocities</a:t>
            </a:r>
            <a:endParaRPr b="1" i="0" sz="1500" u="none" cap="none" strike="noStrike">
              <a:solidFill>
                <a:srgbClr val="000000"/>
              </a:solidFill>
              <a:latin typeface="Arial"/>
              <a:ea typeface="Arial"/>
              <a:cs typeface="Arial"/>
              <a:sym typeface="Arial"/>
            </a:endParaRPr>
          </a:p>
        </p:txBody>
      </p:sp>
      <p:sp>
        <p:nvSpPr>
          <p:cNvPr id="108" name="Google Shape;108;p3"/>
          <p:cNvSpPr/>
          <p:nvPr/>
        </p:nvSpPr>
        <p:spPr>
          <a:xfrm>
            <a:off x="2396644" y="208760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3"/>
          <p:cNvSpPr/>
          <p:nvPr/>
        </p:nvSpPr>
        <p:spPr>
          <a:xfrm>
            <a:off x="4604444" y="208760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3"/>
          <p:cNvSpPr/>
          <p:nvPr/>
        </p:nvSpPr>
        <p:spPr>
          <a:xfrm>
            <a:off x="5181775" y="1840550"/>
            <a:ext cx="1490700" cy="672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3"/>
          <p:cNvSpPr txBox="1"/>
          <p:nvPr/>
        </p:nvSpPr>
        <p:spPr>
          <a:xfrm>
            <a:off x="5108375" y="1806200"/>
            <a:ext cx="1638300" cy="72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Time integration of trajectory</a:t>
            </a:r>
            <a:endParaRPr b="1" baseline="-25000" i="1" sz="1500" u="none" cap="none" strike="noStrike">
              <a:solidFill>
                <a:srgbClr val="000000"/>
              </a:solidFill>
              <a:latin typeface="Arial"/>
              <a:ea typeface="Arial"/>
              <a:cs typeface="Arial"/>
              <a:sym typeface="Arial"/>
            </a:endParaRPr>
          </a:p>
        </p:txBody>
      </p:sp>
      <p:sp>
        <p:nvSpPr>
          <p:cNvPr id="112" name="Google Shape;112;p3"/>
          <p:cNvSpPr/>
          <p:nvPr/>
        </p:nvSpPr>
        <p:spPr>
          <a:xfrm>
            <a:off x="6900494" y="2087600"/>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3" name="Google Shape;113;p3"/>
          <p:cNvSpPr/>
          <p:nvPr/>
        </p:nvSpPr>
        <p:spPr>
          <a:xfrm>
            <a:off x="7478625" y="1849700"/>
            <a:ext cx="930600" cy="672300"/>
          </a:xfrm>
          <a:prstGeom prst="rect">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4" name="Google Shape;114;p3"/>
          <p:cNvSpPr txBox="1"/>
          <p:nvPr/>
        </p:nvSpPr>
        <p:spPr>
          <a:xfrm>
            <a:off x="7478625" y="1815350"/>
            <a:ext cx="930600" cy="72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Measure quantity</a:t>
            </a:r>
            <a:endParaRPr b="1" baseline="-25000" i="1" sz="1500" u="none" cap="none" strike="noStrike">
              <a:solidFill>
                <a:srgbClr val="000000"/>
              </a:solidFill>
              <a:latin typeface="Arial"/>
              <a:ea typeface="Arial"/>
              <a:cs typeface="Arial"/>
              <a:sym typeface="Arial"/>
            </a:endParaRPr>
          </a:p>
        </p:txBody>
      </p:sp>
      <p:sp>
        <p:nvSpPr>
          <p:cNvPr id="115" name="Google Shape;115;p3"/>
          <p:cNvSpPr/>
          <p:nvPr/>
        </p:nvSpPr>
        <p:spPr>
          <a:xfrm rot="5397054">
            <a:off x="7768884" y="2693799"/>
            <a:ext cx="350100" cy="159900"/>
          </a:xfrm>
          <a:prstGeom prst="rightArrow">
            <a:avLst>
              <a:gd fmla="val 50000" name="adj1"/>
              <a:gd fmla="val 50000" name="adj2"/>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6" name="Google Shape;116;p3"/>
          <p:cNvSpPr/>
          <p:nvPr/>
        </p:nvSpPr>
        <p:spPr>
          <a:xfrm>
            <a:off x="7274025" y="3009418"/>
            <a:ext cx="1339800" cy="866400"/>
          </a:xfrm>
          <a:prstGeom prst="diamond">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7" name="Google Shape;117;p3"/>
          <p:cNvSpPr txBox="1"/>
          <p:nvPr/>
        </p:nvSpPr>
        <p:spPr>
          <a:xfrm>
            <a:off x="7304325" y="3245818"/>
            <a:ext cx="12792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FF0000"/>
                </a:solidFill>
                <a:latin typeface="Arial"/>
                <a:ea typeface="Arial"/>
                <a:cs typeface="Arial"/>
                <a:sym typeface="Arial"/>
              </a:rPr>
              <a:t>Converged?</a:t>
            </a:r>
            <a:endParaRPr b="1" baseline="-25000" i="1" sz="1500" u="none" cap="none" strike="noStrike">
              <a:solidFill>
                <a:srgbClr val="FF0000"/>
              </a:solidFill>
              <a:latin typeface="Arial"/>
              <a:ea typeface="Arial"/>
              <a:cs typeface="Arial"/>
              <a:sym typeface="Arial"/>
            </a:endParaRPr>
          </a:p>
        </p:txBody>
      </p:sp>
      <p:sp>
        <p:nvSpPr>
          <p:cNvPr id="118" name="Google Shape;118;p3"/>
          <p:cNvSpPr txBox="1"/>
          <p:nvPr/>
        </p:nvSpPr>
        <p:spPr>
          <a:xfrm>
            <a:off x="6672475" y="3092518"/>
            <a:ext cx="548700" cy="350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No</a:t>
            </a:r>
            <a:endParaRPr b="1" baseline="-25000" i="1" sz="1500" u="none" cap="none" strike="noStrike">
              <a:solidFill>
                <a:srgbClr val="000000"/>
              </a:solidFill>
              <a:latin typeface="Arial"/>
              <a:ea typeface="Arial"/>
              <a:cs typeface="Arial"/>
              <a:sym typeface="Arial"/>
            </a:endParaRPr>
          </a:p>
        </p:txBody>
      </p:sp>
      <p:cxnSp>
        <p:nvCxnSpPr>
          <p:cNvPr id="119" name="Google Shape;119;p3"/>
          <p:cNvCxnSpPr/>
          <p:nvPr/>
        </p:nvCxnSpPr>
        <p:spPr>
          <a:xfrm flipH="1" rot="10800000">
            <a:off x="7938525" y="3875818"/>
            <a:ext cx="10800" cy="522000"/>
          </a:xfrm>
          <a:prstGeom prst="straightConnector1">
            <a:avLst/>
          </a:prstGeom>
          <a:noFill/>
          <a:ln cap="flat" cmpd="sng" w="19050">
            <a:solidFill>
              <a:schemeClr val="dk1"/>
            </a:solidFill>
            <a:prstDash val="solid"/>
            <a:round/>
            <a:headEnd len="sm" w="sm" type="none"/>
            <a:tailEnd len="sm" w="sm" type="none"/>
          </a:ln>
        </p:spPr>
      </p:cxnSp>
      <p:sp>
        <p:nvSpPr>
          <p:cNvPr id="120" name="Google Shape;120;p3"/>
          <p:cNvSpPr txBox="1"/>
          <p:nvPr/>
        </p:nvSpPr>
        <p:spPr>
          <a:xfrm>
            <a:off x="7900324" y="3912433"/>
            <a:ext cx="548700" cy="350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Yes</a:t>
            </a:r>
            <a:endParaRPr b="1" baseline="-25000" i="1" sz="1500" u="none" cap="none" strike="noStrike">
              <a:solidFill>
                <a:srgbClr val="000000"/>
              </a:solidFill>
              <a:latin typeface="Arial"/>
              <a:ea typeface="Arial"/>
              <a:cs typeface="Arial"/>
              <a:sym typeface="Arial"/>
            </a:endParaRPr>
          </a:p>
        </p:txBody>
      </p:sp>
      <p:sp>
        <p:nvSpPr>
          <p:cNvPr id="121" name="Google Shape;121;p3"/>
          <p:cNvSpPr/>
          <p:nvPr/>
        </p:nvSpPr>
        <p:spPr>
          <a:xfrm>
            <a:off x="7554225" y="4397825"/>
            <a:ext cx="779400" cy="672300"/>
          </a:xfrm>
          <a:prstGeom prst="ellipse">
            <a:avLst/>
          </a:prstGeom>
          <a:noFill/>
          <a:ln cap="flat" cmpd="sng" w="19050">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2" name="Google Shape;122;p3"/>
          <p:cNvSpPr txBox="1"/>
          <p:nvPr/>
        </p:nvSpPr>
        <p:spPr>
          <a:xfrm>
            <a:off x="7554225" y="4535525"/>
            <a:ext cx="779400" cy="3501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38761D"/>
                </a:solidFill>
                <a:latin typeface="Arial"/>
                <a:ea typeface="Arial"/>
                <a:cs typeface="Arial"/>
                <a:sym typeface="Arial"/>
              </a:rPr>
              <a:t>Finish</a:t>
            </a:r>
            <a:endParaRPr b="1" baseline="-25000" i="1" sz="1500" u="none" cap="none" strike="noStrike">
              <a:solidFill>
                <a:srgbClr val="38761D"/>
              </a:solidFill>
              <a:latin typeface="Arial"/>
              <a:ea typeface="Arial"/>
              <a:cs typeface="Arial"/>
              <a:sym typeface="Arial"/>
            </a:endParaRPr>
          </a:p>
        </p:txBody>
      </p:sp>
      <p:pic>
        <p:nvPicPr>
          <p:cNvPr id="123" name="Google Shape;123;p3" title="eq_mot.png"/>
          <p:cNvPicPr preferRelativeResize="0"/>
          <p:nvPr/>
        </p:nvPicPr>
        <p:blipFill rotWithShape="1">
          <a:blip r:embed="rId3">
            <a:alphaModFix/>
          </a:blip>
          <a:srcRect b="0" l="0" r="0" t="0"/>
          <a:stretch/>
        </p:blipFill>
        <p:spPr>
          <a:xfrm>
            <a:off x="2183125" y="3912425"/>
            <a:ext cx="2954597" cy="862501"/>
          </a:xfrm>
          <a:prstGeom prst="rect">
            <a:avLst/>
          </a:prstGeom>
          <a:noFill/>
          <a:ln cap="flat" cmpd="sng" w="19050">
            <a:solidFill>
              <a:srgbClr val="0000FF"/>
            </a:solidFill>
            <a:prstDash val="solid"/>
            <a:round/>
            <a:headEnd len="sm" w="sm" type="none"/>
            <a:tailEnd len="sm" w="sm" type="none"/>
          </a:ln>
        </p:spPr>
      </p:pic>
      <p:cxnSp>
        <p:nvCxnSpPr>
          <p:cNvPr id="124" name="Google Shape;124;p3"/>
          <p:cNvCxnSpPr/>
          <p:nvPr/>
        </p:nvCxnSpPr>
        <p:spPr>
          <a:xfrm flipH="1">
            <a:off x="3674325" y="3442618"/>
            <a:ext cx="3630000" cy="7200"/>
          </a:xfrm>
          <a:prstGeom prst="straightConnector1">
            <a:avLst/>
          </a:prstGeom>
          <a:noFill/>
          <a:ln cap="flat" cmpd="sng" w="19050">
            <a:solidFill>
              <a:schemeClr val="dk1"/>
            </a:solidFill>
            <a:prstDash val="solid"/>
            <a:round/>
            <a:headEnd len="sm" w="sm" type="none"/>
            <a:tailEnd len="sm" w="sm" type="none"/>
          </a:ln>
        </p:spPr>
      </p:cxnSp>
      <p:cxnSp>
        <p:nvCxnSpPr>
          <p:cNvPr id="125" name="Google Shape;125;p3"/>
          <p:cNvCxnSpPr/>
          <p:nvPr/>
        </p:nvCxnSpPr>
        <p:spPr>
          <a:xfrm rot="10800000">
            <a:off x="3656075" y="2598688"/>
            <a:ext cx="8700" cy="862500"/>
          </a:xfrm>
          <a:prstGeom prst="straightConnector1">
            <a:avLst/>
          </a:prstGeom>
          <a:noFill/>
          <a:ln cap="flat" cmpd="sng" w="19050">
            <a:solidFill>
              <a:schemeClr val="dk1"/>
            </a:solidFill>
            <a:prstDash val="solid"/>
            <a:round/>
            <a:headEnd len="sm" w="sm" type="none"/>
            <a:tailEnd len="sm" w="sm" type="none"/>
          </a:ln>
        </p:spPr>
      </p:cxnSp>
      <p:sp>
        <p:nvSpPr>
          <p:cNvPr id="126" name="Google Shape;126;p3"/>
          <p:cNvSpPr/>
          <p:nvPr/>
        </p:nvSpPr>
        <p:spPr>
          <a:xfrm>
            <a:off x="3580325" y="2538050"/>
            <a:ext cx="160200" cy="172800"/>
          </a:xfrm>
          <a:prstGeom prst="triangle">
            <a:avLst>
              <a:gd fmla="val 50000" name="adj"/>
            </a:avLst>
          </a:prstGeom>
          <a:solidFill>
            <a:schemeClr val="dk1"/>
          </a:solidFill>
          <a:ln cap="flat" cmpd="sng" w="9525">
            <a:solidFill>
              <a:schemeClr val="dk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7" name="Google Shape;127;p3"/>
          <p:cNvSpPr txBox="1"/>
          <p:nvPr/>
        </p:nvSpPr>
        <p:spPr>
          <a:xfrm>
            <a:off x="2912115" y="1827755"/>
            <a:ext cx="1490700" cy="672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Compute </a:t>
            </a:r>
            <a:r>
              <a:rPr lang="it" sz="1500"/>
              <a:t>forces</a:t>
            </a:r>
            <a:r>
              <a:rPr b="0" i="0" lang="it" sz="1500" u="none" cap="none" strike="noStrike">
                <a:solidFill>
                  <a:srgbClr val="000000"/>
                </a:solidFill>
                <a:latin typeface="Arial"/>
                <a:ea typeface="Arial"/>
                <a:cs typeface="Arial"/>
                <a:sym typeface="Arial"/>
              </a:rPr>
              <a:t> (</a:t>
            </a:r>
            <a:r>
              <a:rPr b="0" i="1" lang="it" sz="1500" u="none" cap="none" strike="noStrike">
                <a:solidFill>
                  <a:srgbClr val="000000"/>
                </a:solidFill>
                <a:latin typeface="Arial"/>
                <a:ea typeface="Arial"/>
                <a:cs typeface="Arial"/>
                <a:sym typeface="Arial"/>
              </a:rPr>
              <a:t>F</a:t>
            </a:r>
            <a:r>
              <a:rPr b="0" baseline="-25000" i="1" lang="it" sz="1500" u="none" cap="none" strike="noStrike">
                <a:solidFill>
                  <a:srgbClr val="000000"/>
                </a:solidFill>
                <a:latin typeface="Arial"/>
                <a:ea typeface="Arial"/>
                <a:cs typeface="Arial"/>
                <a:sym typeface="Arial"/>
              </a:rPr>
              <a:t>i</a:t>
            </a:r>
            <a:r>
              <a:rPr b="0" lang="it" sz="1500" u="none" cap="none" strike="noStrike">
                <a:solidFill>
                  <a:srgbClr val="000000"/>
                </a:solidFill>
                <a:latin typeface="Arial"/>
                <a:ea typeface="Arial"/>
                <a:cs typeface="Arial"/>
                <a:sym typeface="Arial"/>
              </a:rPr>
              <a:t>)</a:t>
            </a:r>
            <a:endParaRPr b="1" sz="1500" u="none" cap="none" strike="noStrike">
              <a:solidFill>
                <a:srgbClr val="000000"/>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4"/>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Interatomic interactions</a:t>
            </a:r>
            <a:endParaRPr sz="2500">
              <a:latin typeface="Montserrat SemiBold"/>
              <a:ea typeface="Montserrat SemiBold"/>
              <a:cs typeface="Montserrat SemiBold"/>
              <a:sym typeface="Montserrat SemiBold"/>
            </a:endParaRPr>
          </a:p>
        </p:txBody>
      </p:sp>
      <p:sp>
        <p:nvSpPr>
          <p:cNvPr id="133" name="Google Shape;133;p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pic>
        <p:nvPicPr>
          <p:cNvPr id="135" name="Google Shape;135;p4" title="eq_mot.png"/>
          <p:cNvPicPr preferRelativeResize="0"/>
          <p:nvPr/>
        </p:nvPicPr>
        <p:blipFill rotWithShape="1">
          <a:blip r:embed="rId3">
            <a:alphaModFix/>
          </a:blip>
          <a:srcRect b="0" l="0" r="0" t="0"/>
          <a:stretch/>
        </p:blipFill>
        <p:spPr>
          <a:xfrm>
            <a:off x="3094700" y="1002725"/>
            <a:ext cx="2954597" cy="862501"/>
          </a:xfrm>
          <a:prstGeom prst="rect">
            <a:avLst/>
          </a:prstGeom>
          <a:noFill/>
          <a:ln>
            <a:noFill/>
          </a:ln>
        </p:spPr>
      </p:pic>
      <p:cxnSp>
        <p:nvCxnSpPr>
          <p:cNvPr id="136" name="Google Shape;136;p4"/>
          <p:cNvCxnSpPr/>
          <p:nvPr/>
        </p:nvCxnSpPr>
        <p:spPr>
          <a:xfrm flipH="1">
            <a:off x="2977875" y="1667432"/>
            <a:ext cx="249900" cy="387900"/>
          </a:xfrm>
          <a:prstGeom prst="straightConnector1">
            <a:avLst/>
          </a:prstGeom>
          <a:noFill/>
          <a:ln cap="flat" cmpd="sng" w="9525">
            <a:solidFill>
              <a:schemeClr val="dk1"/>
            </a:solidFill>
            <a:prstDash val="solid"/>
            <a:round/>
            <a:headEnd len="sm" w="sm" type="none"/>
            <a:tailEnd len="med" w="med" type="triangle"/>
          </a:ln>
        </p:spPr>
      </p:cxnSp>
      <p:sp>
        <p:nvSpPr>
          <p:cNvPr id="137" name="Google Shape;137;p4"/>
          <p:cNvSpPr txBox="1"/>
          <p:nvPr/>
        </p:nvSpPr>
        <p:spPr>
          <a:xfrm>
            <a:off x="1037550" y="2148800"/>
            <a:ext cx="3324900" cy="6267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Force acting on the </a:t>
            </a:r>
            <a:r>
              <a:rPr b="0" i="1" lang="it" sz="1500" u="none" cap="none" strike="noStrike">
                <a:solidFill>
                  <a:srgbClr val="000000"/>
                </a:solidFill>
                <a:latin typeface="Arial"/>
                <a:ea typeface="Arial"/>
                <a:cs typeface="Arial"/>
                <a:sym typeface="Arial"/>
              </a:rPr>
              <a:t>i</a:t>
            </a:r>
            <a:r>
              <a:rPr b="0" i="0" lang="it" sz="1500" u="none" cap="none" strike="noStrike">
                <a:solidFill>
                  <a:srgbClr val="000000"/>
                </a:solidFill>
                <a:latin typeface="Arial"/>
                <a:ea typeface="Arial"/>
                <a:cs typeface="Arial"/>
                <a:sym typeface="Arial"/>
              </a:rPr>
              <a:t> particle due to its interaction with other particles</a:t>
            </a:r>
            <a:endParaRPr b="0" i="0" sz="1500" u="none" cap="none" strike="noStrike">
              <a:solidFill>
                <a:srgbClr val="000000"/>
              </a:solidFill>
              <a:latin typeface="Arial"/>
              <a:ea typeface="Arial"/>
              <a:cs typeface="Arial"/>
              <a:sym typeface="Arial"/>
            </a:endParaRPr>
          </a:p>
        </p:txBody>
      </p:sp>
      <p:sp>
        <p:nvSpPr>
          <p:cNvPr id="138" name="Google Shape;138;p4"/>
          <p:cNvSpPr/>
          <p:nvPr/>
        </p:nvSpPr>
        <p:spPr>
          <a:xfrm>
            <a:off x="5222225" y="881175"/>
            <a:ext cx="827100" cy="572700"/>
          </a:xfrm>
          <a:prstGeom prst="ellipse">
            <a:avLst/>
          </a:prstGeom>
          <a:noFill/>
          <a:ln cap="flat" cmpd="sng" w="9525">
            <a:solidFill>
              <a:srgbClr val="0000FF"/>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139" name="Google Shape;139;p4"/>
          <p:cNvCxnSpPr/>
          <p:nvPr/>
        </p:nvCxnSpPr>
        <p:spPr>
          <a:xfrm>
            <a:off x="6049300" y="1665332"/>
            <a:ext cx="171900" cy="392100"/>
          </a:xfrm>
          <a:prstGeom prst="straightConnector1">
            <a:avLst/>
          </a:prstGeom>
          <a:noFill/>
          <a:ln cap="flat" cmpd="sng" w="9525">
            <a:solidFill>
              <a:schemeClr val="dk1"/>
            </a:solidFill>
            <a:prstDash val="solid"/>
            <a:round/>
            <a:headEnd len="sm" w="sm" type="none"/>
            <a:tailEnd len="med" w="med" type="triangle"/>
          </a:ln>
        </p:spPr>
      </p:cxnSp>
      <p:sp>
        <p:nvSpPr>
          <p:cNvPr id="140" name="Google Shape;140;p4"/>
          <p:cNvSpPr txBox="1"/>
          <p:nvPr/>
        </p:nvSpPr>
        <p:spPr>
          <a:xfrm>
            <a:off x="5468250" y="2148800"/>
            <a:ext cx="2590500" cy="6267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We derive the forces from the potential energy</a:t>
            </a:r>
            <a:endParaRPr b="0" i="0" sz="1500" u="none" cap="none" strike="noStrike">
              <a:solidFill>
                <a:srgbClr val="000000"/>
              </a:solidFill>
              <a:latin typeface="Arial"/>
              <a:ea typeface="Arial"/>
              <a:cs typeface="Arial"/>
              <a:sym typeface="Arial"/>
            </a:endParaRPr>
          </a:p>
        </p:txBody>
      </p:sp>
      <p:sp>
        <p:nvSpPr>
          <p:cNvPr id="141" name="Google Shape;141;p4"/>
          <p:cNvSpPr txBox="1"/>
          <p:nvPr/>
        </p:nvSpPr>
        <p:spPr>
          <a:xfrm>
            <a:off x="311700" y="3192925"/>
            <a:ext cx="8520600" cy="724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potential energy function can be split into three components: </a:t>
            </a:r>
            <a:r>
              <a:rPr b="1" i="0" lang="it" sz="1600" u="none" cap="none" strike="noStrike">
                <a:solidFill>
                  <a:srgbClr val="000000"/>
                </a:solidFill>
                <a:latin typeface="Arial"/>
                <a:ea typeface="Arial"/>
                <a:cs typeface="Arial"/>
                <a:sym typeface="Arial"/>
              </a:rPr>
              <a:t>bonded</a:t>
            </a:r>
            <a:r>
              <a:rPr b="0" i="0" lang="it" sz="1600" u="none" cap="none" strike="noStrike">
                <a:solidFill>
                  <a:srgbClr val="000000"/>
                </a:solidFill>
                <a:latin typeface="Arial"/>
                <a:ea typeface="Arial"/>
                <a:cs typeface="Arial"/>
                <a:sym typeface="Arial"/>
              </a:rPr>
              <a:t> term, </a:t>
            </a:r>
            <a:r>
              <a:rPr b="1" i="0" lang="it" sz="1600" u="none" cap="none" strike="noStrike">
                <a:solidFill>
                  <a:srgbClr val="000000"/>
                </a:solidFill>
                <a:latin typeface="Arial"/>
                <a:ea typeface="Arial"/>
                <a:cs typeface="Arial"/>
                <a:sym typeface="Arial"/>
              </a:rPr>
              <a:t>non-bonded</a:t>
            </a:r>
            <a:r>
              <a:rPr b="0" i="0" lang="it" sz="1600" u="none" cap="none" strike="noStrike">
                <a:solidFill>
                  <a:srgbClr val="000000"/>
                </a:solidFill>
                <a:latin typeface="Arial"/>
                <a:ea typeface="Arial"/>
                <a:cs typeface="Arial"/>
                <a:sym typeface="Arial"/>
              </a:rPr>
              <a:t> term, and the term due to the presence of an </a:t>
            </a:r>
            <a:r>
              <a:rPr b="1" i="0" lang="it" sz="1600" u="none" cap="none" strike="noStrike">
                <a:solidFill>
                  <a:srgbClr val="000000"/>
                </a:solidFill>
                <a:latin typeface="Arial"/>
                <a:ea typeface="Arial"/>
                <a:cs typeface="Arial"/>
                <a:sym typeface="Arial"/>
              </a:rPr>
              <a:t>external field</a:t>
            </a:r>
            <a:r>
              <a:rPr b="0" i="0" lang="it"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pic>
        <p:nvPicPr>
          <p:cNvPr id="142" name="Google Shape;142;p4" title="pot_energy.png"/>
          <p:cNvPicPr preferRelativeResize="0"/>
          <p:nvPr/>
        </p:nvPicPr>
        <p:blipFill rotWithShape="1">
          <a:blip r:embed="rId4">
            <a:alphaModFix/>
          </a:blip>
          <a:srcRect b="0" l="5568" r="5772" t="0"/>
          <a:stretch/>
        </p:blipFill>
        <p:spPr>
          <a:xfrm>
            <a:off x="1994238" y="4003950"/>
            <a:ext cx="5155523" cy="5139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5"/>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Bonded term</a:t>
            </a:r>
            <a:endParaRPr sz="2500">
              <a:latin typeface="Montserrat SemiBold"/>
              <a:ea typeface="Montserrat SemiBold"/>
              <a:cs typeface="Montserrat SemiBold"/>
              <a:sym typeface="Montserrat SemiBold"/>
            </a:endParaRPr>
          </a:p>
        </p:txBody>
      </p:sp>
      <p:sp>
        <p:nvSpPr>
          <p:cNvPr id="148" name="Google Shape;148;p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9" name="Google Shape;149;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150" name="Google Shape;150;p5"/>
          <p:cNvSpPr txBox="1"/>
          <p:nvPr/>
        </p:nvSpPr>
        <p:spPr>
          <a:xfrm>
            <a:off x="311700" y="885450"/>
            <a:ext cx="8520600" cy="7053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bonded term includes the 2-, 3-, and 4-body interactions between atoms that are </a:t>
            </a:r>
            <a:r>
              <a:rPr b="1" i="0" lang="it" sz="1600" u="none" cap="none" strike="noStrike">
                <a:solidFill>
                  <a:srgbClr val="000000"/>
                </a:solidFill>
                <a:latin typeface="Arial"/>
                <a:ea typeface="Arial"/>
                <a:cs typeface="Arial"/>
                <a:sym typeface="Arial"/>
              </a:rPr>
              <a:t>bonded covalently</a:t>
            </a:r>
            <a:r>
              <a:rPr b="0" i="0" lang="it" sz="1600" u="none" cap="none" strike="noStrike">
                <a:solidFill>
                  <a:srgbClr val="000000"/>
                </a:solidFill>
                <a:latin typeface="Arial"/>
                <a:ea typeface="Arial"/>
                <a:cs typeface="Arial"/>
                <a:sym typeface="Arial"/>
              </a:rPr>
              <a:t>.</a:t>
            </a:r>
            <a:endParaRPr b="0" i="0" sz="1600" u="none" cap="none" strike="noStrike">
              <a:solidFill>
                <a:srgbClr val="000000"/>
              </a:solidFill>
              <a:latin typeface="Arial"/>
              <a:ea typeface="Arial"/>
              <a:cs typeface="Arial"/>
              <a:sym typeface="Arial"/>
            </a:endParaRPr>
          </a:p>
        </p:txBody>
      </p:sp>
      <p:sp>
        <p:nvSpPr>
          <p:cNvPr id="151" name="Google Shape;151;p5"/>
          <p:cNvSpPr txBox="1"/>
          <p:nvPr/>
        </p:nvSpPr>
        <p:spPr>
          <a:xfrm>
            <a:off x="963850" y="1853825"/>
            <a:ext cx="991800" cy="457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1" i="0" lang="it" sz="1600" u="none" cap="none" strike="noStrike">
                <a:solidFill>
                  <a:srgbClr val="FF0000"/>
                </a:solidFill>
                <a:latin typeface="Arial"/>
                <a:ea typeface="Arial"/>
                <a:cs typeface="Arial"/>
                <a:sym typeface="Arial"/>
              </a:rPr>
              <a:t>bonds</a:t>
            </a:r>
            <a:endParaRPr b="1" i="0" sz="1600" u="none" cap="none" strike="noStrike">
              <a:solidFill>
                <a:srgbClr val="FF0000"/>
              </a:solidFill>
              <a:latin typeface="Arial"/>
              <a:ea typeface="Arial"/>
              <a:cs typeface="Arial"/>
              <a:sym typeface="Arial"/>
            </a:endParaRPr>
          </a:p>
        </p:txBody>
      </p:sp>
      <p:sp>
        <p:nvSpPr>
          <p:cNvPr id="152" name="Google Shape;152;p5"/>
          <p:cNvSpPr txBox="1"/>
          <p:nvPr/>
        </p:nvSpPr>
        <p:spPr>
          <a:xfrm>
            <a:off x="3349938" y="1853825"/>
            <a:ext cx="991800" cy="457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1" i="0" lang="it" sz="1600" u="none" cap="none" strike="noStrike">
                <a:solidFill>
                  <a:srgbClr val="0000FF"/>
                </a:solidFill>
                <a:latin typeface="Arial"/>
                <a:ea typeface="Arial"/>
                <a:cs typeface="Arial"/>
                <a:sym typeface="Arial"/>
              </a:rPr>
              <a:t>angles</a:t>
            </a:r>
            <a:endParaRPr b="1" i="0" sz="1600" u="none" cap="none" strike="noStrike">
              <a:solidFill>
                <a:srgbClr val="0000FF"/>
              </a:solidFill>
              <a:latin typeface="Arial"/>
              <a:ea typeface="Arial"/>
              <a:cs typeface="Arial"/>
              <a:sym typeface="Arial"/>
            </a:endParaRPr>
          </a:p>
        </p:txBody>
      </p:sp>
      <p:sp>
        <p:nvSpPr>
          <p:cNvPr id="153" name="Google Shape;153;p5"/>
          <p:cNvSpPr txBox="1"/>
          <p:nvPr/>
        </p:nvSpPr>
        <p:spPr>
          <a:xfrm>
            <a:off x="6356838" y="1853825"/>
            <a:ext cx="1146300" cy="457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1" i="0" lang="it" sz="1600" u="none" cap="none" strike="noStrike">
                <a:solidFill>
                  <a:srgbClr val="188038"/>
                </a:solidFill>
                <a:latin typeface="Arial"/>
                <a:ea typeface="Arial"/>
                <a:cs typeface="Arial"/>
                <a:sym typeface="Arial"/>
              </a:rPr>
              <a:t>dihedrals</a:t>
            </a:r>
            <a:endParaRPr b="1" i="0" sz="1600" u="none" cap="none" strike="noStrike">
              <a:solidFill>
                <a:srgbClr val="188038"/>
              </a:solidFill>
              <a:latin typeface="Arial"/>
              <a:ea typeface="Arial"/>
              <a:cs typeface="Arial"/>
              <a:sym typeface="Arial"/>
            </a:endParaRPr>
          </a:p>
        </p:txBody>
      </p:sp>
      <p:pic>
        <p:nvPicPr>
          <p:cNvPr id="154" name="Google Shape;154;p5"/>
          <p:cNvPicPr preferRelativeResize="0"/>
          <p:nvPr/>
        </p:nvPicPr>
        <p:blipFill rotWithShape="1">
          <a:blip r:embed="rId3">
            <a:alphaModFix/>
          </a:blip>
          <a:srcRect b="56983" l="0" r="65522" t="22142"/>
          <a:stretch/>
        </p:blipFill>
        <p:spPr>
          <a:xfrm>
            <a:off x="648424" y="2311326"/>
            <a:ext cx="1622675" cy="1210851"/>
          </a:xfrm>
          <a:prstGeom prst="rect">
            <a:avLst/>
          </a:prstGeom>
          <a:noFill/>
          <a:ln>
            <a:noFill/>
          </a:ln>
        </p:spPr>
      </p:pic>
      <p:pic>
        <p:nvPicPr>
          <p:cNvPr id="155" name="Google Shape;155;p5"/>
          <p:cNvPicPr preferRelativeResize="0"/>
          <p:nvPr/>
        </p:nvPicPr>
        <p:blipFill rotWithShape="1">
          <a:blip r:embed="rId3">
            <a:alphaModFix/>
          </a:blip>
          <a:srcRect b="56610" l="34873" r="32787" t="22579"/>
          <a:stretch/>
        </p:blipFill>
        <p:spPr>
          <a:xfrm>
            <a:off x="3034500" y="2311325"/>
            <a:ext cx="1622675" cy="1210851"/>
          </a:xfrm>
          <a:prstGeom prst="rect">
            <a:avLst/>
          </a:prstGeom>
          <a:noFill/>
          <a:ln>
            <a:noFill/>
          </a:ln>
        </p:spPr>
      </p:pic>
      <p:pic>
        <p:nvPicPr>
          <p:cNvPr id="156" name="Google Shape;156;p5"/>
          <p:cNvPicPr preferRelativeResize="0"/>
          <p:nvPr/>
        </p:nvPicPr>
        <p:blipFill rotWithShape="1">
          <a:blip r:embed="rId3">
            <a:alphaModFix/>
          </a:blip>
          <a:srcRect b="55628" l="66896" r="0" t="22904"/>
          <a:stretch/>
        </p:blipFill>
        <p:spPr>
          <a:xfrm>
            <a:off x="5360432" y="2317872"/>
            <a:ext cx="1508975" cy="1277974"/>
          </a:xfrm>
          <a:prstGeom prst="rect">
            <a:avLst/>
          </a:prstGeom>
          <a:noFill/>
          <a:ln>
            <a:noFill/>
          </a:ln>
        </p:spPr>
      </p:pic>
      <p:grpSp>
        <p:nvGrpSpPr>
          <p:cNvPr id="157" name="Google Shape;157;p5"/>
          <p:cNvGrpSpPr/>
          <p:nvPr/>
        </p:nvGrpSpPr>
        <p:grpSpPr>
          <a:xfrm>
            <a:off x="6862166" y="2292472"/>
            <a:ext cx="1773908" cy="1512953"/>
            <a:chOff x="5598191" y="2330849"/>
            <a:chExt cx="1666424" cy="1512953"/>
          </a:xfrm>
        </p:grpSpPr>
        <p:pic>
          <p:nvPicPr>
            <p:cNvPr id="158" name="Google Shape;158;p5"/>
            <p:cNvPicPr preferRelativeResize="0"/>
            <p:nvPr/>
          </p:nvPicPr>
          <p:blipFill rotWithShape="1">
            <a:blip r:embed="rId3">
              <a:alphaModFix/>
            </a:blip>
            <a:srcRect b="78532" l="66895" r="0" t="0"/>
            <a:stretch/>
          </p:blipFill>
          <p:spPr>
            <a:xfrm>
              <a:off x="5740262" y="2330849"/>
              <a:ext cx="1524353" cy="1277974"/>
            </a:xfrm>
            <a:prstGeom prst="rect">
              <a:avLst/>
            </a:prstGeom>
            <a:noFill/>
            <a:ln>
              <a:noFill/>
            </a:ln>
          </p:spPr>
        </p:pic>
        <p:sp>
          <p:nvSpPr>
            <p:cNvPr id="159" name="Google Shape;159;p5"/>
            <p:cNvSpPr/>
            <p:nvPr/>
          </p:nvSpPr>
          <p:spPr>
            <a:xfrm rot="1375630">
              <a:off x="5616170" y="3466845"/>
              <a:ext cx="740064" cy="242381"/>
            </a:xfrm>
            <a:prstGeom prst="rect">
              <a:avLst/>
            </a:prstGeom>
            <a:solidFill>
              <a:schemeClr val="lt1"/>
            </a:soli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160" name="Google Shape;160;p5"/>
          <p:cNvSpPr txBox="1"/>
          <p:nvPr/>
        </p:nvSpPr>
        <p:spPr>
          <a:xfrm>
            <a:off x="5541775" y="3805400"/>
            <a:ext cx="1146300" cy="705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chemeClr val="dk1"/>
                </a:solidFill>
                <a:latin typeface="Arial"/>
                <a:ea typeface="Arial"/>
                <a:cs typeface="Arial"/>
                <a:sym typeface="Arial"/>
              </a:rPr>
              <a:t>proper dihedral</a:t>
            </a:r>
            <a:endParaRPr b="0" i="0" sz="1500" u="none" cap="none" strike="noStrike">
              <a:solidFill>
                <a:schemeClr val="dk1"/>
              </a:solidFill>
              <a:latin typeface="Arial"/>
              <a:ea typeface="Arial"/>
              <a:cs typeface="Arial"/>
              <a:sym typeface="Arial"/>
            </a:endParaRPr>
          </a:p>
        </p:txBody>
      </p:sp>
      <p:sp>
        <p:nvSpPr>
          <p:cNvPr id="161" name="Google Shape;161;p5"/>
          <p:cNvSpPr txBox="1"/>
          <p:nvPr/>
        </p:nvSpPr>
        <p:spPr>
          <a:xfrm>
            <a:off x="7256850" y="3805400"/>
            <a:ext cx="1146300" cy="7053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chemeClr val="dk1"/>
                </a:solidFill>
                <a:latin typeface="Arial"/>
                <a:ea typeface="Arial"/>
                <a:cs typeface="Arial"/>
                <a:sym typeface="Arial"/>
              </a:rPr>
              <a:t>improper dihedral</a:t>
            </a:r>
            <a:endParaRPr b="0" i="0" sz="1500" u="none" cap="none" strike="noStrike">
              <a:solidFill>
                <a:schemeClr val="dk1"/>
              </a:solidFill>
              <a:latin typeface="Arial"/>
              <a:ea typeface="Arial"/>
              <a:cs typeface="Arial"/>
              <a:sym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6"/>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Bonded term</a:t>
            </a:r>
            <a:endParaRPr sz="2500">
              <a:latin typeface="Montserrat SemiBold"/>
              <a:ea typeface="Montserrat SemiBold"/>
              <a:cs typeface="Montserrat SemiBold"/>
              <a:sym typeface="Montserrat SemiBold"/>
            </a:endParaRPr>
          </a:p>
        </p:txBody>
      </p:sp>
      <p:sp>
        <p:nvSpPr>
          <p:cNvPr id="167" name="Google Shape;167;p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8" name="Google Shape;168;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169" name="Google Shape;169;p6"/>
          <p:cNvSpPr txBox="1"/>
          <p:nvPr/>
        </p:nvSpPr>
        <p:spPr>
          <a:xfrm>
            <a:off x="217200" y="974875"/>
            <a:ext cx="8709600" cy="484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bond stretching between two atoms, </a:t>
            </a:r>
            <a:r>
              <a:rPr b="0" i="1" lang="it" sz="1600" u="none" cap="none" strike="noStrike">
                <a:solidFill>
                  <a:srgbClr val="000000"/>
                </a:solidFill>
                <a:latin typeface="Arial"/>
                <a:ea typeface="Arial"/>
                <a:cs typeface="Arial"/>
                <a:sym typeface="Arial"/>
              </a:rPr>
              <a:t>i</a:t>
            </a:r>
            <a:r>
              <a:rPr b="0" i="0" lang="it" sz="1600" u="none" cap="none" strike="noStrike">
                <a:solidFill>
                  <a:srgbClr val="000000"/>
                </a:solidFill>
                <a:latin typeface="Arial"/>
                <a:ea typeface="Arial"/>
                <a:cs typeface="Arial"/>
                <a:sym typeface="Arial"/>
              </a:rPr>
              <a:t> and </a:t>
            </a:r>
            <a:r>
              <a:rPr b="0" i="1" lang="it" sz="1600" u="none" cap="none" strike="noStrike">
                <a:solidFill>
                  <a:srgbClr val="000000"/>
                </a:solidFill>
                <a:latin typeface="Arial"/>
                <a:ea typeface="Arial"/>
                <a:cs typeface="Arial"/>
                <a:sym typeface="Arial"/>
              </a:rPr>
              <a:t>j</a:t>
            </a:r>
            <a:r>
              <a:rPr b="0" i="0" lang="it" sz="1600" u="none" cap="none" strike="noStrike">
                <a:solidFill>
                  <a:srgbClr val="000000"/>
                </a:solidFill>
                <a:latin typeface="Arial"/>
                <a:ea typeface="Arial"/>
                <a:cs typeface="Arial"/>
                <a:sym typeface="Arial"/>
              </a:rPr>
              <a:t>, is usually described with a harmonic potential</a:t>
            </a:r>
            <a:endParaRPr b="0" i="0" sz="1600" u="none" cap="none" strike="noStrike">
              <a:solidFill>
                <a:srgbClr val="000000"/>
              </a:solidFill>
              <a:latin typeface="Arial"/>
              <a:ea typeface="Arial"/>
              <a:cs typeface="Arial"/>
              <a:sym typeface="Arial"/>
            </a:endParaRPr>
          </a:p>
        </p:txBody>
      </p:sp>
      <p:pic>
        <p:nvPicPr>
          <p:cNvPr id="170" name="Google Shape;170;p6"/>
          <p:cNvPicPr preferRelativeResize="0"/>
          <p:nvPr/>
        </p:nvPicPr>
        <p:blipFill rotWithShape="1">
          <a:blip r:embed="rId3">
            <a:alphaModFix/>
          </a:blip>
          <a:srcRect b="36472" l="41062" r="41962" t="47054"/>
          <a:stretch/>
        </p:blipFill>
        <p:spPr>
          <a:xfrm>
            <a:off x="2196975" y="1657200"/>
            <a:ext cx="1200973" cy="940100"/>
          </a:xfrm>
          <a:prstGeom prst="rect">
            <a:avLst/>
          </a:prstGeom>
          <a:noFill/>
          <a:ln>
            <a:noFill/>
          </a:ln>
        </p:spPr>
      </p:pic>
      <p:pic>
        <p:nvPicPr>
          <p:cNvPr id="171" name="Google Shape;171;p6" title="Screenshot 2026-09-01 at 18.07.37.png"/>
          <p:cNvPicPr preferRelativeResize="0"/>
          <p:nvPr/>
        </p:nvPicPr>
        <p:blipFill rotWithShape="1">
          <a:blip r:embed="rId4">
            <a:alphaModFix/>
          </a:blip>
          <a:srcRect b="14902" l="17733" r="20066" t="64849"/>
          <a:stretch/>
        </p:blipFill>
        <p:spPr>
          <a:xfrm>
            <a:off x="3894930" y="1657200"/>
            <a:ext cx="3052099" cy="645226"/>
          </a:xfrm>
          <a:prstGeom prst="rect">
            <a:avLst/>
          </a:prstGeom>
          <a:noFill/>
          <a:ln>
            <a:noFill/>
          </a:ln>
        </p:spPr>
      </p:pic>
      <p:sp>
        <p:nvSpPr>
          <p:cNvPr id="172" name="Google Shape;172;p6"/>
          <p:cNvSpPr txBox="1"/>
          <p:nvPr/>
        </p:nvSpPr>
        <p:spPr>
          <a:xfrm>
            <a:off x="217200" y="2795125"/>
            <a:ext cx="8709600" cy="484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angle bending between a triplet of </a:t>
            </a:r>
            <a:r>
              <a:rPr b="0" i="1" lang="it" sz="1600" u="none" cap="none" strike="noStrike">
                <a:solidFill>
                  <a:srgbClr val="000000"/>
                </a:solidFill>
                <a:latin typeface="Arial"/>
                <a:ea typeface="Arial"/>
                <a:cs typeface="Arial"/>
                <a:sym typeface="Arial"/>
              </a:rPr>
              <a:t>i</a:t>
            </a:r>
            <a:r>
              <a:rPr b="0" i="0" lang="it" sz="1600" u="none" cap="none" strike="noStrike">
                <a:solidFill>
                  <a:srgbClr val="000000"/>
                </a:solidFill>
                <a:latin typeface="Arial"/>
                <a:ea typeface="Arial"/>
                <a:cs typeface="Arial"/>
                <a:sym typeface="Arial"/>
              </a:rPr>
              <a:t>-</a:t>
            </a:r>
            <a:r>
              <a:rPr b="0" i="1" lang="it" sz="1600" u="none" cap="none" strike="noStrike">
                <a:solidFill>
                  <a:srgbClr val="000000"/>
                </a:solidFill>
                <a:latin typeface="Arial"/>
                <a:ea typeface="Arial"/>
                <a:cs typeface="Arial"/>
                <a:sym typeface="Arial"/>
              </a:rPr>
              <a:t>j</a:t>
            </a:r>
            <a:r>
              <a:rPr b="0" i="0" lang="it" sz="1600" u="none" cap="none" strike="noStrike">
                <a:solidFill>
                  <a:srgbClr val="000000"/>
                </a:solidFill>
                <a:latin typeface="Arial"/>
                <a:ea typeface="Arial"/>
                <a:cs typeface="Arial"/>
                <a:sym typeface="Arial"/>
              </a:rPr>
              <a:t>-</a:t>
            </a:r>
            <a:r>
              <a:rPr b="0" i="1" lang="it" sz="1600" u="none" cap="none" strike="noStrike">
                <a:solidFill>
                  <a:srgbClr val="000000"/>
                </a:solidFill>
                <a:latin typeface="Arial"/>
                <a:ea typeface="Arial"/>
                <a:cs typeface="Arial"/>
                <a:sym typeface="Arial"/>
              </a:rPr>
              <a:t>k</a:t>
            </a:r>
            <a:r>
              <a:rPr b="0" i="0" lang="it" sz="1600" u="none" cap="none" strike="noStrike">
                <a:solidFill>
                  <a:srgbClr val="000000"/>
                </a:solidFill>
                <a:latin typeface="Arial"/>
                <a:ea typeface="Arial"/>
                <a:cs typeface="Arial"/>
                <a:sym typeface="Arial"/>
              </a:rPr>
              <a:t> atoms is also described with a harmonic potential</a:t>
            </a:r>
            <a:endParaRPr b="0" i="0" sz="1600" u="none" cap="none" strike="noStrike">
              <a:solidFill>
                <a:srgbClr val="000000"/>
              </a:solidFill>
              <a:latin typeface="Arial"/>
              <a:ea typeface="Arial"/>
              <a:cs typeface="Arial"/>
              <a:sym typeface="Arial"/>
            </a:endParaRPr>
          </a:p>
        </p:txBody>
      </p:sp>
      <p:pic>
        <p:nvPicPr>
          <p:cNvPr id="173" name="Google Shape;173;p6"/>
          <p:cNvPicPr preferRelativeResize="0"/>
          <p:nvPr/>
        </p:nvPicPr>
        <p:blipFill rotWithShape="1">
          <a:blip r:embed="rId3">
            <a:alphaModFix/>
          </a:blip>
          <a:srcRect b="16608" l="45771" r="35395" t="63982"/>
          <a:stretch/>
        </p:blipFill>
        <p:spPr>
          <a:xfrm>
            <a:off x="2196975" y="3421075"/>
            <a:ext cx="1200973" cy="998399"/>
          </a:xfrm>
          <a:prstGeom prst="rect">
            <a:avLst/>
          </a:prstGeom>
          <a:noFill/>
          <a:ln>
            <a:noFill/>
          </a:ln>
        </p:spPr>
      </p:pic>
      <p:pic>
        <p:nvPicPr>
          <p:cNvPr id="174" name="Google Shape;174;p6" title="Screenshot 2026-09-01 at 18.18.01.png"/>
          <p:cNvPicPr preferRelativeResize="0"/>
          <p:nvPr/>
        </p:nvPicPr>
        <p:blipFill rotWithShape="1">
          <a:blip r:embed="rId5">
            <a:alphaModFix/>
          </a:blip>
          <a:srcRect b="39258" l="24161" r="23834" t="45996"/>
          <a:stretch/>
        </p:blipFill>
        <p:spPr>
          <a:xfrm>
            <a:off x="3843439" y="3597663"/>
            <a:ext cx="3504000" cy="645226"/>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7"/>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Bonded term</a:t>
            </a:r>
            <a:endParaRPr sz="2500">
              <a:latin typeface="Montserrat SemiBold"/>
              <a:ea typeface="Montserrat SemiBold"/>
              <a:cs typeface="Montserrat SemiBold"/>
              <a:sym typeface="Montserrat SemiBold"/>
            </a:endParaRPr>
          </a:p>
        </p:txBody>
      </p:sp>
      <p:sp>
        <p:nvSpPr>
          <p:cNvPr id="180" name="Google Shape;180;p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81" name="Google Shape;181;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182" name="Google Shape;182;p7"/>
          <p:cNvSpPr txBox="1"/>
          <p:nvPr/>
        </p:nvSpPr>
        <p:spPr>
          <a:xfrm>
            <a:off x="4851188" y="3528589"/>
            <a:ext cx="4010100" cy="745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1" i="0" lang="it" sz="1600" u="none" cap="none" strike="noStrike">
                <a:solidFill>
                  <a:srgbClr val="000000"/>
                </a:solidFill>
                <a:latin typeface="Arial"/>
                <a:ea typeface="Arial"/>
                <a:cs typeface="Arial"/>
                <a:sym typeface="Arial"/>
              </a:rPr>
              <a:t>Improper</a:t>
            </a:r>
            <a:r>
              <a:rPr b="0" i="0" lang="it" sz="1600" u="none" cap="none" strike="noStrike">
                <a:solidFill>
                  <a:srgbClr val="000000"/>
                </a:solidFill>
                <a:latin typeface="Arial"/>
                <a:ea typeface="Arial"/>
                <a:cs typeface="Arial"/>
                <a:sym typeface="Arial"/>
              </a:rPr>
              <a:t> dihedrals are described by means of harmonic potential functions:</a:t>
            </a:r>
            <a:endParaRPr b="0" i="0" sz="1600" u="none" cap="none" strike="noStrike">
              <a:solidFill>
                <a:srgbClr val="000000"/>
              </a:solidFill>
              <a:latin typeface="Arial"/>
              <a:ea typeface="Arial"/>
              <a:cs typeface="Arial"/>
              <a:sym typeface="Arial"/>
            </a:endParaRPr>
          </a:p>
        </p:txBody>
      </p:sp>
      <p:sp>
        <p:nvSpPr>
          <p:cNvPr id="183" name="Google Shape;183;p7"/>
          <p:cNvSpPr txBox="1"/>
          <p:nvPr/>
        </p:nvSpPr>
        <p:spPr>
          <a:xfrm>
            <a:off x="272652" y="3528589"/>
            <a:ext cx="4249800" cy="745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1" i="0" lang="it" sz="1600" u="none" cap="none" strike="noStrike">
                <a:solidFill>
                  <a:srgbClr val="000000"/>
                </a:solidFill>
                <a:latin typeface="Arial"/>
                <a:ea typeface="Arial"/>
                <a:cs typeface="Arial"/>
                <a:sym typeface="Arial"/>
              </a:rPr>
              <a:t>Proper</a:t>
            </a:r>
            <a:r>
              <a:rPr b="0" i="0" lang="it" sz="1600" u="none" cap="none" strike="noStrike">
                <a:solidFill>
                  <a:srgbClr val="000000"/>
                </a:solidFill>
                <a:latin typeface="Arial"/>
                <a:ea typeface="Arial"/>
                <a:cs typeface="Arial"/>
                <a:sym typeface="Arial"/>
              </a:rPr>
              <a:t> dihedrals can be described by a sum of cosine functions:</a:t>
            </a:r>
            <a:endParaRPr b="0" i="0" sz="1600" u="none" cap="none" strike="noStrike">
              <a:solidFill>
                <a:srgbClr val="000000"/>
              </a:solidFill>
              <a:latin typeface="Arial"/>
              <a:ea typeface="Arial"/>
              <a:cs typeface="Arial"/>
              <a:sym typeface="Arial"/>
            </a:endParaRPr>
          </a:p>
        </p:txBody>
      </p:sp>
      <p:pic>
        <p:nvPicPr>
          <p:cNvPr id="184" name="Google Shape;184;p7"/>
          <p:cNvPicPr preferRelativeResize="0"/>
          <p:nvPr/>
        </p:nvPicPr>
        <p:blipFill rotWithShape="1">
          <a:blip r:embed="rId3">
            <a:alphaModFix/>
          </a:blip>
          <a:srcRect b="0" l="0" r="0" t="42083"/>
          <a:stretch/>
        </p:blipFill>
        <p:spPr>
          <a:xfrm>
            <a:off x="2141925" y="866004"/>
            <a:ext cx="4860126" cy="2689800"/>
          </a:xfrm>
          <a:prstGeom prst="rect">
            <a:avLst/>
          </a:prstGeom>
          <a:noFill/>
          <a:ln>
            <a:noFill/>
          </a:ln>
        </p:spPr>
      </p:pic>
      <p:pic>
        <p:nvPicPr>
          <p:cNvPr id="185" name="Google Shape;185;p7" title="Screenshot 2026-09-01 at 18.29.22.png"/>
          <p:cNvPicPr preferRelativeResize="0"/>
          <p:nvPr/>
        </p:nvPicPr>
        <p:blipFill rotWithShape="1">
          <a:blip r:embed="rId4">
            <a:alphaModFix/>
          </a:blip>
          <a:srcRect b="34533" l="16367" r="18346" t="47704"/>
          <a:stretch/>
        </p:blipFill>
        <p:spPr>
          <a:xfrm>
            <a:off x="5071138" y="4192446"/>
            <a:ext cx="3570202" cy="630826"/>
          </a:xfrm>
          <a:prstGeom prst="rect">
            <a:avLst/>
          </a:prstGeom>
          <a:noFill/>
          <a:ln>
            <a:noFill/>
          </a:ln>
        </p:spPr>
      </p:pic>
      <p:pic>
        <p:nvPicPr>
          <p:cNvPr id="186" name="Google Shape;186;p7" title="Screenshot 2026-09-01 at 18.30.33.png"/>
          <p:cNvPicPr preferRelativeResize="0"/>
          <p:nvPr/>
        </p:nvPicPr>
        <p:blipFill rotWithShape="1">
          <a:blip r:embed="rId5">
            <a:alphaModFix/>
          </a:blip>
          <a:srcRect b="15580" l="14819" r="19318" t="69926"/>
          <a:stretch/>
        </p:blipFill>
        <p:spPr>
          <a:xfrm>
            <a:off x="214663" y="4274089"/>
            <a:ext cx="4365798" cy="630826"/>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8"/>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Non-bonded term</a:t>
            </a:r>
            <a:endParaRPr sz="2500">
              <a:latin typeface="Montserrat SemiBold"/>
              <a:ea typeface="Montserrat SemiBold"/>
              <a:cs typeface="Montserrat SemiBold"/>
              <a:sym typeface="Montserrat SemiBold"/>
            </a:endParaRPr>
          </a:p>
        </p:txBody>
      </p:sp>
      <p:sp>
        <p:nvSpPr>
          <p:cNvPr id="192" name="Google Shape;192;p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93" name="Google Shape;193;p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194" name="Google Shape;194;p8"/>
          <p:cNvSpPr txBox="1"/>
          <p:nvPr/>
        </p:nvSpPr>
        <p:spPr>
          <a:xfrm>
            <a:off x="216450" y="885450"/>
            <a:ext cx="8740200" cy="10677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The non-bonded term should consider all the potential terms between non-bonded atoms.</a:t>
            </a:r>
            <a:endParaRPr b="0" i="0" sz="1600" u="none" cap="none" strike="noStrike">
              <a:solidFill>
                <a:srgbClr val="000000"/>
              </a:solidFill>
              <a:latin typeface="Arial"/>
              <a:ea typeface="Arial"/>
              <a:cs typeface="Arial"/>
              <a:sym typeface="Arial"/>
            </a:endParaRPr>
          </a:p>
          <a:p>
            <a:pPr indent="-330200" lvl="0" marL="457200" marR="0" rtl="0" algn="just">
              <a:lnSpc>
                <a:spcPct val="115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We approximate it considering only the interaction between pair of particles → </a:t>
            </a:r>
            <a:r>
              <a:rPr b="1" i="0" lang="it" sz="1600" u="none" cap="none" strike="noStrike">
                <a:solidFill>
                  <a:schemeClr val="dk1"/>
                </a:solidFill>
                <a:latin typeface="Arial"/>
                <a:ea typeface="Arial"/>
                <a:cs typeface="Arial"/>
                <a:sym typeface="Arial"/>
              </a:rPr>
              <a:t>pairwise potential</a:t>
            </a:r>
            <a:endParaRPr b="0" i="0" sz="1600" u="none" cap="none" strike="noStrike">
              <a:solidFill>
                <a:schemeClr val="dk1"/>
              </a:solidFill>
              <a:latin typeface="Arial"/>
              <a:ea typeface="Arial"/>
              <a:cs typeface="Arial"/>
              <a:sym typeface="Arial"/>
            </a:endParaRPr>
          </a:p>
          <a:p>
            <a:pPr indent="0" lvl="0" marL="0" marR="0" rtl="0" algn="just">
              <a:lnSpc>
                <a:spcPct val="115000"/>
              </a:lnSpc>
              <a:spcBef>
                <a:spcPts val="0"/>
              </a:spcBef>
              <a:spcAft>
                <a:spcPts val="0"/>
              </a:spcAft>
              <a:buClr>
                <a:srgbClr val="000000"/>
              </a:buClr>
              <a:buSzPts val="1600"/>
              <a:buFont typeface="Arial"/>
              <a:buNone/>
            </a:pPr>
            <a:r>
              <a:t/>
            </a:r>
            <a:endParaRPr b="0" i="0" sz="1600" u="none" cap="none" strike="noStrike">
              <a:solidFill>
                <a:srgbClr val="000000"/>
              </a:solidFill>
              <a:latin typeface="Arial"/>
              <a:ea typeface="Arial"/>
              <a:cs typeface="Arial"/>
              <a:sym typeface="Arial"/>
            </a:endParaRPr>
          </a:p>
        </p:txBody>
      </p:sp>
      <p:sp>
        <p:nvSpPr>
          <p:cNvPr id="195" name="Google Shape;195;p8"/>
          <p:cNvSpPr txBox="1"/>
          <p:nvPr/>
        </p:nvSpPr>
        <p:spPr>
          <a:xfrm>
            <a:off x="2108238" y="2281547"/>
            <a:ext cx="1700100" cy="628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1" i="0" lang="it" sz="1600" u="none" cap="none" strike="noStrike">
                <a:solidFill>
                  <a:srgbClr val="FF0000"/>
                </a:solidFill>
                <a:latin typeface="Arial"/>
                <a:ea typeface="Arial"/>
                <a:cs typeface="Arial"/>
                <a:sym typeface="Arial"/>
                <a:extLst>
                  <a:ext uri="http://customooxmlschemas.google.com/">
                    <go:slidesCustomData xmlns:go="http://customooxmlschemas.google.com/" textRoundtripDataId="0"/>
                  </a:ext>
                </a:extLst>
              </a:rPr>
              <a:t>van der Waals</a:t>
            </a:r>
            <a:endParaRPr b="1" i="0" sz="1600" u="none" cap="none" strike="noStrike">
              <a:solidFill>
                <a:srgbClr val="FF0000"/>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term</a:t>
            </a:r>
            <a:endParaRPr b="0" i="0" sz="1600" u="none" cap="none" strike="noStrike">
              <a:solidFill>
                <a:schemeClr val="dk1"/>
              </a:solidFill>
              <a:latin typeface="Arial"/>
              <a:ea typeface="Arial"/>
              <a:cs typeface="Arial"/>
              <a:sym typeface="Arial"/>
            </a:endParaRPr>
          </a:p>
        </p:txBody>
      </p:sp>
      <p:sp>
        <p:nvSpPr>
          <p:cNvPr id="196" name="Google Shape;196;p8"/>
          <p:cNvSpPr txBox="1"/>
          <p:nvPr/>
        </p:nvSpPr>
        <p:spPr>
          <a:xfrm>
            <a:off x="5550438" y="2281547"/>
            <a:ext cx="1485900" cy="628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1" i="0" lang="it" sz="1600" u="none" cap="none" strike="noStrike">
                <a:solidFill>
                  <a:srgbClr val="0000FF"/>
                </a:solidFill>
                <a:latin typeface="Arial"/>
                <a:ea typeface="Arial"/>
                <a:cs typeface="Arial"/>
                <a:sym typeface="Arial"/>
                <a:extLst>
                  <a:ext uri="http://customooxmlschemas.google.com/">
                    <go:slidesCustomData xmlns:go="http://customooxmlschemas.google.com/" textRoundtripDataId="1"/>
                  </a:ext>
                </a:extLst>
              </a:rPr>
              <a:t>electrostatic</a:t>
            </a:r>
            <a:endParaRPr b="1" i="0" sz="1600" u="none" cap="none" strike="noStrike">
              <a:solidFill>
                <a:srgbClr val="0000FF"/>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term</a:t>
            </a:r>
            <a:endParaRPr b="0" i="0" sz="1600" u="none" cap="none" strike="noStrike">
              <a:solidFill>
                <a:schemeClr val="dk1"/>
              </a:solidFill>
              <a:latin typeface="Arial"/>
              <a:ea typeface="Arial"/>
              <a:cs typeface="Arial"/>
              <a:sym typeface="Arial"/>
            </a:endParaRPr>
          </a:p>
        </p:txBody>
      </p:sp>
      <p:pic>
        <p:nvPicPr>
          <p:cNvPr id="197" name="Google Shape;197;p8"/>
          <p:cNvPicPr preferRelativeResize="0"/>
          <p:nvPr/>
        </p:nvPicPr>
        <p:blipFill rotWithShape="1">
          <a:blip r:embed="rId3">
            <a:alphaModFix/>
          </a:blip>
          <a:srcRect b="70103" l="69101" r="0" t="0"/>
          <a:stretch/>
        </p:blipFill>
        <p:spPr>
          <a:xfrm>
            <a:off x="1951813" y="3062560"/>
            <a:ext cx="2012948" cy="1571052"/>
          </a:xfrm>
          <a:prstGeom prst="rect">
            <a:avLst/>
          </a:prstGeom>
          <a:noFill/>
          <a:ln>
            <a:noFill/>
          </a:ln>
        </p:spPr>
      </p:pic>
      <p:pic>
        <p:nvPicPr>
          <p:cNvPr id="198" name="Google Shape;198;p8"/>
          <p:cNvPicPr preferRelativeResize="0"/>
          <p:nvPr/>
        </p:nvPicPr>
        <p:blipFill rotWithShape="1">
          <a:blip r:embed="rId3">
            <a:alphaModFix/>
          </a:blip>
          <a:srcRect b="55036" l="41216" r="28226" t="21857"/>
          <a:stretch/>
        </p:blipFill>
        <p:spPr>
          <a:xfrm>
            <a:off x="5177987" y="3167722"/>
            <a:ext cx="2230799" cy="1360723"/>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sp>
        <p:nvSpPr>
          <p:cNvPr id="203" name="Google Shape;203;p9"/>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van der Waals</a:t>
            </a:r>
            <a:endParaRPr sz="2500">
              <a:latin typeface="Montserrat SemiBold"/>
              <a:ea typeface="Montserrat SemiBold"/>
              <a:cs typeface="Montserrat SemiBold"/>
              <a:sym typeface="Montserrat SemiBold"/>
            </a:endParaRPr>
          </a:p>
        </p:txBody>
      </p:sp>
      <p:sp>
        <p:nvSpPr>
          <p:cNvPr id="204" name="Google Shape;204;p9"/>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5" name="Google Shape;205;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06" name="Google Shape;206;p9"/>
          <p:cNvSpPr txBox="1"/>
          <p:nvPr/>
        </p:nvSpPr>
        <p:spPr>
          <a:xfrm>
            <a:off x="65143" y="815064"/>
            <a:ext cx="8847300" cy="19626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rgbClr val="000000"/>
              </a:buClr>
              <a:buSzPts val="1500"/>
              <a:buFont typeface="Arial"/>
              <a:buChar char="●"/>
            </a:pPr>
            <a:r>
              <a:rPr lang="it" sz="1500">
                <a:solidFill>
                  <a:schemeClr val="dk1"/>
                </a:solidFill>
              </a:rPr>
              <a:t>In classical MD, the </a:t>
            </a:r>
            <a:r>
              <a:rPr b="1" lang="it" sz="1500">
                <a:solidFill>
                  <a:schemeClr val="dk1"/>
                </a:solidFill>
              </a:rPr>
              <a:t>van der Waals term</a:t>
            </a:r>
            <a:r>
              <a:rPr lang="it" sz="1500">
                <a:solidFill>
                  <a:schemeClr val="dk1"/>
                </a:solidFill>
              </a:rPr>
              <a:t> groups the non-bonded, non-electrostatic interactions between atoms: </a:t>
            </a:r>
            <a:r>
              <a:rPr b="1" lang="it" sz="1500">
                <a:solidFill>
                  <a:schemeClr val="dk1"/>
                </a:solidFill>
              </a:rPr>
              <a:t>London dispersion attraction</a:t>
            </a:r>
            <a:r>
              <a:rPr lang="it" sz="1500">
                <a:solidFill>
                  <a:schemeClr val="dk1"/>
                </a:solidFill>
              </a:rPr>
              <a:t> and </a:t>
            </a:r>
            <a:r>
              <a:rPr b="1" lang="it" sz="1500">
                <a:solidFill>
                  <a:schemeClr val="dk1"/>
                </a:solidFill>
              </a:rPr>
              <a:t>short-range Pauli repulsion</a:t>
            </a:r>
            <a:r>
              <a:rPr lang="it" sz="1500">
                <a:solidFill>
                  <a:schemeClr val="dk1"/>
                </a:solidFill>
              </a:rPr>
              <a:t>.</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London dispersion: temporary electron-density fluctuations create instantaneous dipoles that induce dipoles in nearby atoms, leading to attraction.</a:t>
            </a:r>
            <a:endParaRPr b="0" i="0" sz="19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Short-range repulsion: when atoms get too close, their electron clouds overlap, leading to strong Pauli repulsion.</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Both contributions depend strongly on the distance between atoms.</a:t>
            </a:r>
            <a:endParaRPr b="0" i="0" sz="1500" u="none" cap="none" strike="noStrike">
              <a:solidFill>
                <a:srgbClr val="000000"/>
              </a:solidFill>
              <a:latin typeface="Arial"/>
              <a:ea typeface="Arial"/>
              <a:cs typeface="Arial"/>
              <a:sym typeface="Arial"/>
            </a:endParaRPr>
          </a:p>
        </p:txBody>
      </p:sp>
      <p:pic>
        <p:nvPicPr>
          <p:cNvPr id="207" name="Google Shape;207;p9"/>
          <p:cNvPicPr preferRelativeResize="0"/>
          <p:nvPr/>
        </p:nvPicPr>
        <p:blipFill rotWithShape="1">
          <a:blip r:embed="rId3">
            <a:alphaModFix/>
          </a:blip>
          <a:srcRect b="0" l="0" r="0" t="0"/>
          <a:stretch/>
        </p:blipFill>
        <p:spPr>
          <a:xfrm>
            <a:off x="3197150" y="2900800"/>
            <a:ext cx="2749699" cy="2059600"/>
          </a:xfrm>
          <a:prstGeom prst="rect">
            <a:avLst/>
          </a:prstGeom>
          <a:noFill/>
          <a:ln cap="flat" cmpd="sng" w="9525">
            <a:solidFill>
              <a:schemeClr val="dk2"/>
            </a:solidFill>
            <a:prstDash val="solid"/>
            <a:round/>
            <a:headEnd len="sm" w="sm" type="none"/>
            <a:tailEnd len="sm" w="sm" type="none"/>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10"/>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van der Waals</a:t>
            </a:r>
            <a:endParaRPr sz="2500">
              <a:latin typeface="Montserrat SemiBold"/>
              <a:ea typeface="Montserrat SemiBold"/>
              <a:cs typeface="Montserrat SemiBold"/>
              <a:sym typeface="Montserrat SemiBold"/>
            </a:endParaRPr>
          </a:p>
        </p:txBody>
      </p:sp>
      <p:sp>
        <p:nvSpPr>
          <p:cNvPr id="213" name="Google Shape;213;p1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4" name="Google Shape;214;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15" name="Google Shape;215;p10"/>
          <p:cNvSpPr txBox="1"/>
          <p:nvPr/>
        </p:nvSpPr>
        <p:spPr>
          <a:xfrm>
            <a:off x="216450" y="885450"/>
            <a:ext cx="8927700" cy="481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van der Waals terms of the </a:t>
            </a:r>
            <a:r>
              <a:rPr b="0" i="1" lang="it" sz="1600" u="none" cap="none" strike="noStrike">
                <a:solidFill>
                  <a:srgbClr val="000000"/>
                </a:solidFill>
                <a:latin typeface="Arial"/>
                <a:ea typeface="Arial"/>
                <a:cs typeface="Arial"/>
                <a:sym typeface="Arial"/>
              </a:rPr>
              <a:t>i</a:t>
            </a:r>
            <a:r>
              <a:rPr b="0" i="0" lang="it" sz="1600" u="none" cap="none" strike="noStrike">
                <a:solidFill>
                  <a:srgbClr val="000000"/>
                </a:solidFill>
                <a:latin typeface="Arial"/>
                <a:ea typeface="Arial"/>
                <a:cs typeface="Arial"/>
                <a:sym typeface="Arial"/>
              </a:rPr>
              <a:t>, </a:t>
            </a:r>
            <a:r>
              <a:rPr b="0" i="1" lang="it" sz="1600" u="none" cap="none" strike="noStrike">
                <a:solidFill>
                  <a:srgbClr val="000000"/>
                </a:solidFill>
                <a:latin typeface="Arial"/>
                <a:ea typeface="Arial"/>
                <a:cs typeface="Arial"/>
                <a:sym typeface="Arial"/>
              </a:rPr>
              <a:t>j</a:t>
            </a:r>
            <a:r>
              <a:rPr b="0" i="0" lang="it" sz="1600" u="none" cap="none" strike="noStrike">
                <a:solidFill>
                  <a:srgbClr val="000000"/>
                </a:solidFill>
                <a:latin typeface="Arial"/>
                <a:ea typeface="Arial"/>
                <a:cs typeface="Arial"/>
                <a:sym typeface="Arial"/>
              </a:rPr>
              <a:t> atomic pairs can be modeled by the Lennard-Jones potential:</a:t>
            </a:r>
            <a:endParaRPr b="0" i="0" sz="1600" u="none" cap="none" strike="noStrike">
              <a:solidFill>
                <a:srgbClr val="000000"/>
              </a:solidFill>
              <a:latin typeface="Arial"/>
              <a:ea typeface="Arial"/>
              <a:cs typeface="Arial"/>
              <a:sym typeface="Arial"/>
            </a:endParaRPr>
          </a:p>
        </p:txBody>
      </p:sp>
      <p:pic>
        <p:nvPicPr>
          <p:cNvPr id="216" name="Google Shape;216;p10" title="Screenshot 2026-09-01 at 18.55.35.png"/>
          <p:cNvPicPr preferRelativeResize="0"/>
          <p:nvPr/>
        </p:nvPicPr>
        <p:blipFill rotWithShape="1">
          <a:blip r:embed="rId3">
            <a:alphaModFix/>
          </a:blip>
          <a:srcRect b="22009" l="17267" r="31827" t="55945"/>
          <a:stretch/>
        </p:blipFill>
        <p:spPr>
          <a:xfrm>
            <a:off x="3562704" y="2005575"/>
            <a:ext cx="3394284" cy="954651"/>
          </a:xfrm>
          <a:prstGeom prst="rect">
            <a:avLst/>
          </a:prstGeom>
          <a:noFill/>
          <a:ln>
            <a:noFill/>
          </a:ln>
        </p:spPr>
      </p:pic>
      <p:pic>
        <p:nvPicPr>
          <p:cNvPr id="217" name="Google Shape;217;p10"/>
          <p:cNvPicPr preferRelativeResize="0"/>
          <p:nvPr/>
        </p:nvPicPr>
        <p:blipFill rotWithShape="1">
          <a:blip r:embed="rId4">
            <a:alphaModFix/>
          </a:blip>
          <a:srcRect b="70103" l="69101" r="0" t="0"/>
          <a:stretch/>
        </p:blipFill>
        <p:spPr>
          <a:xfrm>
            <a:off x="782975" y="1720775"/>
            <a:ext cx="1947203" cy="1519724"/>
          </a:xfrm>
          <a:prstGeom prst="rect">
            <a:avLst/>
          </a:prstGeom>
          <a:noFill/>
          <a:ln>
            <a:noFill/>
          </a:ln>
        </p:spPr>
      </p:pic>
      <p:cxnSp>
        <p:nvCxnSpPr>
          <p:cNvPr id="218" name="Google Shape;218;p10"/>
          <p:cNvCxnSpPr/>
          <p:nvPr/>
        </p:nvCxnSpPr>
        <p:spPr>
          <a:xfrm flipH="1">
            <a:off x="4912025" y="2960232"/>
            <a:ext cx="415200" cy="411600"/>
          </a:xfrm>
          <a:prstGeom prst="straightConnector1">
            <a:avLst/>
          </a:prstGeom>
          <a:noFill/>
          <a:ln cap="flat" cmpd="sng" w="9525">
            <a:solidFill>
              <a:schemeClr val="dk1"/>
            </a:solidFill>
            <a:prstDash val="solid"/>
            <a:round/>
            <a:headEnd len="sm" w="sm" type="none"/>
            <a:tailEnd len="med" w="med" type="triangle"/>
          </a:ln>
        </p:spPr>
      </p:cxnSp>
      <p:cxnSp>
        <p:nvCxnSpPr>
          <p:cNvPr id="219" name="Google Shape;219;p10"/>
          <p:cNvCxnSpPr/>
          <p:nvPr/>
        </p:nvCxnSpPr>
        <p:spPr>
          <a:xfrm>
            <a:off x="5126695" y="2906292"/>
            <a:ext cx="459300" cy="2100"/>
          </a:xfrm>
          <a:prstGeom prst="straightConnector1">
            <a:avLst/>
          </a:prstGeom>
          <a:noFill/>
          <a:ln cap="flat" cmpd="sng" w="19050">
            <a:solidFill>
              <a:srgbClr val="FF9900"/>
            </a:solidFill>
            <a:prstDash val="solid"/>
            <a:round/>
            <a:headEnd len="sm" w="sm" type="none"/>
            <a:tailEnd len="sm" w="sm" type="none"/>
          </a:ln>
        </p:spPr>
      </p:cxnSp>
      <p:cxnSp>
        <p:nvCxnSpPr>
          <p:cNvPr id="220" name="Google Shape;220;p10"/>
          <p:cNvCxnSpPr/>
          <p:nvPr/>
        </p:nvCxnSpPr>
        <p:spPr>
          <a:xfrm>
            <a:off x="6170119" y="2906292"/>
            <a:ext cx="459300" cy="2100"/>
          </a:xfrm>
          <a:prstGeom prst="straightConnector1">
            <a:avLst/>
          </a:prstGeom>
          <a:noFill/>
          <a:ln cap="flat" cmpd="sng" w="19050">
            <a:solidFill>
              <a:srgbClr val="188038"/>
            </a:solidFill>
            <a:prstDash val="solid"/>
            <a:round/>
            <a:headEnd len="sm" w="sm" type="none"/>
            <a:tailEnd len="sm" w="sm" type="none"/>
          </a:ln>
        </p:spPr>
      </p:cxnSp>
      <p:sp>
        <p:nvSpPr>
          <p:cNvPr id="221" name="Google Shape;221;p10"/>
          <p:cNvSpPr txBox="1"/>
          <p:nvPr/>
        </p:nvSpPr>
        <p:spPr>
          <a:xfrm>
            <a:off x="3042025" y="3371825"/>
            <a:ext cx="2680800" cy="849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i="0" lang="it" sz="1500" u="none" cap="none" strike="noStrike">
                <a:solidFill>
                  <a:srgbClr val="FF9900"/>
                </a:solidFill>
                <a:latin typeface="Arial"/>
                <a:ea typeface="Arial"/>
                <a:cs typeface="Arial"/>
                <a:sym typeface="Arial"/>
              </a:rPr>
              <a:t>Repulsion:</a:t>
            </a:r>
            <a:br>
              <a:rPr b="0" i="0" lang="it" sz="1500" u="none" cap="none" strike="noStrike">
                <a:solidFill>
                  <a:srgbClr val="000000"/>
                </a:solidFill>
                <a:latin typeface="Arial"/>
                <a:ea typeface="Arial"/>
                <a:cs typeface="Arial"/>
                <a:sym typeface="Arial"/>
              </a:rPr>
            </a:br>
            <a:r>
              <a:rPr b="0" i="0" lang="it" sz="1500" u="none" cap="none" strike="noStrike">
                <a:solidFill>
                  <a:srgbClr val="000000"/>
                </a:solidFill>
                <a:latin typeface="Arial"/>
                <a:ea typeface="Arial"/>
                <a:cs typeface="Arial"/>
                <a:sym typeface="Arial"/>
              </a:rPr>
              <a:t>Pauli repulsion due to electron-cloud overlap</a:t>
            </a:r>
            <a:endParaRPr b="0" i="0" sz="1500" u="none" cap="none" strike="noStrike">
              <a:solidFill>
                <a:srgbClr val="000000"/>
              </a:solidFill>
              <a:latin typeface="Arial"/>
              <a:ea typeface="Arial"/>
              <a:cs typeface="Arial"/>
              <a:sym typeface="Arial"/>
            </a:endParaRPr>
          </a:p>
        </p:txBody>
      </p:sp>
      <p:cxnSp>
        <p:nvCxnSpPr>
          <p:cNvPr id="222" name="Google Shape;222;p10"/>
          <p:cNvCxnSpPr/>
          <p:nvPr/>
        </p:nvCxnSpPr>
        <p:spPr>
          <a:xfrm>
            <a:off x="6423325" y="2960232"/>
            <a:ext cx="415200" cy="411600"/>
          </a:xfrm>
          <a:prstGeom prst="straightConnector1">
            <a:avLst/>
          </a:prstGeom>
          <a:noFill/>
          <a:ln cap="flat" cmpd="sng" w="9525">
            <a:solidFill>
              <a:schemeClr val="dk1"/>
            </a:solidFill>
            <a:prstDash val="solid"/>
            <a:round/>
            <a:headEnd len="sm" w="sm" type="none"/>
            <a:tailEnd len="med" w="med" type="triangle"/>
          </a:ln>
        </p:spPr>
      </p:cxnSp>
      <p:sp>
        <p:nvSpPr>
          <p:cNvPr id="223" name="Google Shape;223;p10"/>
          <p:cNvSpPr txBox="1"/>
          <p:nvPr/>
        </p:nvSpPr>
        <p:spPr>
          <a:xfrm>
            <a:off x="5722825" y="3371825"/>
            <a:ext cx="2680800" cy="6582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i="0" lang="it" sz="1500" u="none" cap="none" strike="noStrike">
                <a:solidFill>
                  <a:srgbClr val="188038"/>
                </a:solidFill>
                <a:latin typeface="Arial"/>
                <a:ea typeface="Arial"/>
                <a:cs typeface="Arial"/>
                <a:sym typeface="Arial"/>
              </a:rPr>
              <a:t>Attraction</a:t>
            </a:r>
            <a:r>
              <a:rPr b="1" i="0" lang="it" sz="1500" u="none" cap="none" strike="noStrike">
                <a:solidFill>
                  <a:schemeClr val="dk1"/>
                </a:solidFill>
                <a:latin typeface="Arial"/>
                <a:ea typeface="Arial"/>
                <a:cs typeface="Arial"/>
                <a:sym typeface="Arial"/>
              </a:rPr>
              <a:t>:</a:t>
            </a:r>
            <a:br>
              <a:rPr b="0" i="0" lang="it" sz="1500" u="none" cap="none" strike="noStrike">
                <a:solidFill>
                  <a:srgbClr val="000000"/>
                </a:solidFill>
                <a:latin typeface="Arial"/>
                <a:ea typeface="Arial"/>
                <a:cs typeface="Arial"/>
                <a:sym typeface="Arial"/>
              </a:rPr>
            </a:br>
            <a:r>
              <a:rPr b="0" i="0" lang="it" sz="1500" u="none" cap="none" strike="noStrike">
                <a:solidFill>
                  <a:srgbClr val="000000"/>
                </a:solidFill>
                <a:latin typeface="Arial"/>
                <a:ea typeface="Arial"/>
                <a:cs typeface="Arial"/>
                <a:sym typeface="Arial"/>
              </a:rPr>
              <a:t>London dispersion forces</a:t>
            </a:r>
            <a:endParaRPr b="0" i="0" sz="1500" u="none" cap="none" strike="noStrik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11"/>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van der Waals</a:t>
            </a:r>
            <a:endParaRPr sz="2500">
              <a:latin typeface="Montserrat SemiBold"/>
              <a:ea typeface="Montserrat SemiBold"/>
              <a:cs typeface="Montserrat SemiBold"/>
              <a:sym typeface="Montserrat SemiBold"/>
            </a:endParaRPr>
          </a:p>
        </p:txBody>
      </p:sp>
      <p:sp>
        <p:nvSpPr>
          <p:cNvPr id="229" name="Google Shape;229;p11"/>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0" name="Google Shape;230;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31" name="Google Shape;231;p11"/>
          <p:cNvSpPr txBox="1"/>
          <p:nvPr/>
        </p:nvSpPr>
        <p:spPr>
          <a:xfrm>
            <a:off x="216450" y="885450"/>
            <a:ext cx="8927700" cy="481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van der Waals terms of the </a:t>
            </a:r>
            <a:r>
              <a:rPr b="0" i="1" lang="it" sz="1600" u="none" cap="none" strike="noStrike">
                <a:solidFill>
                  <a:srgbClr val="000000"/>
                </a:solidFill>
                <a:latin typeface="Arial"/>
                <a:ea typeface="Arial"/>
                <a:cs typeface="Arial"/>
                <a:sym typeface="Arial"/>
              </a:rPr>
              <a:t>i</a:t>
            </a:r>
            <a:r>
              <a:rPr b="0" i="0" lang="it" sz="1600" u="none" cap="none" strike="noStrike">
                <a:solidFill>
                  <a:srgbClr val="000000"/>
                </a:solidFill>
                <a:latin typeface="Arial"/>
                <a:ea typeface="Arial"/>
                <a:cs typeface="Arial"/>
                <a:sym typeface="Arial"/>
              </a:rPr>
              <a:t>, </a:t>
            </a:r>
            <a:r>
              <a:rPr b="0" i="1" lang="it" sz="1600" u="none" cap="none" strike="noStrike">
                <a:solidFill>
                  <a:srgbClr val="000000"/>
                </a:solidFill>
                <a:latin typeface="Arial"/>
                <a:ea typeface="Arial"/>
                <a:cs typeface="Arial"/>
                <a:sym typeface="Arial"/>
              </a:rPr>
              <a:t>j</a:t>
            </a:r>
            <a:r>
              <a:rPr b="0" i="0" lang="it" sz="1600" u="none" cap="none" strike="noStrike">
                <a:solidFill>
                  <a:srgbClr val="000000"/>
                </a:solidFill>
                <a:latin typeface="Arial"/>
                <a:ea typeface="Arial"/>
                <a:cs typeface="Arial"/>
                <a:sym typeface="Arial"/>
              </a:rPr>
              <a:t> atomic pairs can be modeled by the Lennard-Jones potential:</a:t>
            </a:r>
            <a:endParaRPr b="0" i="0" sz="1600" u="none" cap="none" strike="noStrike">
              <a:solidFill>
                <a:srgbClr val="000000"/>
              </a:solidFill>
              <a:latin typeface="Arial"/>
              <a:ea typeface="Arial"/>
              <a:cs typeface="Arial"/>
              <a:sym typeface="Arial"/>
            </a:endParaRPr>
          </a:p>
        </p:txBody>
      </p:sp>
      <p:pic>
        <p:nvPicPr>
          <p:cNvPr id="232" name="Google Shape;232;p11" title="Screenshot 2026-09-01 at 18.55.35.png"/>
          <p:cNvPicPr preferRelativeResize="0"/>
          <p:nvPr/>
        </p:nvPicPr>
        <p:blipFill rotWithShape="1">
          <a:blip r:embed="rId3">
            <a:alphaModFix/>
          </a:blip>
          <a:srcRect b="22009" l="17267" r="31827" t="55945"/>
          <a:stretch/>
        </p:blipFill>
        <p:spPr>
          <a:xfrm>
            <a:off x="3606579" y="1651775"/>
            <a:ext cx="3394284" cy="954651"/>
          </a:xfrm>
          <a:prstGeom prst="rect">
            <a:avLst/>
          </a:prstGeom>
          <a:noFill/>
          <a:ln>
            <a:noFill/>
          </a:ln>
        </p:spPr>
      </p:pic>
      <p:pic>
        <p:nvPicPr>
          <p:cNvPr id="233" name="Google Shape;233;p11"/>
          <p:cNvPicPr preferRelativeResize="0"/>
          <p:nvPr/>
        </p:nvPicPr>
        <p:blipFill rotWithShape="1">
          <a:blip r:embed="rId4">
            <a:alphaModFix/>
          </a:blip>
          <a:srcRect b="70103" l="69101" r="0" t="0"/>
          <a:stretch/>
        </p:blipFill>
        <p:spPr>
          <a:xfrm>
            <a:off x="826850" y="1366975"/>
            <a:ext cx="1947203" cy="1519724"/>
          </a:xfrm>
          <a:prstGeom prst="rect">
            <a:avLst/>
          </a:prstGeom>
          <a:noFill/>
          <a:ln>
            <a:noFill/>
          </a:ln>
        </p:spPr>
      </p:pic>
      <p:sp>
        <p:nvSpPr>
          <p:cNvPr id="234" name="Google Shape;234;p11"/>
          <p:cNvSpPr txBox="1"/>
          <p:nvPr/>
        </p:nvSpPr>
        <p:spPr>
          <a:xfrm>
            <a:off x="333000" y="3613375"/>
            <a:ext cx="8520600" cy="9546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ε</a:t>
            </a:r>
            <a:r>
              <a:rPr b="0" baseline="-25000" i="0" lang="it" sz="1500" u="none" cap="none" strike="noStrike">
                <a:solidFill>
                  <a:srgbClr val="000000"/>
                </a:solidFill>
                <a:latin typeface="Arial"/>
                <a:ea typeface="Arial"/>
                <a:cs typeface="Arial"/>
                <a:sym typeface="Arial"/>
              </a:rPr>
              <a:t>ij</a:t>
            </a:r>
            <a:r>
              <a:rPr b="0" i="0" lang="it" sz="1500" u="none" cap="none" strike="noStrike">
                <a:solidFill>
                  <a:srgbClr val="000000"/>
                </a:solidFill>
                <a:latin typeface="Arial"/>
                <a:ea typeface="Arial"/>
                <a:cs typeface="Arial"/>
                <a:sym typeface="Arial"/>
              </a:rPr>
              <a:t> = depth of the potential well → it controls the strength of the interaction</a:t>
            </a:r>
            <a:endParaRPr b="0" i="0" sz="1500" u="none" cap="none" strike="noStrike">
              <a:solidFill>
                <a:srgbClr val="000000"/>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σ</a:t>
            </a:r>
            <a:r>
              <a:rPr b="0" baseline="-25000" i="0" lang="it" sz="1500" u="none" cap="none" strike="noStrike">
                <a:solidFill>
                  <a:srgbClr val="000000"/>
                </a:solidFill>
                <a:latin typeface="Arial"/>
                <a:ea typeface="Arial"/>
                <a:cs typeface="Arial"/>
                <a:sym typeface="Arial"/>
              </a:rPr>
              <a:t>ij</a:t>
            </a:r>
            <a:r>
              <a:rPr b="0" i="0" lang="it" sz="1500" u="none" cap="none" strike="noStrike">
                <a:solidFill>
                  <a:srgbClr val="000000"/>
                </a:solidFill>
                <a:latin typeface="Arial"/>
                <a:ea typeface="Arial"/>
                <a:cs typeface="Arial"/>
                <a:sym typeface="Arial"/>
              </a:rPr>
              <a:t> = distance at which the LJ potential is zero </a:t>
            </a:r>
            <a:r>
              <a:rPr b="0" i="0" lang="it" sz="1500" u="none" cap="none" strike="noStrike">
                <a:solidFill>
                  <a:schemeClr val="dk1"/>
                </a:solidFill>
                <a:latin typeface="Arial"/>
                <a:ea typeface="Arial"/>
                <a:cs typeface="Arial"/>
                <a:sym typeface="Arial"/>
              </a:rPr>
              <a:t>(i</a:t>
            </a:r>
            <a:r>
              <a:rPr b="0" i="0" lang="it" sz="1500" u="none" cap="none" strike="noStrike">
                <a:solidFill>
                  <a:srgbClr val="000000"/>
                </a:solidFill>
                <a:latin typeface="Arial"/>
                <a:ea typeface="Arial"/>
                <a:cs typeface="Arial"/>
                <a:sym typeface="Arial"/>
              </a:rPr>
              <a:t>f r = σ </a:t>
            </a:r>
            <a:r>
              <a:rPr b="0" i="0" lang="it" sz="1500" u="none" cap="none" strike="noStrike">
                <a:solidFill>
                  <a:schemeClr val="dk1"/>
                </a:solidFill>
                <a:latin typeface="Arial"/>
                <a:ea typeface="Arial"/>
                <a:cs typeface="Arial"/>
                <a:sym typeface="Arial"/>
              </a:rPr>
              <a:t>→ </a:t>
            </a:r>
            <a:r>
              <a:rPr b="0" i="0" lang="it" sz="1500" u="none" cap="none" strike="noStrike">
                <a:solidFill>
                  <a:srgbClr val="000000"/>
                </a:solidFill>
                <a:latin typeface="Arial"/>
                <a:ea typeface="Arial"/>
                <a:cs typeface="Arial"/>
                <a:sym typeface="Arial"/>
              </a:rPr>
              <a:t>U</a:t>
            </a:r>
            <a:r>
              <a:rPr b="0" baseline="-25000" i="0" lang="it" sz="1500" u="none" cap="none" strike="noStrike">
                <a:solidFill>
                  <a:srgbClr val="000000"/>
                </a:solidFill>
                <a:latin typeface="Arial"/>
                <a:ea typeface="Arial"/>
                <a:cs typeface="Arial"/>
                <a:sym typeface="Arial"/>
              </a:rPr>
              <a:t>LJ</a:t>
            </a:r>
            <a:r>
              <a:rPr b="0" i="0" lang="it" sz="1500" u="none" cap="none" strike="noStrike">
                <a:solidFill>
                  <a:srgbClr val="000000"/>
                </a:solidFill>
                <a:latin typeface="Arial"/>
                <a:ea typeface="Arial"/>
                <a:cs typeface="Arial"/>
                <a:sym typeface="Arial"/>
              </a:rPr>
              <a:t>=0)</a:t>
            </a:r>
            <a:endParaRPr b="0" i="0" sz="1500" u="none" cap="none" strike="noStrike">
              <a:solidFill>
                <a:srgbClr val="000000"/>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r = 2</a:t>
            </a:r>
            <a:r>
              <a:rPr b="0" baseline="30000" i="0" lang="it" sz="1500" u="none" cap="none" strike="noStrike">
                <a:solidFill>
                  <a:srgbClr val="000000"/>
                </a:solidFill>
                <a:latin typeface="Arial"/>
                <a:ea typeface="Arial"/>
                <a:cs typeface="Arial"/>
                <a:sym typeface="Arial"/>
              </a:rPr>
              <a:t>1/6</a:t>
            </a:r>
            <a:r>
              <a:rPr b="0" i="0" lang="it" sz="1500" u="none" cap="none" strike="noStrike">
                <a:solidFill>
                  <a:schemeClr val="dk1"/>
                </a:solidFill>
                <a:latin typeface="Arial"/>
                <a:ea typeface="Arial"/>
                <a:cs typeface="Arial"/>
                <a:sym typeface="Arial"/>
              </a:rPr>
              <a:t>σ → U</a:t>
            </a:r>
            <a:r>
              <a:rPr b="0" baseline="-25000" i="0" lang="it" sz="1500" u="none" cap="none" strike="noStrike">
                <a:solidFill>
                  <a:schemeClr val="dk1"/>
                </a:solidFill>
                <a:latin typeface="Arial"/>
                <a:ea typeface="Arial"/>
                <a:cs typeface="Arial"/>
                <a:sym typeface="Arial"/>
              </a:rPr>
              <a:t>min</a:t>
            </a:r>
            <a:r>
              <a:rPr b="0" i="0" lang="it" sz="1500" u="none" cap="none" strike="noStrike">
                <a:solidFill>
                  <a:schemeClr val="dk1"/>
                </a:solidFill>
                <a:latin typeface="Arial"/>
                <a:ea typeface="Arial"/>
                <a:cs typeface="Arial"/>
                <a:sym typeface="Arial"/>
              </a:rPr>
              <a:t> = -ε</a:t>
            </a:r>
            <a:endParaRPr b="0" i="0" sz="1500" u="none" cap="none" strike="noStrike">
              <a:solidFill>
                <a:srgbClr val="000000"/>
              </a:solidFill>
              <a:latin typeface="Arial"/>
              <a:ea typeface="Arial"/>
              <a:cs typeface="Arial"/>
              <a:sym typeface="Arial"/>
            </a:endParaRPr>
          </a:p>
        </p:txBody>
      </p:sp>
      <p:cxnSp>
        <p:nvCxnSpPr>
          <p:cNvPr id="235" name="Google Shape;235;p11"/>
          <p:cNvCxnSpPr/>
          <p:nvPr/>
        </p:nvCxnSpPr>
        <p:spPr>
          <a:xfrm flipH="1" rot="10800000">
            <a:off x="1098272" y="2886699"/>
            <a:ext cx="679500" cy="5400"/>
          </a:xfrm>
          <a:prstGeom prst="straightConnector1">
            <a:avLst/>
          </a:prstGeom>
          <a:noFill/>
          <a:ln cap="flat" cmpd="sng" w="19050">
            <a:solidFill>
              <a:srgbClr val="FF0000"/>
            </a:solidFill>
            <a:prstDash val="solid"/>
            <a:round/>
            <a:headEnd len="med" w="med" type="stealth"/>
            <a:tailEnd len="med" w="med" type="stealth"/>
          </a:ln>
        </p:spPr>
      </p:cxnSp>
      <p:pic>
        <p:nvPicPr>
          <p:cNvPr id="236" name="Google Shape;236;p11" title="LJ_pot_min.png"/>
          <p:cNvPicPr preferRelativeResize="0"/>
          <p:nvPr/>
        </p:nvPicPr>
        <p:blipFill rotWithShape="1">
          <a:blip r:embed="rId5">
            <a:alphaModFix/>
          </a:blip>
          <a:srcRect b="39576" l="9411" r="5425" t="32114"/>
          <a:stretch/>
        </p:blipFill>
        <p:spPr>
          <a:xfrm>
            <a:off x="1163675" y="2955834"/>
            <a:ext cx="548700" cy="280942"/>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2"/>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Electrostatics</a:t>
            </a:r>
            <a:endParaRPr sz="2500">
              <a:latin typeface="Montserrat SemiBold"/>
              <a:ea typeface="Montserrat SemiBold"/>
              <a:cs typeface="Montserrat SemiBold"/>
              <a:sym typeface="Montserrat SemiBold"/>
            </a:endParaRPr>
          </a:p>
        </p:txBody>
      </p:sp>
      <p:sp>
        <p:nvSpPr>
          <p:cNvPr id="242" name="Google Shape;242;p1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43" name="Google Shape;243;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44" name="Google Shape;244;p12"/>
          <p:cNvSpPr txBox="1"/>
          <p:nvPr/>
        </p:nvSpPr>
        <p:spPr>
          <a:xfrm>
            <a:off x="216450" y="885450"/>
            <a:ext cx="8927700" cy="7209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Atoms in molecules can carry partial positive or negative charges due to an uneven distribution of electrons.</a:t>
            </a:r>
            <a:endParaRPr b="0" i="0" sz="1600" u="none" cap="none" strike="noStrike">
              <a:solidFill>
                <a:srgbClr val="000000"/>
              </a:solidFill>
              <a:latin typeface="Arial"/>
              <a:ea typeface="Arial"/>
              <a:cs typeface="Arial"/>
              <a:sym typeface="Arial"/>
            </a:endParaRPr>
          </a:p>
        </p:txBody>
      </p:sp>
      <p:sp>
        <p:nvSpPr>
          <p:cNvPr id="245" name="Google Shape;245;p12"/>
          <p:cNvSpPr txBox="1"/>
          <p:nvPr/>
        </p:nvSpPr>
        <p:spPr>
          <a:xfrm>
            <a:off x="99900" y="3854675"/>
            <a:ext cx="8732400" cy="9570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Electrostatic interactions arise between electrically charged or partially charged atoms</a:t>
            </a:r>
            <a:endParaRPr b="0" i="0" sz="1500" u="none" cap="none" strike="noStrike">
              <a:solidFill>
                <a:srgbClr val="000000"/>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Their strength depends on the </a:t>
            </a:r>
            <a:r>
              <a:rPr b="1" i="0" lang="it" sz="1500" u="none" cap="none" strike="noStrike">
                <a:solidFill>
                  <a:schemeClr val="dk1"/>
                </a:solidFill>
                <a:latin typeface="Arial"/>
                <a:ea typeface="Arial"/>
                <a:cs typeface="Arial"/>
                <a:sym typeface="Arial"/>
              </a:rPr>
              <a:t>magnitude of the charges</a:t>
            </a:r>
            <a:r>
              <a:rPr b="0" i="0" lang="it" sz="1500" u="none" cap="none" strike="noStrike">
                <a:solidFill>
                  <a:schemeClr val="dk1"/>
                </a:solidFill>
                <a:latin typeface="Arial"/>
                <a:ea typeface="Arial"/>
                <a:cs typeface="Arial"/>
                <a:sym typeface="Arial"/>
              </a:rPr>
              <a:t> and the </a:t>
            </a:r>
            <a:r>
              <a:rPr b="1" i="0" lang="it" sz="1500" u="none" cap="none" strike="noStrike">
                <a:solidFill>
                  <a:schemeClr val="dk1"/>
                </a:solidFill>
                <a:latin typeface="Arial"/>
                <a:ea typeface="Arial"/>
                <a:cs typeface="Arial"/>
                <a:sym typeface="Arial"/>
              </a:rPr>
              <a:t>distance between them</a:t>
            </a:r>
            <a:endParaRPr b="1"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chemeClr val="dk1"/>
                </a:solidFill>
                <a:latin typeface="Arial"/>
                <a:ea typeface="Arial"/>
                <a:cs typeface="Arial"/>
                <a:sym typeface="Arial"/>
              </a:rPr>
              <a:t>In classical MD, atoms are treated as point charges carrying partial charges</a:t>
            </a:r>
            <a:endParaRPr b="0" i="0" sz="1500" u="none" cap="none" strike="noStrike">
              <a:solidFill>
                <a:schemeClr val="dk1"/>
              </a:solidFill>
              <a:latin typeface="Arial"/>
              <a:ea typeface="Arial"/>
              <a:cs typeface="Arial"/>
              <a:sym typeface="Arial"/>
            </a:endParaRPr>
          </a:p>
        </p:txBody>
      </p:sp>
      <p:pic>
        <p:nvPicPr>
          <p:cNvPr id="246" name="Google Shape;246;p12"/>
          <p:cNvPicPr preferRelativeResize="0"/>
          <p:nvPr/>
        </p:nvPicPr>
        <p:blipFill rotWithShape="1">
          <a:blip r:embed="rId3">
            <a:alphaModFix/>
          </a:blip>
          <a:srcRect b="3829" l="65331" r="0" t="58956"/>
          <a:stretch/>
        </p:blipFill>
        <p:spPr>
          <a:xfrm>
            <a:off x="4750226" y="1718422"/>
            <a:ext cx="2075600" cy="1777403"/>
          </a:xfrm>
          <a:prstGeom prst="rect">
            <a:avLst/>
          </a:prstGeom>
          <a:noFill/>
          <a:ln>
            <a:noFill/>
          </a:ln>
        </p:spPr>
      </p:pic>
      <p:pic>
        <p:nvPicPr>
          <p:cNvPr id="247" name="Google Shape;247;p12"/>
          <p:cNvPicPr preferRelativeResize="0"/>
          <p:nvPr/>
        </p:nvPicPr>
        <p:blipFill rotWithShape="1">
          <a:blip r:embed="rId4">
            <a:alphaModFix/>
          </a:blip>
          <a:srcRect b="10137" l="12176" r="12198" t="0"/>
          <a:stretch/>
        </p:blipFill>
        <p:spPr>
          <a:xfrm>
            <a:off x="2007825" y="1758750"/>
            <a:ext cx="2075600" cy="1644349"/>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13"/>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Electrostatics</a:t>
            </a:r>
            <a:endParaRPr sz="2500">
              <a:latin typeface="Montserrat SemiBold"/>
              <a:ea typeface="Montserrat SemiBold"/>
              <a:cs typeface="Montserrat SemiBold"/>
              <a:sym typeface="Montserrat SemiBold"/>
            </a:endParaRPr>
          </a:p>
        </p:txBody>
      </p:sp>
      <p:sp>
        <p:nvSpPr>
          <p:cNvPr id="253" name="Google Shape;253;p13"/>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4" name="Google Shape;25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55" name="Google Shape;255;p13"/>
          <p:cNvSpPr txBox="1"/>
          <p:nvPr/>
        </p:nvSpPr>
        <p:spPr>
          <a:xfrm>
            <a:off x="210677" y="887077"/>
            <a:ext cx="7421700" cy="460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The electrostatic interactions can be modeled by the Coulomb potential:</a:t>
            </a:r>
            <a:endParaRPr b="0" i="0" sz="1600" u="none" cap="none" strike="noStrike">
              <a:solidFill>
                <a:srgbClr val="000000"/>
              </a:solidFill>
              <a:latin typeface="Arial"/>
              <a:ea typeface="Arial"/>
              <a:cs typeface="Arial"/>
              <a:sym typeface="Arial"/>
            </a:endParaRPr>
          </a:p>
        </p:txBody>
      </p:sp>
      <p:pic>
        <p:nvPicPr>
          <p:cNvPr id="256" name="Google Shape;256;p13" title="Screenshot 2026-09-01 at 18.58.51.png"/>
          <p:cNvPicPr preferRelativeResize="0"/>
          <p:nvPr/>
        </p:nvPicPr>
        <p:blipFill rotWithShape="1">
          <a:blip r:embed="rId3">
            <a:alphaModFix/>
          </a:blip>
          <a:srcRect b="26637" l="36960" r="42268" t="57931"/>
          <a:stretch/>
        </p:blipFill>
        <p:spPr>
          <a:xfrm>
            <a:off x="5259549" y="1987714"/>
            <a:ext cx="1685576" cy="813225"/>
          </a:xfrm>
          <a:prstGeom prst="rect">
            <a:avLst/>
          </a:prstGeom>
          <a:noFill/>
          <a:ln>
            <a:noFill/>
          </a:ln>
        </p:spPr>
      </p:pic>
      <p:pic>
        <p:nvPicPr>
          <p:cNvPr id="257" name="Google Shape;257;p13"/>
          <p:cNvPicPr preferRelativeResize="0"/>
          <p:nvPr/>
        </p:nvPicPr>
        <p:blipFill rotWithShape="1">
          <a:blip r:embed="rId4">
            <a:alphaModFix/>
          </a:blip>
          <a:srcRect b="55036" l="41216" r="28226" t="21857"/>
          <a:stretch/>
        </p:blipFill>
        <p:spPr>
          <a:xfrm>
            <a:off x="2198876" y="1678375"/>
            <a:ext cx="2347500" cy="1431900"/>
          </a:xfrm>
          <a:prstGeom prst="rect">
            <a:avLst/>
          </a:prstGeom>
          <a:noFill/>
          <a:ln>
            <a:noFill/>
          </a:ln>
        </p:spPr>
      </p:pic>
      <p:sp>
        <p:nvSpPr>
          <p:cNvPr id="258" name="Google Shape;258;p13"/>
          <p:cNvSpPr txBox="1"/>
          <p:nvPr/>
        </p:nvSpPr>
        <p:spPr>
          <a:xfrm>
            <a:off x="111300" y="3441050"/>
            <a:ext cx="8921400" cy="12222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rgbClr val="000000"/>
                </a:solidFill>
                <a:latin typeface="Arial"/>
                <a:ea typeface="Arial"/>
                <a:cs typeface="Arial"/>
                <a:sym typeface="Arial"/>
              </a:rPr>
              <a:t>qi, qj → atomic partial charges</a:t>
            </a:r>
            <a:endParaRPr b="0" i="0" sz="1500" u="none" cap="none" strike="noStrike">
              <a:solidFill>
                <a:srgbClr val="000000"/>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rij </a:t>
            </a:r>
            <a:r>
              <a:rPr b="0" i="0" lang="it" sz="1500" u="none" cap="none" strike="noStrike">
                <a:solidFill>
                  <a:schemeClr val="dk1"/>
                </a:solidFill>
                <a:latin typeface="Arial"/>
                <a:ea typeface="Arial"/>
                <a:cs typeface="Arial"/>
                <a:sym typeface="Arial"/>
              </a:rPr>
              <a:t>→ distance between atoms</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chemeClr val="dk1"/>
                </a:solidFill>
                <a:latin typeface="Arial"/>
                <a:ea typeface="Arial"/>
                <a:cs typeface="Arial"/>
                <a:sym typeface="Arial"/>
              </a:rPr>
              <a:t>q</a:t>
            </a:r>
            <a:r>
              <a:rPr b="0" baseline="-25000" i="0" lang="it" sz="1500" u="none" cap="none" strike="noStrike">
                <a:solidFill>
                  <a:schemeClr val="dk1"/>
                </a:solidFill>
                <a:latin typeface="Arial"/>
                <a:ea typeface="Arial"/>
                <a:cs typeface="Arial"/>
                <a:sym typeface="Arial"/>
              </a:rPr>
              <a:t>i</a:t>
            </a:r>
            <a:r>
              <a:rPr b="0" i="0" lang="it" sz="1500" u="none" cap="none" strike="noStrike">
                <a:solidFill>
                  <a:schemeClr val="dk1"/>
                </a:solidFill>
                <a:latin typeface="Arial"/>
                <a:ea typeface="Arial"/>
                <a:cs typeface="Arial"/>
                <a:sym typeface="Arial"/>
              </a:rPr>
              <a:t>q</a:t>
            </a:r>
            <a:r>
              <a:rPr b="0" baseline="-25000" i="0" lang="it" sz="1500" u="none" cap="none" strike="noStrike">
                <a:solidFill>
                  <a:schemeClr val="dk1"/>
                </a:solidFill>
                <a:latin typeface="Arial"/>
                <a:ea typeface="Arial"/>
                <a:cs typeface="Arial"/>
                <a:sym typeface="Arial"/>
              </a:rPr>
              <a:t>j</a:t>
            </a:r>
            <a:r>
              <a:rPr b="0" i="0" lang="it" sz="1500" u="none" cap="none" strike="noStrike">
                <a:solidFill>
                  <a:schemeClr val="dk1"/>
                </a:solidFill>
                <a:latin typeface="Arial"/>
                <a:ea typeface="Arial"/>
                <a:cs typeface="Arial"/>
                <a:sym typeface="Arial"/>
              </a:rPr>
              <a:t> &lt; 0  → attraction (U &lt; 0); q</a:t>
            </a:r>
            <a:r>
              <a:rPr b="0" baseline="-25000" i="0" lang="it" sz="1500" u="none" cap="none" strike="noStrike">
                <a:solidFill>
                  <a:schemeClr val="dk1"/>
                </a:solidFill>
                <a:latin typeface="Arial"/>
                <a:ea typeface="Arial"/>
                <a:cs typeface="Arial"/>
                <a:sym typeface="Arial"/>
              </a:rPr>
              <a:t>i</a:t>
            </a:r>
            <a:r>
              <a:rPr b="0" i="0" lang="it" sz="1500" u="none" cap="none" strike="noStrike">
                <a:solidFill>
                  <a:schemeClr val="dk1"/>
                </a:solidFill>
                <a:latin typeface="Arial"/>
                <a:ea typeface="Arial"/>
                <a:cs typeface="Arial"/>
                <a:sym typeface="Arial"/>
              </a:rPr>
              <a:t>q</a:t>
            </a:r>
            <a:r>
              <a:rPr b="0" baseline="-25000" i="0" lang="it" sz="1500" u="none" cap="none" strike="noStrike">
                <a:solidFill>
                  <a:schemeClr val="dk1"/>
                </a:solidFill>
                <a:latin typeface="Arial"/>
                <a:ea typeface="Arial"/>
                <a:cs typeface="Arial"/>
                <a:sym typeface="Arial"/>
              </a:rPr>
              <a:t>j</a:t>
            </a:r>
            <a:r>
              <a:rPr b="0" i="0" lang="it" sz="1500" u="none" cap="none" strike="noStrike">
                <a:solidFill>
                  <a:schemeClr val="dk1"/>
                </a:solidFill>
                <a:latin typeface="Arial"/>
                <a:ea typeface="Arial"/>
                <a:cs typeface="Arial"/>
                <a:sym typeface="Arial"/>
              </a:rPr>
              <a:t> &gt; 0  → repulsion (U &gt; 0)</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chemeClr val="dk1"/>
                </a:solidFill>
                <a:latin typeface="Arial"/>
                <a:ea typeface="Arial"/>
                <a:cs typeface="Arial"/>
                <a:sym typeface="Arial"/>
              </a:rPr>
              <a:t>magnitude decreases as 1/r → unlike van der Waals interactions, electrostatics are </a:t>
            </a:r>
            <a:r>
              <a:rPr b="1" i="0" lang="it" sz="1500" u="none" cap="none" strike="noStrike">
                <a:solidFill>
                  <a:schemeClr val="dk1"/>
                </a:solidFill>
                <a:latin typeface="Arial"/>
                <a:ea typeface="Arial"/>
                <a:cs typeface="Arial"/>
                <a:sym typeface="Arial"/>
              </a:rPr>
              <a:t>long-ranged</a:t>
            </a:r>
            <a:endParaRPr b="1" i="0" sz="1500" u="none" cap="none" strike="noStrike">
              <a:solidFill>
                <a:schemeClr val="dk1"/>
              </a:solidFill>
              <a:latin typeface="Arial"/>
              <a:ea typeface="Arial"/>
              <a:cs typeface="Arial"/>
              <a:sym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14"/>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What happens under periodic boundary conditions?</a:t>
            </a:r>
            <a:endParaRPr sz="2500">
              <a:latin typeface="Montserrat SemiBold"/>
              <a:ea typeface="Montserrat SemiBold"/>
              <a:cs typeface="Montserrat SemiBold"/>
              <a:sym typeface="Montserrat SemiBold"/>
            </a:endParaRPr>
          </a:p>
        </p:txBody>
      </p:sp>
      <p:sp>
        <p:nvSpPr>
          <p:cNvPr id="264" name="Google Shape;264;p14"/>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65" name="Google Shape;26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66" name="Google Shape;266;p14"/>
          <p:cNvSpPr txBox="1"/>
          <p:nvPr/>
        </p:nvSpPr>
        <p:spPr>
          <a:xfrm>
            <a:off x="114625" y="811575"/>
            <a:ext cx="8832300" cy="7110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The simulation box is replicated infinitely in all directions to mimic a bulk system</a:t>
            </a:r>
            <a:endParaRPr b="0" i="0" sz="1500" u="none" cap="none" strike="noStrike">
              <a:solidFill>
                <a:srgbClr val="000000"/>
              </a:solidFill>
              <a:latin typeface="Arial"/>
              <a:ea typeface="Arial"/>
              <a:cs typeface="Arial"/>
              <a:sym typeface="Arial"/>
            </a:endParaRPr>
          </a:p>
          <a:p>
            <a:pPr indent="-323850" lvl="0" marL="457200" marR="0" rtl="0" algn="just">
              <a:lnSpc>
                <a:spcPct val="115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Each atom interacts not only with atoms in the original box, but also with their periodic images</a:t>
            </a:r>
            <a:endParaRPr b="0" i="0" sz="1500" u="none" cap="none" strike="noStrike">
              <a:solidFill>
                <a:schemeClr val="dk1"/>
              </a:solidFill>
              <a:latin typeface="Arial"/>
              <a:ea typeface="Arial"/>
              <a:cs typeface="Arial"/>
              <a:sym typeface="Arial"/>
            </a:endParaRPr>
          </a:p>
        </p:txBody>
      </p:sp>
      <p:grpSp>
        <p:nvGrpSpPr>
          <p:cNvPr id="267" name="Google Shape;267;p14"/>
          <p:cNvGrpSpPr/>
          <p:nvPr/>
        </p:nvGrpSpPr>
        <p:grpSpPr>
          <a:xfrm>
            <a:off x="338938" y="1784397"/>
            <a:ext cx="4788989" cy="3037496"/>
            <a:chOff x="677975" y="2023600"/>
            <a:chExt cx="4639145" cy="2942455"/>
          </a:xfrm>
        </p:grpSpPr>
        <p:pic>
          <p:nvPicPr>
            <p:cNvPr id="268" name="Google Shape;268;p14"/>
            <p:cNvPicPr preferRelativeResize="0"/>
            <p:nvPr/>
          </p:nvPicPr>
          <p:blipFill rotWithShape="1">
            <a:blip r:embed="rId3">
              <a:alphaModFix/>
            </a:blip>
            <a:srcRect b="0" l="0" r="0" t="0"/>
            <a:stretch/>
          </p:blipFill>
          <p:spPr>
            <a:xfrm>
              <a:off x="677975" y="2023600"/>
              <a:ext cx="2885575" cy="2885575"/>
            </a:xfrm>
            <a:prstGeom prst="rect">
              <a:avLst/>
            </a:prstGeom>
            <a:noFill/>
            <a:ln>
              <a:noFill/>
            </a:ln>
          </p:spPr>
        </p:pic>
        <p:cxnSp>
          <p:nvCxnSpPr>
            <p:cNvPr id="269" name="Google Shape;269;p14"/>
            <p:cNvCxnSpPr/>
            <p:nvPr/>
          </p:nvCxnSpPr>
          <p:spPr>
            <a:xfrm>
              <a:off x="2306575" y="3605550"/>
              <a:ext cx="1817100" cy="1009500"/>
            </a:xfrm>
            <a:prstGeom prst="straightConnector1">
              <a:avLst/>
            </a:prstGeom>
            <a:noFill/>
            <a:ln cap="flat" cmpd="sng" w="19675">
              <a:solidFill>
                <a:srgbClr val="188038"/>
              </a:solidFill>
              <a:prstDash val="solid"/>
              <a:round/>
              <a:headEnd len="sm" w="sm" type="none"/>
              <a:tailEnd len="med" w="med" type="triangle"/>
            </a:ln>
          </p:spPr>
        </p:cxnSp>
        <p:sp>
          <p:nvSpPr>
            <p:cNvPr id="270" name="Google Shape;270;p14"/>
            <p:cNvSpPr txBox="1"/>
            <p:nvPr/>
          </p:nvSpPr>
          <p:spPr>
            <a:xfrm>
              <a:off x="3902320" y="4572455"/>
              <a:ext cx="1414800" cy="393600"/>
            </a:xfrm>
            <a:prstGeom prst="rect">
              <a:avLst/>
            </a:prstGeom>
            <a:noFill/>
            <a:ln>
              <a:noFill/>
            </a:ln>
          </p:spPr>
          <p:txBody>
            <a:bodyPr anchorCtr="0" anchor="t" bIns="94375" lIns="94375" spcFirstLastPara="1" rIns="94375" wrap="square" tIns="94375">
              <a:noAutofit/>
            </a:bodyPr>
            <a:lstStyle/>
            <a:p>
              <a:pPr indent="0" lvl="0" marL="0" marR="0" rtl="0" algn="ctr">
                <a:lnSpc>
                  <a:spcPct val="115000"/>
                </a:lnSpc>
                <a:spcBef>
                  <a:spcPts val="0"/>
                </a:spcBef>
                <a:spcAft>
                  <a:spcPts val="0"/>
                </a:spcAft>
                <a:buClr>
                  <a:srgbClr val="000000"/>
                </a:buClr>
                <a:buSzPts val="1548"/>
                <a:buFont typeface="Arial"/>
                <a:buNone/>
              </a:pPr>
              <a:r>
                <a:rPr b="0" i="0" lang="it" sz="1548" u="none" cap="none" strike="noStrike">
                  <a:solidFill>
                    <a:srgbClr val="188038"/>
                  </a:solidFill>
                  <a:latin typeface="Arial"/>
                  <a:ea typeface="Arial"/>
                  <a:cs typeface="Arial"/>
                  <a:sym typeface="Arial"/>
                </a:rPr>
                <a:t>Simulation cell</a:t>
              </a:r>
              <a:endParaRPr b="0" i="0" sz="1548" u="none" cap="none" strike="noStrike">
                <a:solidFill>
                  <a:srgbClr val="188038"/>
                </a:solidFill>
                <a:latin typeface="Arial"/>
                <a:ea typeface="Arial"/>
                <a:cs typeface="Arial"/>
                <a:sym typeface="Arial"/>
              </a:endParaRPr>
            </a:p>
          </p:txBody>
        </p:sp>
        <p:cxnSp>
          <p:nvCxnSpPr>
            <p:cNvPr id="271" name="Google Shape;271;p14"/>
            <p:cNvCxnSpPr/>
            <p:nvPr/>
          </p:nvCxnSpPr>
          <p:spPr>
            <a:xfrm>
              <a:off x="3007163" y="2505100"/>
              <a:ext cx="917400" cy="337200"/>
            </a:xfrm>
            <a:prstGeom prst="straightConnector1">
              <a:avLst/>
            </a:prstGeom>
            <a:noFill/>
            <a:ln cap="flat" cmpd="sng" w="19675">
              <a:solidFill>
                <a:srgbClr val="FF9900"/>
              </a:solidFill>
              <a:prstDash val="solid"/>
              <a:round/>
              <a:headEnd len="sm" w="sm" type="none"/>
              <a:tailEnd len="med" w="med" type="triangle"/>
            </a:ln>
          </p:spPr>
        </p:cxnSp>
        <p:cxnSp>
          <p:nvCxnSpPr>
            <p:cNvPr id="272" name="Google Shape;272;p14"/>
            <p:cNvCxnSpPr/>
            <p:nvPr/>
          </p:nvCxnSpPr>
          <p:spPr>
            <a:xfrm flipH="1" rot="10800000">
              <a:off x="3015425" y="3034375"/>
              <a:ext cx="900900" cy="467700"/>
            </a:xfrm>
            <a:prstGeom prst="straightConnector1">
              <a:avLst/>
            </a:prstGeom>
            <a:noFill/>
            <a:ln cap="flat" cmpd="sng" w="19675">
              <a:solidFill>
                <a:srgbClr val="FF9900"/>
              </a:solidFill>
              <a:prstDash val="solid"/>
              <a:round/>
              <a:headEnd len="sm" w="sm" type="none"/>
              <a:tailEnd len="med" w="med" type="triangle"/>
            </a:ln>
          </p:spPr>
        </p:cxnSp>
        <p:sp>
          <p:nvSpPr>
            <p:cNvPr id="273" name="Google Shape;273;p14"/>
            <p:cNvSpPr txBox="1"/>
            <p:nvPr/>
          </p:nvSpPr>
          <p:spPr>
            <a:xfrm>
              <a:off x="3814948" y="2745003"/>
              <a:ext cx="1414800" cy="393600"/>
            </a:xfrm>
            <a:prstGeom prst="rect">
              <a:avLst/>
            </a:prstGeom>
            <a:noFill/>
            <a:ln>
              <a:noFill/>
            </a:ln>
          </p:spPr>
          <p:txBody>
            <a:bodyPr anchorCtr="0" anchor="t" bIns="94375" lIns="94375" spcFirstLastPara="1" rIns="94375" wrap="square" tIns="94375">
              <a:noAutofit/>
            </a:bodyPr>
            <a:lstStyle/>
            <a:p>
              <a:pPr indent="0" lvl="0" marL="0" marR="0" rtl="0" algn="ctr">
                <a:lnSpc>
                  <a:spcPct val="115000"/>
                </a:lnSpc>
                <a:spcBef>
                  <a:spcPts val="0"/>
                </a:spcBef>
                <a:spcAft>
                  <a:spcPts val="0"/>
                </a:spcAft>
                <a:buClr>
                  <a:srgbClr val="000000"/>
                </a:buClr>
                <a:buSzPts val="1548"/>
                <a:buFont typeface="Arial"/>
                <a:buNone/>
              </a:pPr>
              <a:r>
                <a:rPr b="0" i="0" lang="it" sz="1548" u="none" cap="none" strike="noStrike">
                  <a:solidFill>
                    <a:srgbClr val="FF9900"/>
                  </a:solidFill>
                  <a:latin typeface="Arial"/>
                  <a:ea typeface="Arial"/>
                  <a:cs typeface="Arial"/>
                  <a:sym typeface="Arial"/>
                </a:rPr>
                <a:t>Periodic cells</a:t>
              </a:r>
              <a:endParaRPr b="0" i="0" sz="1548" u="none" cap="none" strike="noStrike">
                <a:solidFill>
                  <a:srgbClr val="FF9900"/>
                </a:solidFill>
                <a:latin typeface="Arial"/>
                <a:ea typeface="Arial"/>
                <a:cs typeface="Arial"/>
                <a:sym typeface="Arial"/>
              </a:endParaRPr>
            </a:p>
          </p:txBody>
        </p:sp>
      </p:grpSp>
      <p:grpSp>
        <p:nvGrpSpPr>
          <p:cNvPr id="274" name="Google Shape;274;p14"/>
          <p:cNvGrpSpPr/>
          <p:nvPr/>
        </p:nvGrpSpPr>
        <p:grpSpPr>
          <a:xfrm>
            <a:off x="5164530" y="1969063"/>
            <a:ext cx="3954537" cy="2668162"/>
            <a:chOff x="5086344" y="1889988"/>
            <a:chExt cx="3954537" cy="2668162"/>
          </a:xfrm>
        </p:grpSpPr>
        <p:pic>
          <p:nvPicPr>
            <p:cNvPr id="275" name="Google Shape;275;p14" title="mic_1.png"/>
            <p:cNvPicPr preferRelativeResize="0"/>
            <p:nvPr/>
          </p:nvPicPr>
          <p:blipFill rotWithShape="1">
            <a:blip r:embed="rId4">
              <a:alphaModFix/>
            </a:blip>
            <a:srcRect b="0" l="0" r="0" t="0"/>
            <a:stretch/>
          </p:blipFill>
          <p:spPr>
            <a:xfrm>
              <a:off x="5094781" y="2339012"/>
              <a:ext cx="3540547" cy="822900"/>
            </a:xfrm>
            <a:prstGeom prst="rect">
              <a:avLst/>
            </a:prstGeom>
            <a:noFill/>
            <a:ln>
              <a:noFill/>
            </a:ln>
          </p:spPr>
        </p:pic>
        <p:sp>
          <p:nvSpPr>
            <p:cNvPr id="276" name="Google Shape;276;p14"/>
            <p:cNvSpPr txBox="1"/>
            <p:nvPr/>
          </p:nvSpPr>
          <p:spPr>
            <a:xfrm>
              <a:off x="5086344" y="1889988"/>
              <a:ext cx="35574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chemeClr val="dk1"/>
                  </a:solidFill>
                  <a:latin typeface="Arial"/>
                  <a:ea typeface="Arial"/>
                  <a:cs typeface="Arial"/>
                  <a:sym typeface="Arial"/>
                </a:rPr>
                <a:t>In a cubic simulation cell of volume </a:t>
              </a:r>
              <a:r>
                <a:rPr b="0" i="1" lang="it" sz="1500" u="none" cap="none" strike="noStrike">
                  <a:solidFill>
                    <a:schemeClr val="dk1"/>
                  </a:solidFill>
                  <a:latin typeface="Arial"/>
                  <a:ea typeface="Arial"/>
                  <a:cs typeface="Arial"/>
                  <a:sym typeface="Arial"/>
                </a:rPr>
                <a:t>L</a:t>
              </a:r>
              <a:r>
                <a:rPr b="0" baseline="30000" i="0" lang="it" sz="1500" u="none" cap="none" strike="noStrike">
                  <a:solidFill>
                    <a:schemeClr val="dk1"/>
                  </a:solidFill>
                  <a:latin typeface="Arial"/>
                  <a:ea typeface="Arial"/>
                  <a:cs typeface="Arial"/>
                  <a:sym typeface="Arial"/>
                </a:rPr>
                <a:t>3</a:t>
              </a:r>
              <a:r>
                <a:rPr b="0" i="0" lang="it"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cxnSp>
          <p:nvCxnSpPr>
            <p:cNvPr id="277" name="Google Shape;277;p14"/>
            <p:cNvCxnSpPr/>
            <p:nvPr/>
          </p:nvCxnSpPr>
          <p:spPr>
            <a:xfrm flipH="1" rot="10800000">
              <a:off x="7086814" y="2891700"/>
              <a:ext cx="857400" cy="822900"/>
            </a:xfrm>
            <a:prstGeom prst="straightConnector1">
              <a:avLst/>
            </a:prstGeom>
            <a:noFill/>
            <a:ln cap="flat" cmpd="sng" w="20325">
              <a:solidFill>
                <a:schemeClr val="dk1"/>
              </a:solidFill>
              <a:prstDash val="solid"/>
              <a:round/>
              <a:headEnd len="sm" w="sm" type="none"/>
              <a:tailEnd len="med" w="med" type="triangle"/>
            </a:ln>
          </p:spPr>
        </p:cxnSp>
        <p:sp>
          <p:nvSpPr>
            <p:cNvPr id="278" name="Google Shape;278;p14"/>
            <p:cNvSpPr txBox="1"/>
            <p:nvPr/>
          </p:nvSpPr>
          <p:spPr>
            <a:xfrm>
              <a:off x="5970756" y="3714600"/>
              <a:ext cx="1366200" cy="583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it" sz="1400" u="none" cap="none" strike="noStrike">
                  <a:solidFill>
                    <a:schemeClr val="dk1"/>
                  </a:solidFill>
                  <a:latin typeface="Arial"/>
                  <a:ea typeface="Arial"/>
                  <a:cs typeface="Arial"/>
                  <a:sym typeface="Arial"/>
                </a:rPr>
                <a:t>position of </a:t>
              </a:r>
              <a:r>
                <a:rPr b="0" i="1" lang="it" sz="1400" u="none" cap="none" strike="noStrike">
                  <a:solidFill>
                    <a:schemeClr val="dk1"/>
                  </a:solidFill>
                  <a:latin typeface="Arial"/>
                  <a:ea typeface="Arial"/>
                  <a:cs typeface="Arial"/>
                  <a:sym typeface="Arial"/>
                </a:rPr>
                <a:t>i</a:t>
              </a:r>
              <a:r>
                <a:rPr b="0" i="0" lang="it" sz="1400" u="none" cap="none" strike="noStrike">
                  <a:solidFill>
                    <a:schemeClr val="dk1"/>
                  </a:solidFill>
                  <a:latin typeface="Arial"/>
                  <a:ea typeface="Arial"/>
                  <a:cs typeface="Arial"/>
                  <a:sym typeface="Arial"/>
                </a:rPr>
                <a:t> in primary cell</a:t>
              </a:r>
              <a:endParaRPr b="0" i="0" sz="1400" u="none" cap="none" strike="noStrike">
                <a:solidFill>
                  <a:schemeClr val="dk1"/>
                </a:solidFill>
                <a:latin typeface="Arial"/>
                <a:ea typeface="Arial"/>
                <a:cs typeface="Arial"/>
                <a:sym typeface="Arial"/>
              </a:endParaRPr>
            </a:p>
          </p:txBody>
        </p:sp>
        <p:cxnSp>
          <p:nvCxnSpPr>
            <p:cNvPr id="279" name="Google Shape;279;p14"/>
            <p:cNvCxnSpPr/>
            <p:nvPr/>
          </p:nvCxnSpPr>
          <p:spPr>
            <a:xfrm flipH="1" rot="10800000">
              <a:off x="8353125" y="2891700"/>
              <a:ext cx="9300" cy="918000"/>
            </a:xfrm>
            <a:prstGeom prst="straightConnector1">
              <a:avLst/>
            </a:prstGeom>
            <a:noFill/>
            <a:ln cap="flat" cmpd="sng" w="20325">
              <a:solidFill>
                <a:schemeClr val="dk1"/>
              </a:solidFill>
              <a:prstDash val="solid"/>
              <a:round/>
              <a:headEnd len="sm" w="sm" type="none"/>
              <a:tailEnd len="med" w="med" type="triangle"/>
            </a:ln>
          </p:spPr>
        </p:cxnSp>
        <p:sp>
          <p:nvSpPr>
            <p:cNvPr id="280" name="Google Shape;280;p14"/>
            <p:cNvSpPr txBox="1"/>
            <p:nvPr/>
          </p:nvSpPr>
          <p:spPr>
            <a:xfrm>
              <a:off x="7674681" y="3974650"/>
              <a:ext cx="1366200" cy="5835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1" i="0" lang="it" sz="1400" u="none" cap="none" strike="noStrike">
                  <a:solidFill>
                    <a:schemeClr val="dk1"/>
                  </a:solidFill>
                  <a:latin typeface="Arial"/>
                  <a:ea typeface="Arial"/>
                  <a:cs typeface="Arial"/>
                  <a:sym typeface="Arial"/>
                </a:rPr>
                <a:t>n</a:t>
              </a:r>
              <a:r>
                <a:rPr b="0" i="0" lang="it" sz="1400" u="none" cap="none" strike="noStrike">
                  <a:solidFill>
                    <a:schemeClr val="dk1"/>
                  </a:solidFill>
                  <a:latin typeface="Arial"/>
                  <a:ea typeface="Arial"/>
                  <a:cs typeface="Arial"/>
                  <a:sym typeface="Arial"/>
                </a:rPr>
                <a:t> = (0,0,0)</a:t>
              </a:r>
              <a:br>
                <a:rPr b="0" i="0" lang="it" sz="1400" u="none" cap="none" strike="noStrike">
                  <a:solidFill>
                    <a:schemeClr val="dk1"/>
                  </a:solidFill>
                  <a:latin typeface="Arial"/>
                  <a:ea typeface="Arial"/>
                  <a:cs typeface="Arial"/>
                  <a:sym typeface="Arial"/>
                </a:rPr>
              </a:br>
              <a:r>
                <a:rPr b="0" i="0" lang="it" sz="1400" u="none" cap="none" strike="noStrike">
                  <a:solidFill>
                    <a:schemeClr val="dk1"/>
                  </a:solidFill>
                  <a:latin typeface="Arial"/>
                  <a:ea typeface="Arial"/>
                  <a:cs typeface="Arial"/>
                  <a:sym typeface="Arial"/>
                </a:rPr>
                <a:t>primary cell</a:t>
              </a:r>
              <a:endParaRPr b="0" i="0" sz="1400" u="none" cap="none" strike="noStrike">
                <a:solidFill>
                  <a:schemeClr val="dk1"/>
                </a:solidFill>
                <a:latin typeface="Arial"/>
                <a:ea typeface="Arial"/>
                <a:cs typeface="Arial"/>
                <a:sym typeface="Arial"/>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15"/>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Minimum image convention</a:t>
            </a:r>
            <a:endParaRPr sz="2500">
              <a:latin typeface="Montserrat SemiBold"/>
              <a:ea typeface="Montserrat SemiBold"/>
              <a:cs typeface="Montserrat SemiBold"/>
              <a:sym typeface="Montserrat SemiBold"/>
            </a:endParaRPr>
          </a:p>
        </p:txBody>
      </p:sp>
      <p:sp>
        <p:nvSpPr>
          <p:cNvPr id="286" name="Google Shape;286;p15"/>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87" name="Google Shape;287;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288" name="Google Shape;288;p15"/>
          <p:cNvSpPr txBox="1"/>
          <p:nvPr/>
        </p:nvSpPr>
        <p:spPr>
          <a:xfrm>
            <a:off x="1165226" y="867068"/>
            <a:ext cx="6813547" cy="7470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When potential decays rapidly with distance (= short-range interactions):</a:t>
            </a:r>
            <a:endParaRPr b="0" i="0" sz="16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 </a:t>
            </a:r>
            <a:r>
              <a:rPr b="0" i="0" lang="it" sz="1600" u="none" cap="none" strike="noStrike">
                <a:solidFill>
                  <a:srgbClr val="FF0000"/>
                </a:solidFill>
                <a:latin typeface="Arial"/>
                <a:ea typeface="Arial"/>
                <a:cs typeface="Arial"/>
                <a:sym typeface="Arial"/>
              </a:rPr>
              <a:t>we neglect all </a:t>
            </a:r>
            <a:r>
              <a:rPr b="1" i="0" lang="it" sz="1600" u="none" cap="none" strike="noStrike">
                <a:solidFill>
                  <a:srgbClr val="FF0000"/>
                </a:solidFill>
                <a:latin typeface="Arial"/>
                <a:ea typeface="Arial"/>
                <a:cs typeface="Arial"/>
                <a:sym typeface="Arial"/>
              </a:rPr>
              <a:t>n</a:t>
            </a:r>
            <a:r>
              <a:rPr b="0" i="0" lang="it" sz="1600" u="none" cap="none" strike="noStrike">
                <a:solidFill>
                  <a:srgbClr val="FF0000"/>
                </a:solidFill>
                <a:latin typeface="Arial"/>
                <a:ea typeface="Arial"/>
                <a:cs typeface="Arial"/>
                <a:sym typeface="Arial"/>
              </a:rPr>
              <a:t> except the one for which |</a:t>
            </a:r>
            <a:r>
              <a:rPr b="1" i="0" lang="it" sz="1600" u="none" cap="none" strike="noStrike">
                <a:solidFill>
                  <a:srgbClr val="FF0000"/>
                </a:solidFill>
                <a:latin typeface="Arial"/>
                <a:ea typeface="Arial"/>
                <a:cs typeface="Arial"/>
                <a:sym typeface="Arial"/>
              </a:rPr>
              <a:t>r</a:t>
            </a:r>
            <a:r>
              <a:rPr b="0" baseline="-25000" i="0" lang="it" sz="1600" u="none" cap="none" strike="noStrike">
                <a:solidFill>
                  <a:srgbClr val="FF0000"/>
                </a:solidFill>
                <a:latin typeface="Arial"/>
                <a:ea typeface="Arial"/>
                <a:cs typeface="Arial"/>
                <a:sym typeface="Arial"/>
              </a:rPr>
              <a:t>i</a:t>
            </a:r>
            <a:r>
              <a:rPr b="0" i="0" lang="it" sz="1600" u="none" cap="none" strike="noStrike">
                <a:solidFill>
                  <a:srgbClr val="FF0000"/>
                </a:solidFill>
                <a:latin typeface="Arial"/>
                <a:ea typeface="Arial"/>
                <a:cs typeface="Arial"/>
                <a:sym typeface="Arial"/>
              </a:rPr>
              <a:t> - </a:t>
            </a:r>
            <a:r>
              <a:rPr b="1" i="0" lang="it" sz="1600" u="none" cap="none" strike="noStrike">
                <a:solidFill>
                  <a:srgbClr val="FF0000"/>
                </a:solidFill>
                <a:latin typeface="Arial"/>
                <a:ea typeface="Arial"/>
                <a:cs typeface="Arial"/>
                <a:sym typeface="Arial"/>
              </a:rPr>
              <a:t>r</a:t>
            </a:r>
            <a:r>
              <a:rPr b="0" baseline="-25000" i="0" lang="it" sz="1600" u="none" cap="none" strike="noStrike">
                <a:solidFill>
                  <a:srgbClr val="FF0000"/>
                </a:solidFill>
                <a:latin typeface="Arial"/>
                <a:ea typeface="Arial"/>
                <a:cs typeface="Arial"/>
                <a:sym typeface="Arial"/>
              </a:rPr>
              <a:t>j</a:t>
            </a:r>
            <a:r>
              <a:rPr b="0" i="0" lang="it" sz="1600" u="none" cap="none" strike="noStrike">
                <a:solidFill>
                  <a:srgbClr val="FF0000"/>
                </a:solidFill>
                <a:latin typeface="Arial"/>
                <a:ea typeface="Arial"/>
                <a:cs typeface="Arial"/>
                <a:sym typeface="Arial"/>
              </a:rPr>
              <a:t> + </a:t>
            </a:r>
            <a:r>
              <a:rPr b="1" i="0" lang="it" sz="1600" u="none" cap="none" strike="noStrike">
                <a:solidFill>
                  <a:srgbClr val="FF0000"/>
                </a:solidFill>
                <a:latin typeface="Arial"/>
                <a:ea typeface="Arial"/>
                <a:cs typeface="Arial"/>
                <a:sym typeface="Arial"/>
              </a:rPr>
              <a:t>n</a:t>
            </a:r>
            <a:r>
              <a:rPr b="0" i="1" lang="it" sz="1600" u="none" cap="none" strike="noStrike">
                <a:solidFill>
                  <a:srgbClr val="FF0000"/>
                </a:solidFill>
                <a:latin typeface="Arial"/>
                <a:ea typeface="Arial"/>
                <a:cs typeface="Arial"/>
                <a:sym typeface="Arial"/>
              </a:rPr>
              <a:t>L</a:t>
            </a:r>
            <a:r>
              <a:rPr b="0" i="0" lang="it" sz="1600" u="none" cap="none" strike="noStrike">
                <a:solidFill>
                  <a:srgbClr val="FF0000"/>
                </a:solidFill>
                <a:latin typeface="Arial"/>
                <a:ea typeface="Arial"/>
                <a:cs typeface="Arial"/>
                <a:sym typeface="Arial"/>
              </a:rPr>
              <a:t>| is the smallest</a:t>
            </a:r>
            <a:endParaRPr/>
          </a:p>
        </p:txBody>
      </p:sp>
      <p:pic>
        <p:nvPicPr>
          <p:cNvPr id="289" name="Google Shape;289;p15" title="Screenshot 2026-09-03 at 21.31.38.png"/>
          <p:cNvPicPr preferRelativeResize="0"/>
          <p:nvPr/>
        </p:nvPicPr>
        <p:blipFill rotWithShape="1">
          <a:blip r:embed="rId3">
            <a:alphaModFix/>
          </a:blip>
          <a:srcRect b="5226" l="45408" r="7639" t="31350"/>
          <a:stretch/>
        </p:blipFill>
        <p:spPr>
          <a:xfrm>
            <a:off x="4967535" y="1817077"/>
            <a:ext cx="3127977" cy="2848049"/>
          </a:xfrm>
          <a:prstGeom prst="rect">
            <a:avLst/>
          </a:prstGeom>
          <a:noFill/>
          <a:ln>
            <a:noFill/>
          </a:ln>
        </p:spPr>
      </p:pic>
      <p:pic>
        <p:nvPicPr>
          <p:cNvPr id="290" name="Google Shape;290;p15" title="Screenshot 2026-09-04 at 08.26.36.png"/>
          <p:cNvPicPr preferRelativeResize="0"/>
          <p:nvPr/>
        </p:nvPicPr>
        <p:blipFill rotWithShape="1">
          <a:blip r:embed="rId4">
            <a:alphaModFix/>
          </a:blip>
          <a:srcRect b="8238" l="49755" r="13117" t="39092"/>
          <a:stretch/>
        </p:blipFill>
        <p:spPr>
          <a:xfrm>
            <a:off x="1048488" y="1770202"/>
            <a:ext cx="3091502" cy="29418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4" name="Shape 294"/>
        <p:cNvGrpSpPr/>
        <p:nvPr/>
      </p:nvGrpSpPr>
      <p:grpSpPr>
        <a:xfrm>
          <a:off x="0" y="0"/>
          <a:ext cx="0" cy="0"/>
          <a:chOff x="0" y="0"/>
          <a:chExt cx="0" cy="0"/>
        </a:xfrm>
      </p:grpSpPr>
      <p:sp>
        <p:nvSpPr>
          <p:cNvPr id="295" name="Google Shape;295;p16"/>
          <p:cNvSpPr txBox="1"/>
          <p:nvPr/>
        </p:nvSpPr>
        <p:spPr>
          <a:xfrm>
            <a:off x="1873950" y="894839"/>
            <a:ext cx="53961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When potential decays rapidly with distance…</a:t>
            </a:r>
            <a:endParaRPr b="0" i="0" sz="1600" u="none" cap="none" strike="noStrike">
              <a:solidFill>
                <a:schemeClr val="dk1"/>
              </a:solidFill>
              <a:latin typeface="Arial"/>
              <a:ea typeface="Arial"/>
              <a:cs typeface="Arial"/>
              <a:sym typeface="Arial"/>
            </a:endParaRPr>
          </a:p>
          <a:p>
            <a:pPr indent="0" lvl="0" marL="0" marR="0" rtl="0" algn="ctr">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 </a:t>
            </a:r>
            <a:endParaRPr b="0" i="0" sz="1600" u="none" cap="none" strike="noStrike">
              <a:solidFill>
                <a:schemeClr val="dk1"/>
              </a:solidFill>
              <a:latin typeface="Arial"/>
              <a:ea typeface="Arial"/>
              <a:cs typeface="Arial"/>
              <a:sym typeface="Arial"/>
            </a:endParaRPr>
          </a:p>
        </p:txBody>
      </p:sp>
      <p:sp>
        <p:nvSpPr>
          <p:cNvPr id="296" name="Google Shape;296;p16"/>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Minimum image convention</a:t>
            </a:r>
            <a:endParaRPr sz="2500">
              <a:latin typeface="Montserrat SemiBold"/>
              <a:ea typeface="Montserrat SemiBold"/>
              <a:cs typeface="Montserrat SemiBold"/>
              <a:sym typeface="Montserrat SemiBold"/>
            </a:endParaRPr>
          </a:p>
        </p:txBody>
      </p:sp>
      <p:sp>
        <p:nvSpPr>
          <p:cNvPr id="297" name="Google Shape;297;p16"/>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8" name="Google Shape;298;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cxnSp>
        <p:nvCxnSpPr>
          <p:cNvPr id="299" name="Google Shape;299;p16"/>
          <p:cNvCxnSpPr/>
          <p:nvPr/>
        </p:nvCxnSpPr>
        <p:spPr>
          <a:xfrm rot="501">
            <a:off x="3109986" y="1239719"/>
            <a:ext cx="2057400" cy="9905"/>
          </a:xfrm>
          <a:prstGeom prst="straightConnector1">
            <a:avLst/>
          </a:prstGeom>
          <a:noFill/>
          <a:ln cap="flat" cmpd="sng" w="19050">
            <a:solidFill>
              <a:srgbClr val="FF0000"/>
            </a:solidFill>
            <a:prstDash val="solid"/>
            <a:round/>
            <a:headEnd len="sm" w="sm" type="none"/>
            <a:tailEnd len="sm" w="sm" type="none"/>
          </a:ln>
        </p:spPr>
      </p:cxnSp>
      <p:sp>
        <p:nvSpPr>
          <p:cNvPr id="300" name="Google Shape;300;p16"/>
          <p:cNvSpPr txBox="1"/>
          <p:nvPr/>
        </p:nvSpPr>
        <p:spPr>
          <a:xfrm>
            <a:off x="1529408" y="2297571"/>
            <a:ext cx="2417100" cy="393600"/>
          </a:xfrm>
          <a:prstGeom prst="rect">
            <a:avLst/>
          </a:prstGeom>
          <a:noFill/>
          <a:ln cap="flat" cmpd="sng" w="9525">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chemeClr val="dk1"/>
                </a:solidFill>
                <a:latin typeface="Arial"/>
                <a:ea typeface="Arial"/>
                <a:cs typeface="Arial"/>
                <a:sym typeface="Arial"/>
              </a:rPr>
              <a:t>Lennard-Jones potential</a:t>
            </a:r>
            <a:endParaRPr b="0" i="0" sz="1500" u="none" cap="none" strike="noStrike">
              <a:solidFill>
                <a:schemeClr val="dk1"/>
              </a:solidFill>
              <a:latin typeface="Arial"/>
              <a:ea typeface="Arial"/>
              <a:cs typeface="Arial"/>
              <a:sym typeface="Arial"/>
            </a:endParaRPr>
          </a:p>
        </p:txBody>
      </p:sp>
      <p:sp>
        <p:nvSpPr>
          <p:cNvPr id="301" name="Google Shape;301;p16"/>
          <p:cNvSpPr txBox="1"/>
          <p:nvPr/>
        </p:nvSpPr>
        <p:spPr>
          <a:xfrm>
            <a:off x="86119" y="3315541"/>
            <a:ext cx="8788781" cy="1078271"/>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30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Short-range forces using the minimum image convention and PBC require the calculation of N(N-1)/2 distances and pair interactions for each type of potential → </a:t>
            </a:r>
            <a:r>
              <a:rPr b="1" i="0" lang="it" sz="1500" u="none" cap="none" strike="noStrike">
                <a:solidFill>
                  <a:srgbClr val="000000"/>
                </a:solidFill>
                <a:latin typeface="Arial"/>
                <a:ea typeface="Arial"/>
                <a:cs typeface="Arial"/>
                <a:sym typeface="Arial"/>
              </a:rPr>
              <a:t>huge number</a:t>
            </a:r>
            <a:endParaRPr b="1" i="0" sz="1500" u="none" cap="none" strike="noStrike">
              <a:solidFill>
                <a:srgbClr val="000000"/>
              </a:solidFill>
              <a:latin typeface="Arial"/>
              <a:ea typeface="Arial"/>
              <a:cs typeface="Arial"/>
              <a:sym typeface="Arial"/>
            </a:endParaRPr>
          </a:p>
          <a:p>
            <a:pPr indent="-323850" lvl="0" marL="457200" marR="0" rtl="0" algn="just">
              <a:lnSpc>
                <a:spcPct val="130000"/>
              </a:lnSpc>
              <a:spcBef>
                <a:spcPts val="0"/>
              </a:spcBef>
              <a:spcAft>
                <a:spcPts val="0"/>
              </a:spcAft>
              <a:buClr>
                <a:srgbClr val="000000"/>
              </a:buClr>
              <a:buSzPts val="1500"/>
              <a:buFont typeface="Arial"/>
              <a:buChar char="●"/>
            </a:pPr>
            <a:r>
              <a:rPr b="0" i="0" lang="it" sz="1500" u="none" cap="none" strike="noStrike">
                <a:solidFill>
                  <a:srgbClr val="000000"/>
                </a:solidFill>
                <a:latin typeface="Arial"/>
                <a:ea typeface="Arial"/>
                <a:cs typeface="Arial"/>
                <a:sym typeface="Arial"/>
              </a:rPr>
              <a:t>Usually short-range potentials can be safely cut off at a distance shorter than L/2.</a:t>
            </a:r>
            <a:endParaRPr b="0" i="0" sz="1500" u="none" cap="none" strike="noStrike">
              <a:solidFill>
                <a:srgbClr val="000000"/>
              </a:solidFill>
              <a:latin typeface="Arial"/>
              <a:ea typeface="Arial"/>
              <a:cs typeface="Arial"/>
              <a:sym typeface="Arial"/>
            </a:endParaRPr>
          </a:p>
        </p:txBody>
      </p:sp>
      <p:cxnSp>
        <p:nvCxnSpPr>
          <p:cNvPr id="302" name="Google Shape;302;p16"/>
          <p:cNvCxnSpPr/>
          <p:nvPr/>
        </p:nvCxnSpPr>
        <p:spPr>
          <a:xfrm flipH="1">
            <a:off x="3404681" y="1401588"/>
            <a:ext cx="373076" cy="757952"/>
          </a:xfrm>
          <a:prstGeom prst="straightConnector1">
            <a:avLst/>
          </a:prstGeom>
          <a:noFill/>
          <a:ln cap="flat" cmpd="sng" w="20325">
            <a:solidFill>
              <a:schemeClr val="dk1"/>
            </a:solidFill>
            <a:prstDash val="solid"/>
            <a:round/>
            <a:headEnd len="sm" w="sm" type="none"/>
            <a:tailEnd len="med" w="med" type="triangle"/>
          </a:ln>
        </p:spPr>
      </p:cxnSp>
      <p:pic>
        <p:nvPicPr>
          <p:cNvPr id="303" name="Google Shape;303;p16" title="Screenshot 2026-09-01 at 18.55.35.png"/>
          <p:cNvPicPr preferRelativeResize="0"/>
          <p:nvPr/>
        </p:nvPicPr>
        <p:blipFill rotWithShape="1">
          <a:blip r:embed="rId3">
            <a:alphaModFix/>
          </a:blip>
          <a:srcRect b="22009" l="17267" r="31827" t="55945"/>
          <a:stretch/>
        </p:blipFill>
        <p:spPr>
          <a:xfrm>
            <a:off x="4360372" y="2017045"/>
            <a:ext cx="3394284" cy="954651"/>
          </a:xfrm>
          <a:prstGeom prst="rect">
            <a:avLst/>
          </a:prstGeom>
          <a:noFill/>
          <a:ln>
            <a:noFill/>
          </a:ln>
        </p:spPr>
      </p:pic>
      <p:sp>
        <p:nvSpPr>
          <p:cNvPr id="304" name="Google Shape;304;p16"/>
          <p:cNvSpPr/>
          <p:nvPr/>
        </p:nvSpPr>
        <p:spPr>
          <a:xfrm>
            <a:off x="6400800" y="2082800"/>
            <a:ext cx="268941" cy="251353"/>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
        <p:nvSpPr>
          <p:cNvPr id="305" name="Google Shape;305;p16"/>
          <p:cNvSpPr/>
          <p:nvPr/>
        </p:nvSpPr>
        <p:spPr>
          <a:xfrm>
            <a:off x="7438571" y="2082800"/>
            <a:ext cx="203401" cy="251353"/>
          </a:xfrm>
          <a:prstGeom prst="ellipse">
            <a:avLst/>
          </a:prstGeom>
          <a:noFill/>
          <a:ln cap="flat" cmpd="sng" w="25400">
            <a:solidFill>
              <a:srgbClr val="FF000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chemeClr val="lt1"/>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Google Shape;310;p17"/>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Verlet neighbor lists</a:t>
            </a:r>
            <a:endParaRPr sz="2500">
              <a:latin typeface="Montserrat SemiBold"/>
              <a:ea typeface="Montserrat SemiBold"/>
              <a:cs typeface="Montserrat SemiBold"/>
              <a:sym typeface="Montserrat SemiBold"/>
            </a:endParaRPr>
          </a:p>
        </p:txBody>
      </p:sp>
      <p:sp>
        <p:nvSpPr>
          <p:cNvPr id="311" name="Google Shape;311;p17"/>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12" name="Google Shape;312;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13" name="Google Shape;313;p17"/>
          <p:cNvSpPr txBox="1"/>
          <p:nvPr/>
        </p:nvSpPr>
        <p:spPr>
          <a:xfrm>
            <a:off x="311700" y="894850"/>
            <a:ext cx="8563200" cy="3936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chemeClr val="dk1"/>
                </a:solidFill>
                <a:latin typeface="Arial"/>
                <a:ea typeface="Arial"/>
                <a:cs typeface="Arial"/>
                <a:sym typeface="Arial"/>
              </a:rPr>
              <a:t>Calculation of N(N-1)/2 distances can be avoided at most simulation steps using neighbor list</a:t>
            </a:r>
            <a:endParaRPr b="0" i="0" sz="1600" u="none" cap="none" strike="noStrike">
              <a:solidFill>
                <a:schemeClr val="dk1"/>
              </a:solidFill>
              <a:latin typeface="Arial"/>
              <a:ea typeface="Arial"/>
              <a:cs typeface="Arial"/>
              <a:sym typeface="Arial"/>
            </a:endParaRPr>
          </a:p>
        </p:txBody>
      </p:sp>
      <p:sp>
        <p:nvSpPr>
          <p:cNvPr id="314" name="Google Shape;314;p17"/>
          <p:cNvSpPr txBox="1"/>
          <p:nvPr/>
        </p:nvSpPr>
        <p:spPr>
          <a:xfrm>
            <a:off x="2814438" y="2370588"/>
            <a:ext cx="6206700" cy="1468500"/>
          </a:xfrm>
          <a:prstGeom prst="rect">
            <a:avLst/>
          </a:prstGeom>
          <a:noFill/>
          <a:ln>
            <a:noFill/>
          </a:ln>
        </p:spPr>
        <p:txBody>
          <a:bodyPr anchorCtr="0" anchor="t" bIns="91425" lIns="91425" spcFirstLastPara="1" rIns="91425" wrap="square" tIns="91425">
            <a:noAutofit/>
          </a:bodyPr>
          <a:lstStyle/>
          <a:p>
            <a:pPr indent="-323850" lvl="0" marL="457200" marR="0" rtl="0" algn="just">
              <a:lnSpc>
                <a:spcPct val="115000"/>
              </a:lnSpc>
              <a:spcBef>
                <a:spcPts val="0"/>
              </a:spcBef>
              <a:spcAft>
                <a:spcPts val="0"/>
              </a:spcAft>
              <a:buClr>
                <a:schemeClr val="dk1"/>
              </a:buClr>
              <a:buSzPts val="1500"/>
              <a:buFont typeface="Arial"/>
              <a:buChar char="●"/>
            </a:pPr>
            <a:r>
              <a:rPr b="1" i="0" lang="it" sz="1500" u="none" cap="none" strike="noStrike">
                <a:solidFill>
                  <a:schemeClr val="dk1"/>
                </a:solidFill>
                <a:latin typeface="Arial"/>
                <a:ea typeface="Arial"/>
                <a:cs typeface="Arial"/>
                <a:sym typeface="Arial"/>
              </a:rPr>
              <a:t>Verlet scheme</a:t>
            </a:r>
            <a:r>
              <a:rPr b="0" i="0" lang="it" sz="1500" u="none" cap="none" strike="noStrike">
                <a:solidFill>
                  <a:schemeClr val="dk1"/>
                </a:solidFill>
                <a:latin typeface="Arial"/>
                <a:ea typeface="Arial"/>
                <a:cs typeface="Arial"/>
                <a:sym typeface="Arial"/>
              </a:rPr>
              <a:t>: build a neighbor list containing all atoms within r</a:t>
            </a:r>
            <a:r>
              <a:rPr b="0" baseline="-25000" i="0" lang="it" sz="1500" u="none" cap="none" strike="noStrike">
                <a:solidFill>
                  <a:schemeClr val="dk1"/>
                </a:solidFill>
                <a:latin typeface="Arial"/>
                <a:ea typeface="Arial"/>
                <a:cs typeface="Arial"/>
                <a:sym typeface="Arial"/>
              </a:rPr>
              <a:t>list</a:t>
            </a:r>
            <a:endParaRPr b="0" baseline="-2500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chemeClr val="dk1"/>
                </a:solidFill>
                <a:latin typeface="Arial"/>
                <a:ea typeface="Arial"/>
                <a:cs typeface="Arial"/>
                <a:sym typeface="Arial"/>
              </a:rPr>
              <a:t>If r</a:t>
            </a:r>
            <a:r>
              <a:rPr b="0" baseline="-25000" i="0" lang="it" sz="1500" u="none" cap="none" strike="noStrike">
                <a:solidFill>
                  <a:schemeClr val="dk1"/>
                </a:solidFill>
                <a:latin typeface="Arial"/>
                <a:ea typeface="Arial"/>
                <a:cs typeface="Arial"/>
                <a:sym typeface="Arial"/>
              </a:rPr>
              <a:t>ij</a:t>
            </a:r>
            <a:r>
              <a:rPr b="0" i="0" lang="it" sz="1500" u="none" cap="none" strike="noStrike">
                <a:solidFill>
                  <a:schemeClr val="dk1"/>
                </a:solidFill>
                <a:latin typeface="Arial"/>
                <a:ea typeface="Arial"/>
                <a:cs typeface="Arial"/>
                <a:sym typeface="Arial"/>
              </a:rPr>
              <a:t> &lt; r</a:t>
            </a:r>
            <a:r>
              <a:rPr b="0" baseline="-25000" i="0" lang="it" sz="1500" u="none" cap="none" strike="noStrike">
                <a:solidFill>
                  <a:schemeClr val="dk1"/>
                </a:solidFill>
                <a:latin typeface="Arial"/>
                <a:ea typeface="Arial"/>
                <a:cs typeface="Arial"/>
                <a:sym typeface="Arial"/>
              </a:rPr>
              <a:t>cut</a:t>
            </a:r>
            <a:r>
              <a:rPr b="0" i="0" lang="it" sz="1500" u="none" cap="none" strike="noStrike">
                <a:solidFill>
                  <a:schemeClr val="dk1"/>
                </a:solidFill>
                <a:latin typeface="Arial"/>
                <a:ea typeface="Arial"/>
                <a:cs typeface="Arial"/>
                <a:sym typeface="Arial"/>
              </a:rPr>
              <a:t> → compute the interaction</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chemeClr val="dk1"/>
                </a:solidFill>
                <a:latin typeface="Arial"/>
                <a:ea typeface="Arial"/>
                <a:cs typeface="Arial"/>
                <a:sym typeface="Arial"/>
              </a:rPr>
              <a:t>The neighbor list is updated periodically as atoms move</a:t>
            </a:r>
            <a:endParaRPr b="0" i="0" sz="1500" u="none" cap="none" strike="noStrike">
              <a:solidFill>
                <a:schemeClr val="dk1"/>
              </a:solidFill>
              <a:latin typeface="Arial"/>
              <a:ea typeface="Arial"/>
              <a:cs typeface="Arial"/>
              <a:sym typeface="Arial"/>
            </a:endParaRPr>
          </a:p>
          <a:p>
            <a:pPr indent="-323850" lvl="0" marL="457200" marR="0" rtl="0" algn="just">
              <a:lnSpc>
                <a:spcPct val="115000"/>
              </a:lnSpc>
              <a:spcBef>
                <a:spcPts val="0"/>
              </a:spcBef>
              <a:spcAft>
                <a:spcPts val="0"/>
              </a:spcAft>
              <a:buClr>
                <a:schemeClr val="dk1"/>
              </a:buClr>
              <a:buSzPts val="1500"/>
              <a:buFont typeface="Arial"/>
              <a:buChar char="●"/>
            </a:pPr>
            <a:r>
              <a:rPr b="0" i="0" lang="it" sz="1500" u="none" cap="none" strike="noStrike">
                <a:solidFill>
                  <a:schemeClr val="dk1"/>
                </a:solidFill>
                <a:latin typeface="Arial"/>
                <a:ea typeface="Arial"/>
                <a:cs typeface="Arial"/>
                <a:sym typeface="Arial"/>
              </a:rPr>
              <a:t>r</a:t>
            </a:r>
            <a:r>
              <a:rPr b="0" baseline="-25000" i="0" lang="it" sz="1500" u="none" cap="none" strike="noStrike">
                <a:solidFill>
                  <a:schemeClr val="dk1"/>
                </a:solidFill>
                <a:latin typeface="Arial"/>
                <a:ea typeface="Arial"/>
                <a:cs typeface="Arial"/>
                <a:sym typeface="Arial"/>
              </a:rPr>
              <a:t>list</a:t>
            </a:r>
            <a:r>
              <a:rPr b="0" i="0" lang="it" sz="1500" u="none" cap="none" strike="noStrike">
                <a:solidFill>
                  <a:schemeClr val="dk1"/>
                </a:solidFill>
                <a:latin typeface="Arial"/>
                <a:ea typeface="Arial"/>
                <a:cs typeface="Arial"/>
                <a:sym typeface="Arial"/>
              </a:rPr>
              <a:t> &gt; r</a:t>
            </a:r>
            <a:r>
              <a:rPr b="0" baseline="-25000" i="0" lang="it" sz="1500" u="none" cap="none" strike="noStrike">
                <a:solidFill>
                  <a:schemeClr val="dk1"/>
                </a:solidFill>
                <a:latin typeface="Arial"/>
                <a:ea typeface="Arial"/>
                <a:cs typeface="Arial"/>
                <a:sym typeface="Arial"/>
              </a:rPr>
              <a:t>cut</a:t>
            </a:r>
            <a:r>
              <a:rPr b="0" i="0" lang="it" sz="1500" u="none" cap="none" strike="noStrike">
                <a:solidFill>
                  <a:schemeClr val="dk1"/>
                </a:solidFill>
                <a:latin typeface="Arial"/>
                <a:ea typeface="Arial"/>
                <a:cs typeface="Arial"/>
                <a:sym typeface="Arial"/>
              </a:rPr>
              <a:t> provides a buffer so no interaction is missed between updates</a:t>
            </a:r>
            <a:endParaRPr b="0" i="0" sz="1500" u="none" cap="none" strike="noStrike">
              <a:solidFill>
                <a:schemeClr val="dk1"/>
              </a:solidFill>
              <a:latin typeface="Arial"/>
              <a:ea typeface="Arial"/>
              <a:cs typeface="Arial"/>
              <a:sym typeface="Arial"/>
            </a:endParaRPr>
          </a:p>
        </p:txBody>
      </p:sp>
      <p:grpSp>
        <p:nvGrpSpPr>
          <p:cNvPr id="315" name="Google Shape;315;p17"/>
          <p:cNvGrpSpPr/>
          <p:nvPr/>
        </p:nvGrpSpPr>
        <p:grpSpPr>
          <a:xfrm>
            <a:off x="403997" y="1616900"/>
            <a:ext cx="2535310" cy="3212225"/>
            <a:chOff x="1469250" y="1674825"/>
            <a:chExt cx="2535310" cy="3212225"/>
          </a:xfrm>
        </p:grpSpPr>
        <p:pic>
          <p:nvPicPr>
            <p:cNvPr id="316" name="Google Shape;316;p17" title="Figure2.2-complete.jpg"/>
            <p:cNvPicPr preferRelativeResize="0"/>
            <p:nvPr/>
          </p:nvPicPr>
          <p:blipFill rotWithShape="1">
            <a:blip r:embed="rId3">
              <a:alphaModFix/>
            </a:blip>
            <a:srcRect b="2074" l="1759" r="55138" t="12221"/>
            <a:stretch/>
          </p:blipFill>
          <p:spPr>
            <a:xfrm>
              <a:off x="1469250" y="1674825"/>
              <a:ext cx="2535310" cy="3212225"/>
            </a:xfrm>
            <a:prstGeom prst="rect">
              <a:avLst/>
            </a:prstGeom>
            <a:noFill/>
            <a:ln>
              <a:noFill/>
            </a:ln>
          </p:spPr>
        </p:pic>
        <p:sp>
          <p:nvSpPr>
            <p:cNvPr id="317" name="Google Shape;317;p17"/>
            <p:cNvSpPr txBox="1"/>
            <p:nvPr/>
          </p:nvSpPr>
          <p:spPr>
            <a:xfrm>
              <a:off x="2249063" y="3100569"/>
              <a:ext cx="5487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1" lang="it" sz="1700" u="none" cap="none" strike="noStrike">
                  <a:solidFill>
                    <a:schemeClr val="dk1"/>
                  </a:solidFill>
                  <a:latin typeface="Arial"/>
                  <a:ea typeface="Arial"/>
                  <a:cs typeface="Arial"/>
                  <a:sym typeface="Arial"/>
                </a:rPr>
                <a:t>i</a:t>
              </a:r>
              <a:endParaRPr b="0" i="1" sz="1700" u="none" cap="none" strike="noStrike">
                <a:solidFill>
                  <a:schemeClr val="dk1"/>
                </a:solidFill>
                <a:latin typeface="Arial"/>
                <a:ea typeface="Arial"/>
                <a:cs typeface="Arial"/>
                <a:sym typeface="Arial"/>
              </a:endParaRPr>
            </a:p>
          </p:txBody>
        </p:sp>
        <p:sp>
          <p:nvSpPr>
            <p:cNvPr id="318" name="Google Shape;318;p17"/>
            <p:cNvSpPr txBox="1"/>
            <p:nvPr/>
          </p:nvSpPr>
          <p:spPr>
            <a:xfrm>
              <a:off x="2249067" y="2631212"/>
              <a:ext cx="548700" cy="3936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700"/>
                <a:buFont typeface="Arial"/>
                <a:buNone/>
              </a:pPr>
              <a:r>
                <a:rPr b="0" i="1" lang="it" sz="1700" u="none" cap="none" strike="noStrike">
                  <a:solidFill>
                    <a:schemeClr val="dk1"/>
                  </a:solidFill>
                  <a:latin typeface="Arial"/>
                  <a:ea typeface="Arial"/>
                  <a:cs typeface="Arial"/>
                  <a:sym typeface="Arial"/>
                </a:rPr>
                <a:t>j</a:t>
              </a:r>
              <a:endParaRPr b="0" i="1" sz="1700" u="none" cap="none" strike="noStrike">
                <a:solidFill>
                  <a:schemeClr val="dk1"/>
                </a:solidFill>
                <a:latin typeface="Arial"/>
                <a:ea typeface="Arial"/>
                <a:cs typeface="Arial"/>
                <a:sym typeface="Arial"/>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2" name="Shape 322"/>
        <p:cNvGrpSpPr/>
        <p:nvPr/>
      </p:nvGrpSpPr>
      <p:grpSpPr>
        <a:xfrm>
          <a:off x="0" y="0"/>
          <a:ext cx="0" cy="0"/>
          <a:chOff x="0" y="0"/>
          <a:chExt cx="0" cy="0"/>
        </a:xfrm>
      </p:grpSpPr>
      <p:sp>
        <p:nvSpPr>
          <p:cNvPr id="323" name="Google Shape;323;p18"/>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Long-range interactions</a:t>
            </a:r>
            <a:endParaRPr sz="2500">
              <a:latin typeface="Montserrat SemiBold"/>
              <a:ea typeface="Montserrat SemiBold"/>
              <a:cs typeface="Montserrat SemiBold"/>
              <a:sym typeface="Montserrat SemiBold"/>
            </a:endParaRPr>
          </a:p>
        </p:txBody>
      </p:sp>
      <p:sp>
        <p:nvSpPr>
          <p:cNvPr id="324" name="Google Shape;324;p18"/>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25" name="Google Shape;325;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26" name="Google Shape;326;p18"/>
          <p:cNvSpPr txBox="1"/>
          <p:nvPr/>
        </p:nvSpPr>
        <p:spPr>
          <a:xfrm>
            <a:off x="311700" y="894849"/>
            <a:ext cx="8563200" cy="466181"/>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None/>
            </a:pPr>
            <a:r>
              <a:rPr b="0" i="0" lang="it" sz="1600" u="none" cap="none" strike="noStrike">
                <a:solidFill>
                  <a:schemeClr val="dk1"/>
                </a:solidFill>
                <a:latin typeface="Arial"/>
                <a:ea typeface="Arial"/>
                <a:cs typeface="Arial"/>
                <a:sym typeface="Arial"/>
              </a:rPr>
              <a:t>These approximations don’t work for long-range interactions (Coulomb potential)</a:t>
            </a:r>
            <a:endParaRPr/>
          </a:p>
        </p:txBody>
      </p:sp>
      <p:sp>
        <p:nvSpPr>
          <p:cNvPr id="327" name="Google Shape;327;p18"/>
          <p:cNvSpPr txBox="1"/>
          <p:nvPr/>
        </p:nvSpPr>
        <p:spPr>
          <a:xfrm>
            <a:off x="297373" y="2925137"/>
            <a:ext cx="8563200" cy="1642010"/>
          </a:xfrm>
          <a:prstGeom prst="rect">
            <a:avLst/>
          </a:prstGeom>
          <a:noFill/>
          <a:ln>
            <a:noFill/>
          </a:ln>
        </p:spPr>
        <p:txBody>
          <a:bodyPr anchorCtr="0" anchor="t" bIns="91425" lIns="91425" spcFirstLastPara="1" rIns="91425" wrap="square" tIns="91425">
            <a:noAutofit/>
          </a:bodyPr>
          <a:lstStyle/>
          <a:p>
            <a:pPr indent="-285750" lvl="0" marL="285750" marR="0" rtl="0" algn="just">
              <a:lnSpc>
                <a:spcPct val="130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Interactions between the particle and its images in the periodic cells should be explicitly included in the potential calculation</a:t>
            </a:r>
            <a:endParaRPr/>
          </a:p>
          <a:p>
            <a:pPr indent="-285750" lvl="0" marL="285750" marR="0" rtl="0" algn="just">
              <a:lnSpc>
                <a:spcPct val="130000"/>
              </a:lnSpc>
              <a:spcBef>
                <a:spcPts val="0"/>
              </a:spcBef>
              <a:spcAft>
                <a:spcPts val="0"/>
              </a:spcAft>
              <a:buClr>
                <a:srgbClr val="000000"/>
              </a:buClr>
              <a:buSzPts val="1500"/>
              <a:buFont typeface="Arial"/>
              <a:buChar char="•"/>
            </a:pPr>
            <a:r>
              <a:rPr b="1" i="0" lang="it" sz="1500" u="none" cap="none" strike="noStrike">
                <a:solidFill>
                  <a:schemeClr val="dk1"/>
                </a:solidFill>
                <a:latin typeface="Arial"/>
                <a:ea typeface="Arial"/>
                <a:cs typeface="Arial"/>
                <a:sym typeface="Arial"/>
              </a:rPr>
              <a:t>Full sum </a:t>
            </a:r>
            <a:r>
              <a:rPr b="0" i="0" lang="it" sz="1500" u="none" cap="none" strike="noStrike">
                <a:solidFill>
                  <a:schemeClr val="dk1"/>
                </a:solidFill>
                <a:latin typeface="Arial"/>
                <a:ea typeface="Arial"/>
                <a:cs typeface="Arial"/>
                <a:sym typeface="Arial"/>
              </a:rPr>
              <a:t>is slowly (and conditionally) convergent → </a:t>
            </a:r>
            <a:r>
              <a:rPr b="0" i="0" lang="it" sz="1500" u="none" cap="none" strike="noStrike">
                <a:solidFill>
                  <a:srgbClr val="FF0000"/>
                </a:solidFill>
                <a:latin typeface="Arial"/>
                <a:ea typeface="Arial"/>
                <a:cs typeface="Arial"/>
                <a:sym typeface="Arial"/>
              </a:rPr>
              <a:t>too computationally expensive</a:t>
            </a:r>
            <a:endParaRPr/>
          </a:p>
          <a:p>
            <a:pPr indent="-285750" lvl="0" marL="285750" marR="0" rtl="0" algn="just">
              <a:lnSpc>
                <a:spcPct val="130000"/>
              </a:lnSpc>
              <a:spcBef>
                <a:spcPts val="0"/>
              </a:spcBef>
              <a:spcAft>
                <a:spcPts val="0"/>
              </a:spcAft>
              <a:buClr>
                <a:srgbClr val="000000"/>
              </a:buClr>
              <a:buSzPts val="1500"/>
              <a:buFont typeface="Arial"/>
              <a:buChar char="•"/>
            </a:pPr>
            <a:r>
              <a:rPr b="0" i="0" lang="it" sz="1500" u="none" cap="none" strike="noStrike">
                <a:solidFill>
                  <a:schemeClr val="dk1"/>
                </a:solidFill>
                <a:latin typeface="Arial"/>
                <a:ea typeface="Arial"/>
                <a:cs typeface="Arial"/>
                <a:sym typeface="Arial"/>
              </a:rPr>
              <a:t>First solution: Ewald method (scales as N</a:t>
            </a:r>
            <a:r>
              <a:rPr b="0" baseline="30000" i="0" lang="it" sz="1500" u="none" cap="none" strike="noStrike">
                <a:solidFill>
                  <a:schemeClr val="dk1"/>
                </a:solidFill>
                <a:latin typeface="Arial"/>
                <a:ea typeface="Arial"/>
                <a:cs typeface="Arial"/>
                <a:sym typeface="Arial"/>
              </a:rPr>
              <a:t>2</a:t>
            </a:r>
            <a:r>
              <a:rPr b="0" i="0" lang="it" sz="1500" u="none" cap="none" strike="noStrike">
                <a:solidFill>
                  <a:schemeClr val="dk1"/>
                </a:solidFill>
                <a:latin typeface="Arial"/>
                <a:ea typeface="Arial"/>
                <a:cs typeface="Arial"/>
                <a:sym typeface="Arial"/>
              </a:rPr>
              <a:t>); current solution: </a:t>
            </a:r>
            <a:r>
              <a:rPr b="1" i="0" lang="it" sz="1500" u="none" cap="none" strike="noStrike">
                <a:solidFill>
                  <a:schemeClr val="dk1"/>
                </a:solidFill>
                <a:latin typeface="Arial"/>
                <a:ea typeface="Arial"/>
                <a:cs typeface="Arial"/>
                <a:sym typeface="Arial"/>
              </a:rPr>
              <a:t>Particle-mesh Ewald</a:t>
            </a:r>
            <a:r>
              <a:rPr b="0" i="0" lang="it" sz="1500" u="none" cap="none" strike="noStrike">
                <a:solidFill>
                  <a:schemeClr val="dk1"/>
                </a:solidFill>
                <a:latin typeface="Arial"/>
                <a:ea typeface="Arial"/>
                <a:cs typeface="Arial"/>
                <a:sym typeface="Arial"/>
              </a:rPr>
              <a:t> (PME) method (scales as </a:t>
            </a:r>
            <a:r>
              <a:rPr b="0" i="1" lang="it" sz="1500" u="none" cap="none" strike="noStrike">
                <a:solidFill>
                  <a:schemeClr val="dk1"/>
                </a:solidFill>
                <a:latin typeface="Arial"/>
                <a:ea typeface="Arial"/>
                <a:cs typeface="Arial"/>
                <a:sym typeface="Arial"/>
              </a:rPr>
              <a:t>N</a:t>
            </a:r>
            <a:r>
              <a:rPr b="0" i="0" lang="it" sz="1500" u="none" cap="none" strike="noStrike">
                <a:solidFill>
                  <a:schemeClr val="dk1"/>
                </a:solidFill>
                <a:latin typeface="Arial"/>
                <a:ea typeface="Arial"/>
                <a:cs typeface="Arial"/>
                <a:sym typeface="Arial"/>
              </a:rPr>
              <a:t>log(</a:t>
            </a:r>
            <a:r>
              <a:rPr b="0" i="1" lang="it" sz="1500" u="none" cap="none" strike="noStrike">
                <a:solidFill>
                  <a:schemeClr val="dk1"/>
                </a:solidFill>
                <a:latin typeface="Arial"/>
                <a:ea typeface="Arial"/>
                <a:cs typeface="Arial"/>
                <a:sym typeface="Arial"/>
              </a:rPr>
              <a:t>N</a:t>
            </a:r>
            <a:r>
              <a:rPr b="0" i="0" lang="it" sz="1500" u="none" cap="none" strike="noStrike">
                <a:solidFill>
                  <a:schemeClr val="dk1"/>
                </a:solidFill>
                <a:latin typeface="Arial"/>
                <a:ea typeface="Arial"/>
                <a:cs typeface="Arial"/>
                <a:sym typeface="Arial"/>
              </a:rPr>
              <a:t>))</a:t>
            </a:r>
            <a:endParaRPr b="0" i="0" sz="1500" u="none" cap="none" strike="noStrike">
              <a:solidFill>
                <a:schemeClr val="dk1"/>
              </a:solidFill>
              <a:latin typeface="Arial"/>
              <a:ea typeface="Arial"/>
              <a:cs typeface="Arial"/>
              <a:sym typeface="Arial"/>
            </a:endParaRPr>
          </a:p>
        </p:txBody>
      </p:sp>
      <p:pic>
        <p:nvPicPr>
          <p:cNvPr id="328" name="Google Shape;328;p18"/>
          <p:cNvPicPr preferRelativeResize="0"/>
          <p:nvPr/>
        </p:nvPicPr>
        <p:blipFill rotWithShape="1">
          <a:blip r:embed="rId3">
            <a:alphaModFix/>
          </a:blip>
          <a:srcRect b="43129" l="17547" r="17312" t="32032"/>
          <a:stretch/>
        </p:blipFill>
        <p:spPr>
          <a:xfrm>
            <a:off x="2648464" y="1604613"/>
            <a:ext cx="3847071" cy="107694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p19"/>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Hydrogen bonds</a:t>
            </a:r>
            <a:endParaRPr sz="2500">
              <a:latin typeface="Montserrat SemiBold"/>
              <a:ea typeface="Montserrat SemiBold"/>
              <a:cs typeface="Montserrat SemiBold"/>
              <a:sym typeface="Montserrat SemiBold"/>
            </a:endParaRPr>
          </a:p>
        </p:txBody>
      </p:sp>
      <p:sp>
        <p:nvSpPr>
          <p:cNvPr id="334" name="Google Shape;334;p19"/>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35" name="Google Shape;335;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36" name="Google Shape;336;p19"/>
          <p:cNvSpPr txBox="1"/>
          <p:nvPr/>
        </p:nvSpPr>
        <p:spPr>
          <a:xfrm>
            <a:off x="290400" y="868208"/>
            <a:ext cx="8563200" cy="1235230"/>
          </a:xfrm>
          <a:prstGeom prst="rect">
            <a:avLst/>
          </a:prstGeom>
          <a:noFill/>
          <a:ln>
            <a:noFill/>
          </a:ln>
        </p:spPr>
        <p:txBody>
          <a:bodyPr anchorCtr="0" anchor="t" bIns="91425" lIns="91425" spcFirstLastPara="1" rIns="91425" wrap="square" tIns="91425">
            <a:noAutofit/>
          </a:bodyPr>
          <a:lstStyle/>
          <a:p>
            <a:pPr indent="-285750" lvl="0" marL="285750" marR="0" rtl="0" algn="just">
              <a:lnSpc>
                <a:spcPct val="115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Molecular interaction where an H atom bonded to a highly electronegative atom (= </a:t>
            </a:r>
            <a:r>
              <a:rPr b="1" i="0" lang="it" sz="1600" u="none" cap="none" strike="noStrike">
                <a:solidFill>
                  <a:srgbClr val="FF0000"/>
                </a:solidFill>
                <a:latin typeface="Arial"/>
                <a:ea typeface="Arial"/>
                <a:cs typeface="Arial"/>
                <a:sym typeface="Arial"/>
              </a:rPr>
              <a:t>donor</a:t>
            </a:r>
            <a:r>
              <a:rPr b="0" i="0" lang="it" sz="1600" u="none" cap="none" strike="noStrike">
                <a:solidFill>
                  <a:srgbClr val="000000"/>
                </a:solidFill>
                <a:latin typeface="Arial"/>
                <a:ea typeface="Arial"/>
                <a:cs typeface="Arial"/>
                <a:sym typeface="Arial"/>
              </a:rPr>
              <a:t>) is attracted to another electronegative atom (= </a:t>
            </a:r>
            <a:r>
              <a:rPr b="1" i="0" lang="it" sz="1600" u="none" cap="none" strike="noStrike">
                <a:solidFill>
                  <a:srgbClr val="002060"/>
                </a:solidFill>
                <a:latin typeface="Arial"/>
                <a:ea typeface="Arial"/>
                <a:cs typeface="Arial"/>
                <a:sym typeface="Arial"/>
              </a:rPr>
              <a:t>acceptor</a:t>
            </a:r>
            <a:r>
              <a:rPr b="0" i="0" lang="it" sz="1600" u="none" cap="none" strike="noStrike">
                <a:solidFill>
                  <a:srgbClr val="000000"/>
                </a:solidFill>
                <a:latin typeface="Arial"/>
                <a:ea typeface="Arial"/>
                <a:cs typeface="Arial"/>
                <a:sym typeface="Arial"/>
              </a:rPr>
              <a:t>) bearing a lone pair of electrons</a:t>
            </a:r>
            <a:endParaRPr/>
          </a:p>
          <a:p>
            <a:pPr indent="-285750" lvl="0" marL="285750" marR="0" rtl="0" algn="just">
              <a:lnSpc>
                <a:spcPct val="115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H-bonds play a fundamental role in biology and chemistry: they are responsabile for the anomalously high boiling point of water and the stabilization of proteins</a:t>
            </a:r>
            <a:endParaRPr b="0" i="0" sz="1600" u="none" cap="none" strike="noStrike">
              <a:solidFill>
                <a:srgbClr val="000000"/>
              </a:solidFill>
              <a:latin typeface="Arial"/>
              <a:ea typeface="Arial"/>
              <a:cs typeface="Arial"/>
              <a:sym typeface="Arial"/>
            </a:endParaRPr>
          </a:p>
        </p:txBody>
      </p:sp>
      <p:pic>
        <p:nvPicPr>
          <p:cNvPr id="337" name="Google Shape;337;p19"/>
          <p:cNvPicPr preferRelativeResize="0"/>
          <p:nvPr/>
        </p:nvPicPr>
        <p:blipFill rotWithShape="1">
          <a:blip r:embed="rId3">
            <a:alphaModFix/>
          </a:blip>
          <a:srcRect b="0" l="0" r="0" t="0"/>
          <a:stretch/>
        </p:blipFill>
        <p:spPr>
          <a:xfrm>
            <a:off x="3083990" y="2902897"/>
            <a:ext cx="2768174" cy="1442984"/>
          </a:xfrm>
          <a:prstGeom prst="rect">
            <a:avLst/>
          </a:prstGeom>
          <a:noFill/>
          <a:ln>
            <a:noFill/>
          </a:ln>
        </p:spPr>
      </p:pic>
      <p:pic>
        <p:nvPicPr>
          <p:cNvPr id="338" name="Google Shape;338;p19"/>
          <p:cNvPicPr preferRelativeResize="0"/>
          <p:nvPr/>
        </p:nvPicPr>
        <p:blipFill rotWithShape="1">
          <a:blip r:embed="rId4">
            <a:alphaModFix/>
          </a:blip>
          <a:srcRect b="0" l="0" r="0" t="0"/>
          <a:stretch/>
        </p:blipFill>
        <p:spPr>
          <a:xfrm>
            <a:off x="6237264" y="2993758"/>
            <a:ext cx="2616336" cy="781267"/>
          </a:xfrm>
          <a:prstGeom prst="rect">
            <a:avLst/>
          </a:prstGeom>
          <a:noFill/>
          <a:ln>
            <a:noFill/>
          </a:ln>
        </p:spPr>
      </p:pic>
      <p:sp>
        <p:nvSpPr>
          <p:cNvPr id="339" name="Google Shape;339;p19"/>
          <p:cNvSpPr txBox="1"/>
          <p:nvPr/>
        </p:nvSpPr>
        <p:spPr>
          <a:xfrm>
            <a:off x="6858558" y="3870822"/>
            <a:ext cx="1808077"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d(D- - -A) ≲ 3.0 Å </a:t>
            </a:r>
            <a:endParaRPr/>
          </a:p>
          <a:p>
            <a:pPr indent="0" lvl="0" marL="0" marR="0" rtl="0" algn="just">
              <a:lnSpc>
                <a:spcPct val="100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a(D-H- - -A) ≳ 150°</a:t>
            </a:r>
            <a:endParaRPr b="0" i="0" sz="1400" u="none" cap="none" strike="noStrike">
              <a:solidFill>
                <a:srgbClr val="000000"/>
              </a:solidFill>
              <a:latin typeface="Arial"/>
              <a:ea typeface="Arial"/>
              <a:cs typeface="Arial"/>
              <a:sym typeface="Arial"/>
            </a:endParaRPr>
          </a:p>
        </p:txBody>
      </p:sp>
      <p:pic>
        <p:nvPicPr>
          <p:cNvPr id="340" name="Google Shape;340;p19"/>
          <p:cNvPicPr preferRelativeResize="0"/>
          <p:nvPr/>
        </p:nvPicPr>
        <p:blipFill>
          <a:blip r:embed="rId5">
            <a:alphaModFix/>
          </a:blip>
          <a:stretch>
            <a:fillRect/>
          </a:stretch>
        </p:blipFill>
        <p:spPr>
          <a:xfrm>
            <a:off x="374175" y="2378148"/>
            <a:ext cx="2324725" cy="2285075"/>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4" name="Shape 344"/>
        <p:cNvGrpSpPr/>
        <p:nvPr/>
      </p:nvGrpSpPr>
      <p:grpSpPr>
        <a:xfrm>
          <a:off x="0" y="0"/>
          <a:ext cx="0" cy="0"/>
          <a:chOff x="0" y="0"/>
          <a:chExt cx="0" cy="0"/>
        </a:xfrm>
      </p:grpSpPr>
      <p:sp>
        <p:nvSpPr>
          <p:cNvPr id="345" name="Google Shape;345;p20"/>
          <p:cNvSpPr txBox="1"/>
          <p:nvPr>
            <p:ph type="title"/>
          </p:nvPr>
        </p:nvSpPr>
        <p:spPr>
          <a:xfrm>
            <a:off x="297373" y="135625"/>
            <a:ext cx="8832300" cy="583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Hydrogen bonds</a:t>
            </a:r>
            <a:endParaRPr sz="2500">
              <a:latin typeface="Montserrat SemiBold"/>
              <a:ea typeface="Montserrat SemiBold"/>
              <a:cs typeface="Montserrat SemiBold"/>
              <a:sym typeface="Montserrat SemiBold"/>
            </a:endParaRPr>
          </a:p>
        </p:txBody>
      </p:sp>
      <p:sp>
        <p:nvSpPr>
          <p:cNvPr id="346" name="Google Shape;346;p2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7" name="Google Shape;347;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48" name="Google Shape;348;p20"/>
          <p:cNvSpPr txBox="1"/>
          <p:nvPr/>
        </p:nvSpPr>
        <p:spPr>
          <a:xfrm>
            <a:off x="299353" y="874297"/>
            <a:ext cx="8208730" cy="1366306"/>
          </a:xfrm>
          <a:prstGeom prst="rect">
            <a:avLst/>
          </a:prstGeom>
          <a:noFill/>
          <a:ln>
            <a:noFill/>
          </a:ln>
        </p:spPr>
        <p:txBody>
          <a:bodyPr anchorCtr="0" anchor="t" bIns="91425" lIns="91425" spcFirstLastPara="1" rIns="91425" wrap="square" tIns="91425">
            <a:noAutofit/>
          </a:bodyPr>
          <a:lstStyle/>
          <a:p>
            <a:pPr indent="-285750" lvl="0" marL="285750" marR="0" rtl="0" algn="just">
              <a:lnSpc>
                <a:spcPct val="114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They are not represented by an explicit H-bond potential</a:t>
            </a:r>
            <a:endParaRPr/>
          </a:p>
          <a:p>
            <a:pPr indent="-285750" lvl="6" marL="285750" marR="0" rtl="0" algn="just">
              <a:lnSpc>
                <a:spcPct val="114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H-bonds emerge from the combination of: a) electrostatic interactions between partial charges and b) van der Waals interactions between donor and acceptor atoms</a:t>
            </a:r>
            <a:endParaRPr/>
          </a:p>
          <a:p>
            <a:pPr indent="-285750" lvl="8" marL="285750" marR="0" rtl="0" algn="just">
              <a:lnSpc>
                <a:spcPct val="114000"/>
              </a:lnSpc>
              <a:spcBef>
                <a:spcPts val="0"/>
              </a:spcBef>
              <a:spcAft>
                <a:spcPts val="0"/>
              </a:spcAft>
              <a:buClr>
                <a:srgbClr val="000000"/>
              </a:buClr>
              <a:buSzPts val="1600"/>
              <a:buFont typeface="Arial"/>
              <a:buChar char="•"/>
            </a:pPr>
            <a:r>
              <a:rPr b="0" i="0" lang="it" sz="1600" u="none" cap="none" strike="noStrike">
                <a:solidFill>
                  <a:srgbClr val="000000"/>
                </a:solidFill>
                <a:latin typeface="Arial"/>
                <a:ea typeface="Arial"/>
                <a:cs typeface="Arial"/>
                <a:sym typeface="Arial"/>
              </a:rPr>
              <a:t>Their strength depends on the partial charges and LJ parameters</a:t>
            </a:r>
            <a:endParaRPr/>
          </a:p>
        </p:txBody>
      </p:sp>
      <p:pic>
        <p:nvPicPr>
          <p:cNvPr id="349" name="Google Shape;349;p20"/>
          <p:cNvPicPr preferRelativeResize="0"/>
          <p:nvPr/>
        </p:nvPicPr>
        <p:blipFill rotWithShape="1">
          <a:blip r:embed="rId3">
            <a:alphaModFix/>
          </a:blip>
          <a:srcRect b="0" l="0" r="0" t="0"/>
          <a:stretch/>
        </p:blipFill>
        <p:spPr>
          <a:xfrm>
            <a:off x="3083990" y="2902897"/>
            <a:ext cx="2768174" cy="1442984"/>
          </a:xfrm>
          <a:prstGeom prst="rect">
            <a:avLst/>
          </a:prstGeom>
          <a:noFill/>
          <a:ln>
            <a:noFill/>
          </a:ln>
        </p:spPr>
      </p:pic>
      <p:pic>
        <p:nvPicPr>
          <p:cNvPr id="350" name="Google Shape;350;p20"/>
          <p:cNvPicPr preferRelativeResize="0"/>
          <p:nvPr/>
        </p:nvPicPr>
        <p:blipFill rotWithShape="1">
          <a:blip r:embed="rId4">
            <a:alphaModFix/>
          </a:blip>
          <a:srcRect b="0" l="0" r="0" t="0"/>
          <a:stretch/>
        </p:blipFill>
        <p:spPr>
          <a:xfrm>
            <a:off x="6237264" y="2993758"/>
            <a:ext cx="2616336" cy="781267"/>
          </a:xfrm>
          <a:prstGeom prst="rect">
            <a:avLst/>
          </a:prstGeom>
          <a:noFill/>
          <a:ln>
            <a:noFill/>
          </a:ln>
        </p:spPr>
      </p:pic>
      <p:sp>
        <p:nvSpPr>
          <p:cNvPr id="351" name="Google Shape;351;p20"/>
          <p:cNvSpPr txBox="1"/>
          <p:nvPr/>
        </p:nvSpPr>
        <p:spPr>
          <a:xfrm>
            <a:off x="6858558" y="3870822"/>
            <a:ext cx="1808077" cy="52322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d(D- - -A) ≲ 3.0 Å </a:t>
            </a:r>
            <a:endParaRPr/>
          </a:p>
          <a:p>
            <a:pPr indent="0" lvl="0" marL="0" marR="0" rtl="0" algn="just">
              <a:lnSpc>
                <a:spcPct val="100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a(D-H- - -A) ≳ 150°</a:t>
            </a:r>
            <a:endParaRPr b="0" i="0" sz="1400" u="none" cap="none" strike="noStrike">
              <a:solidFill>
                <a:srgbClr val="000000"/>
              </a:solidFill>
              <a:latin typeface="Arial"/>
              <a:ea typeface="Arial"/>
              <a:cs typeface="Arial"/>
              <a:sym typeface="Arial"/>
            </a:endParaRPr>
          </a:p>
        </p:txBody>
      </p:sp>
      <p:pic>
        <p:nvPicPr>
          <p:cNvPr id="352" name="Google Shape;352;p20"/>
          <p:cNvPicPr preferRelativeResize="0"/>
          <p:nvPr/>
        </p:nvPicPr>
        <p:blipFill>
          <a:blip r:embed="rId5">
            <a:alphaModFix/>
          </a:blip>
          <a:stretch>
            <a:fillRect/>
          </a:stretch>
        </p:blipFill>
        <p:spPr>
          <a:xfrm>
            <a:off x="374175" y="2378148"/>
            <a:ext cx="2324725" cy="22850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sp>
        <p:nvSpPr>
          <p:cNvPr id="357" name="Google Shape;357;p21"/>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Force Field</a:t>
            </a:r>
            <a:endParaRPr sz="2500">
              <a:latin typeface="Montserrat SemiBold"/>
              <a:ea typeface="Montserrat SemiBold"/>
              <a:cs typeface="Montserrat SemiBold"/>
              <a:sym typeface="Montserrat SemiBold"/>
            </a:endParaRPr>
          </a:p>
        </p:txBody>
      </p:sp>
      <p:sp>
        <p:nvSpPr>
          <p:cNvPr id="358" name="Google Shape;358;p21"/>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59" name="Google Shape;359;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60" name="Google Shape;360;p21"/>
          <p:cNvSpPr txBox="1"/>
          <p:nvPr/>
        </p:nvSpPr>
        <p:spPr>
          <a:xfrm>
            <a:off x="311700" y="872650"/>
            <a:ext cx="8520600" cy="7215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600"/>
              <a:buFont typeface="Arial"/>
              <a:buNone/>
            </a:pPr>
            <a:r>
              <a:rPr b="0" i="0" lang="it" sz="1600" u="none" cap="none" strike="noStrike">
                <a:solidFill>
                  <a:srgbClr val="000000"/>
                </a:solidFill>
                <a:latin typeface="Arial"/>
                <a:ea typeface="Arial"/>
                <a:cs typeface="Arial"/>
                <a:sym typeface="Arial"/>
              </a:rPr>
              <a:t>All these potential terms are collected together in the </a:t>
            </a:r>
            <a:r>
              <a:rPr b="1" i="0" lang="it" sz="1600" u="none" cap="none" strike="noStrike">
                <a:solidFill>
                  <a:srgbClr val="000000"/>
                </a:solidFill>
                <a:latin typeface="Arial"/>
                <a:ea typeface="Arial"/>
                <a:cs typeface="Arial"/>
                <a:sym typeface="Arial"/>
              </a:rPr>
              <a:t>force field</a:t>
            </a:r>
            <a:r>
              <a:rPr b="0" i="0" lang="it" sz="1600" u="none" cap="none" strike="noStrike">
                <a:solidFill>
                  <a:srgbClr val="000000"/>
                </a:solidFill>
                <a:latin typeface="Arial"/>
                <a:ea typeface="Arial"/>
                <a:cs typeface="Arial"/>
                <a:sym typeface="Arial"/>
              </a:rPr>
              <a:t> (FF) that we provide in our MD simulation.</a:t>
            </a:r>
            <a:endParaRPr b="0" i="0" sz="1600" u="none" cap="none" strike="noStrike">
              <a:solidFill>
                <a:srgbClr val="000000"/>
              </a:solidFill>
              <a:latin typeface="Arial"/>
              <a:ea typeface="Arial"/>
              <a:cs typeface="Arial"/>
              <a:sym typeface="Arial"/>
            </a:endParaRPr>
          </a:p>
        </p:txBody>
      </p:sp>
      <p:sp>
        <p:nvSpPr>
          <p:cNvPr id="361" name="Google Shape;361;p21"/>
          <p:cNvSpPr txBox="1"/>
          <p:nvPr/>
        </p:nvSpPr>
        <p:spPr>
          <a:xfrm>
            <a:off x="2145814" y="1653595"/>
            <a:ext cx="4852371" cy="413682"/>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0" i="0" lang="it" sz="1500" u="none" cap="none" strike="noStrike">
                <a:solidFill>
                  <a:srgbClr val="000000"/>
                </a:solidFill>
                <a:latin typeface="Arial"/>
                <a:ea typeface="Arial"/>
                <a:cs typeface="Arial"/>
                <a:sym typeface="Arial"/>
              </a:rPr>
              <a:t>Practical example of a</a:t>
            </a:r>
            <a:r>
              <a:rPr lang="it" sz="1500"/>
              <a:t>n</a:t>
            </a:r>
            <a:r>
              <a:rPr b="0" i="0" lang="it" sz="1500" u="none" cap="none" strike="noStrike">
                <a:solidFill>
                  <a:srgbClr val="000000"/>
                </a:solidFill>
                <a:latin typeface="Arial"/>
                <a:ea typeface="Arial"/>
                <a:cs typeface="Arial"/>
                <a:sym typeface="Arial"/>
              </a:rPr>
              <a:t> FF in GROMACS (OPLS-AA):</a:t>
            </a:r>
            <a:endParaRPr/>
          </a:p>
        </p:txBody>
      </p:sp>
      <p:pic>
        <p:nvPicPr>
          <p:cNvPr id="362" name="Google Shape;362;p21"/>
          <p:cNvPicPr preferRelativeResize="0"/>
          <p:nvPr/>
        </p:nvPicPr>
        <p:blipFill rotWithShape="1">
          <a:blip r:embed="rId3">
            <a:alphaModFix/>
          </a:blip>
          <a:srcRect b="49866" l="6109" r="53806" t="28580"/>
          <a:stretch/>
        </p:blipFill>
        <p:spPr>
          <a:xfrm>
            <a:off x="507602" y="2829447"/>
            <a:ext cx="3791984" cy="1324327"/>
          </a:xfrm>
          <a:prstGeom prst="rect">
            <a:avLst/>
          </a:prstGeom>
          <a:noFill/>
          <a:ln>
            <a:noFill/>
          </a:ln>
        </p:spPr>
      </p:pic>
      <p:sp>
        <p:nvSpPr>
          <p:cNvPr id="363" name="Google Shape;363;p21"/>
          <p:cNvSpPr txBox="1"/>
          <p:nvPr/>
        </p:nvSpPr>
        <p:spPr>
          <a:xfrm>
            <a:off x="1701491" y="2133456"/>
            <a:ext cx="1404209" cy="413682"/>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i="0" lang="it" sz="1500" u="none" cap="none" strike="noStrike">
                <a:solidFill>
                  <a:srgbClr val="000000"/>
                </a:solidFill>
                <a:latin typeface="Arial"/>
                <a:ea typeface="Arial"/>
                <a:cs typeface="Arial"/>
                <a:sym typeface="Arial"/>
              </a:rPr>
              <a:t>ffbonded.itp</a:t>
            </a:r>
            <a:endParaRPr/>
          </a:p>
        </p:txBody>
      </p:sp>
      <p:sp>
        <p:nvSpPr>
          <p:cNvPr id="364" name="Google Shape;364;p21"/>
          <p:cNvSpPr txBox="1"/>
          <p:nvPr/>
        </p:nvSpPr>
        <p:spPr>
          <a:xfrm>
            <a:off x="5751429" y="2133456"/>
            <a:ext cx="1691080" cy="413682"/>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b="1" i="0" lang="it" sz="1500" u="none" cap="none" strike="noStrike">
                <a:solidFill>
                  <a:srgbClr val="000000"/>
                </a:solidFill>
                <a:latin typeface="Arial"/>
                <a:ea typeface="Arial"/>
                <a:cs typeface="Arial"/>
                <a:sym typeface="Arial"/>
              </a:rPr>
              <a:t>ffnonbonded.itp</a:t>
            </a:r>
            <a:endParaRPr/>
          </a:p>
        </p:txBody>
      </p:sp>
      <p:pic>
        <p:nvPicPr>
          <p:cNvPr id="365" name="Google Shape;365;p21"/>
          <p:cNvPicPr preferRelativeResize="0"/>
          <p:nvPr/>
        </p:nvPicPr>
        <p:blipFill rotWithShape="1">
          <a:blip r:embed="rId4">
            <a:alphaModFix/>
          </a:blip>
          <a:srcRect b="53135" l="5848" r="48518" t="23427"/>
          <a:stretch/>
        </p:blipFill>
        <p:spPr>
          <a:xfrm>
            <a:off x="4844270" y="2830206"/>
            <a:ext cx="3792128" cy="1323568"/>
          </a:xfrm>
          <a:prstGeom prst="rect">
            <a:avLst/>
          </a:prstGeom>
          <a:noFill/>
          <a:ln>
            <a:noFill/>
          </a:ln>
        </p:spPr>
      </p:pic>
      <p:sp>
        <p:nvSpPr>
          <p:cNvPr id="366" name="Google Shape;366;p21"/>
          <p:cNvSpPr txBox="1"/>
          <p:nvPr/>
        </p:nvSpPr>
        <p:spPr>
          <a:xfrm>
            <a:off x="576695" y="4270850"/>
            <a:ext cx="3653799" cy="572697"/>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b0 = equilibrium bond distance</a:t>
            </a:r>
            <a:endParaRPr/>
          </a:p>
          <a:p>
            <a:pPr indent="0" lvl="0" marL="0" marR="0" rtl="0" algn="ctr">
              <a:lnSpc>
                <a:spcPct val="115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kb = spring constant → stiffness of the bond</a:t>
            </a:r>
            <a:endParaRPr/>
          </a:p>
        </p:txBody>
      </p:sp>
      <p:sp>
        <p:nvSpPr>
          <p:cNvPr id="367" name="Google Shape;367;p21"/>
          <p:cNvSpPr txBox="1"/>
          <p:nvPr/>
        </p:nvSpPr>
        <p:spPr>
          <a:xfrm>
            <a:off x="1111339" y="2416524"/>
            <a:ext cx="2584515" cy="362967"/>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(bonds, angles, and dihedrals)</a:t>
            </a:r>
            <a:endParaRPr/>
          </a:p>
        </p:txBody>
      </p:sp>
      <p:sp>
        <p:nvSpPr>
          <p:cNvPr id="368" name="Google Shape;368;p21"/>
          <p:cNvSpPr txBox="1"/>
          <p:nvPr/>
        </p:nvSpPr>
        <p:spPr>
          <a:xfrm>
            <a:off x="5070955" y="2416524"/>
            <a:ext cx="3052027" cy="362967"/>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400"/>
              <a:buFont typeface="Arial"/>
              <a:buNone/>
            </a:pPr>
            <a:r>
              <a:rPr b="0" i="0" lang="it" sz="1400" u="none" cap="none" strike="noStrike">
                <a:solidFill>
                  <a:srgbClr val="000000"/>
                </a:solidFill>
                <a:latin typeface="Arial"/>
                <a:ea typeface="Arial"/>
                <a:cs typeface="Arial"/>
                <a:sym typeface="Arial"/>
              </a:rPr>
              <a:t>(partial charges, LJ parameters)</a:t>
            </a:r>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2" name="Shape 372"/>
        <p:cNvGrpSpPr/>
        <p:nvPr/>
      </p:nvGrpSpPr>
      <p:grpSpPr>
        <a:xfrm>
          <a:off x="0" y="0"/>
          <a:ext cx="0" cy="0"/>
          <a:chOff x="0" y="0"/>
          <a:chExt cx="0" cy="0"/>
        </a:xfrm>
      </p:grpSpPr>
      <p:sp>
        <p:nvSpPr>
          <p:cNvPr id="373" name="Google Shape;373;p22"/>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Force Field</a:t>
            </a:r>
            <a:endParaRPr sz="2500">
              <a:latin typeface="Montserrat SemiBold"/>
              <a:ea typeface="Montserrat SemiBold"/>
              <a:cs typeface="Montserrat SemiBold"/>
              <a:sym typeface="Montserrat SemiBold"/>
            </a:endParaRPr>
          </a:p>
        </p:txBody>
      </p:sp>
      <p:sp>
        <p:nvSpPr>
          <p:cNvPr id="374" name="Google Shape;374;p22"/>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75" name="Google Shape;375;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76" name="Google Shape;376;p22"/>
          <p:cNvSpPr txBox="1"/>
          <p:nvPr/>
        </p:nvSpPr>
        <p:spPr>
          <a:xfrm>
            <a:off x="311700" y="872650"/>
            <a:ext cx="8520600" cy="1703700"/>
          </a:xfrm>
          <a:prstGeom prst="rect">
            <a:avLst/>
          </a:prstGeom>
          <a:noFill/>
          <a:ln>
            <a:noFill/>
          </a:ln>
        </p:spPr>
        <p:txBody>
          <a:bodyPr anchorCtr="0" anchor="t" bIns="91425" lIns="91425" spcFirstLastPara="1" rIns="91425" wrap="square" tIns="91425">
            <a:noAutofit/>
          </a:bodyPr>
          <a:lstStyle/>
          <a:p>
            <a:pPr indent="-330200" lvl="0" marL="457200" marR="0" rtl="0" algn="just">
              <a:lnSpc>
                <a:spcPct val="115000"/>
              </a:lnSpc>
              <a:spcBef>
                <a:spcPts val="0"/>
              </a:spcBef>
              <a:spcAft>
                <a:spcPts val="0"/>
              </a:spcAft>
              <a:buClr>
                <a:srgbClr val="000000"/>
              </a:buClr>
              <a:buSzPts val="1600"/>
              <a:buFont typeface="Arial"/>
              <a:buChar char="●"/>
            </a:pPr>
            <a:r>
              <a:rPr lang="it" sz="1600"/>
              <a:t>Parameters of the FFs are usually obtained by combining quantum mechanical calculations, experimental data, and fitting procedures.</a:t>
            </a:r>
            <a:endParaRPr sz="1600"/>
          </a:p>
          <a:p>
            <a:pPr indent="-330200" lvl="0" marL="457200" marR="0" rtl="0" algn="just">
              <a:lnSpc>
                <a:spcPct val="115000"/>
              </a:lnSpc>
              <a:spcBef>
                <a:spcPts val="0"/>
              </a:spcBef>
              <a:spcAft>
                <a:spcPts val="0"/>
              </a:spcAft>
              <a:buSzPts val="1600"/>
              <a:buChar char="●"/>
            </a:pPr>
            <a:r>
              <a:rPr lang="it" sz="1600"/>
              <a:t>The quality of an FF is usually assessed by its ability to reproduce thermodynamic properties of bulk solutions</a:t>
            </a:r>
            <a:endParaRPr sz="1600"/>
          </a:p>
          <a:p>
            <a:pPr indent="-330200" lvl="0" marL="457200" marR="0" rtl="0" algn="just">
              <a:lnSpc>
                <a:spcPct val="115000"/>
              </a:lnSpc>
              <a:spcBef>
                <a:spcPts val="0"/>
              </a:spcBef>
              <a:spcAft>
                <a:spcPts val="0"/>
              </a:spcAft>
              <a:buSzPts val="1600"/>
              <a:buChar char="●"/>
            </a:pPr>
            <a:r>
              <a:rPr lang="it" sz="1600"/>
              <a:t>Typical FFs for biomolecules are: AMBER, CHARMM, and OPLS-AA</a:t>
            </a:r>
            <a:endParaRPr sz="1600"/>
          </a:p>
        </p:txBody>
      </p:sp>
      <p:sp>
        <p:nvSpPr>
          <p:cNvPr id="377" name="Google Shape;377;p22"/>
          <p:cNvSpPr txBox="1"/>
          <p:nvPr/>
        </p:nvSpPr>
        <p:spPr>
          <a:xfrm>
            <a:off x="1287813" y="2671950"/>
            <a:ext cx="5336100" cy="572700"/>
          </a:xfrm>
          <a:prstGeom prst="rect">
            <a:avLst/>
          </a:prstGeom>
          <a:noFill/>
          <a:ln>
            <a:noFill/>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lang="it" sz="1600"/>
              <a:t>We can distinguish all-atom and united-atom FFs</a:t>
            </a:r>
            <a:endParaRPr sz="1600"/>
          </a:p>
        </p:txBody>
      </p:sp>
      <p:cxnSp>
        <p:nvCxnSpPr>
          <p:cNvPr id="378" name="Google Shape;378;p22"/>
          <p:cNvCxnSpPr/>
          <p:nvPr/>
        </p:nvCxnSpPr>
        <p:spPr>
          <a:xfrm>
            <a:off x="3482038" y="3014450"/>
            <a:ext cx="767700" cy="0"/>
          </a:xfrm>
          <a:prstGeom prst="straightConnector1">
            <a:avLst/>
          </a:prstGeom>
          <a:noFill/>
          <a:ln cap="flat" cmpd="sng" w="19050">
            <a:solidFill>
              <a:srgbClr val="0000FF"/>
            </a:solidFill>
            <a:prstDash val="solid"/>
            <a:round/>
            <a:headEnd len="med" w="med" type="none"/>
            <a:tailEnd len="med" w="med" type="none"/>
          </a:ln>
        </p:spPr>
      </p:cxnSp>
      <p:cxnSp>
        <p:nvCxnSpPr>
          <p:cNvPr id="379" name="Google Shape;379;p22"/>
          <p:cNvCxnSpPr/>
          <p:nvPr/>
        </p:nvCxnSpPr>
        <p:spPr>
          <a:xfrm flipH="1" rot="10800000">
            <a:off x="4701688" y="3011150"/>
            <a:ext cx="1036800" cy="6600"/>
          </a:xfrm>
          <a:prstGeom prst="straightConnector1">
            <a:avLst/>
          </a:prstGeom>
          <a:noFill/>
          <a:ln cap="flat" cmpd="sng" w="19050">
            <a:solidFill>
              <a:srgbClr val="188038"/>
            </a:solidFill>
            <a:prstDash val="solid"/>
            <a:round/>
            <a:headEnd len="med" w="med" type="none"/>
            <a:tailEnd len="med" w="med" type="none"/>
          </a:ln>
        </p:spPr>
      </p:cxnSp>
      <p:cxnSp>
        <p:nvCxnSpPr>
          <p:cNvPr id="380" name="Google Shape;380;p22"/>
          <p:cNvCxnSpPr/>
          <p:nvPr/>
        </p:nvCxnSpPr>
        <p:spPr>
          <a:xfrm flipH="1">
            <a:off x="3482045" y="3147613"/>
            <a:ext cx="330600" cy="578400"/>
          </a:xfrm>
          <a:prstGeom prst="straightConnector1">
            <a:avLst/>
          </a:prstGeom>
          <a:noFill/>
          <a:ln cap="flat" cmpd="sng" w="20325">
            <a:solidFill>
              <a:schemeClr val="dk1"/>
            </a:solidFill>
            <a:prstDash val="solid"/>
            <a:round/>
            <a:headEnd len="sm" w="sm" type="none"/>
            <a:tailEnd len="med" w="med" type="triangle"/>
          </a:ln>
        </p:spPr>
      </p:cxnSp>
      <p:sp>
        <p:nvSpPr>
          <p:cNvPr id="381" name="Google Shape;381;p22"/>
          <p:cNvSpPr txBox="1"/>
          <p:nvPr/>
        </p:nvSpPr>
        <p:spPr>
          <a:xfrm>
            <a:off x="1287813" y="3859200"/>
            <a:ext cx="2961900" cy="6381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500"/>
              <a:buFont typeface="Arial"/>
              <a:buNone/>
            </a:pPr>
            <a:r>
              <a:rPr lang="it" sz="1500"/>
              <a:t>Interatomic potential parameters are defined for each atom type</a:t>
            </a:r>
            <a:endParaRPr sz="1500"/>
          </a:p>
        </p:txBody>
      </p:sp>
      <p:cxnSp>
        <p:nvCxnSpPr>
          <p:cNvPr id="382" name="Google Shape;382;p22"/>
          <p:cNvCxnSpPr/>
          <p:nvPr/>
        </p:nvCxnSpPr>
        <p:spPr>
          <a:xfrm>
            <a:off x="5182245" y="3147613"/>
            <a:ext cx="330600" cy="578400"/>
          </a:xfrm>
          <a:prstGeom prst="straightConnector1">
            <a:avLst/>
          </a:prstGeom>
          <a:noFill/>
          <a:ln cap="flat" cmpd="sng" w="20325">
            <a:solidFill>
              <a:schemeClr val="dk1"/>
            </a:solidFill>
            <a:prstDash val="solid"/>
            <a:round/>
            <a:headEnd len="sm" w="sm" type="none"/>
            <a:tailEnd len="med" w="med" type="triangle"/>
          </a:ln>
        </p:spPr>
      </p:cxnSp>
      <p:sp>
        <p:nvSpPr>
          <p:cNvPr id="383" name="Google Shape;383;p22"/>
          <p:cNvSpPr txBox="1"/>
          <p:nvPr/>
        </p:nvSpPr>
        <p:spPr>
          <a:xfrm>
            <a:off x="4701688" y="3855900"/>
            <a:ext cx="3154500" cy="916800"/>
          </a:xfrm>
          <a:prstGeom prst="rect">
            <a:avLst/>
          </a:prstGeom>
          <a:noFill/>
          <a:ln>
            <a:noFill/>
          </a:ln>
        </p:spPr>
        <p:txBody>
          <a:bodyPr anchorCtr="0" anchor="t" bIns="91425" lIns="91425" spcFirstLastPara="1" rIns="91425" wrap="square" tIns="91425">
            <a:noAutofit/>
          </a:bodyPr>
          <a:lstStyle/>
          <a:p>
            <a:pPr indent="0" lvl="0" marL="0" marR="0" rtl="0" algn="just">
              <a:lnSpc>
                <a:spcPct val="115000"/>
              </a:lnSpc>
              <a:spcBef>
                <a:spcPts val="0"/>
              </a:spcBef>
              <a:spcAft>
                <a:spcPts val="0"/>
              </a:spcAft>
              <a:buClr>
                <a:srgbClr val="000000"/>
              </a:buClr>
              <a:buSzPts val="1500"/>
              <a:buFont typeface="Arial"/>
              <a:buNone/>
            </a:pPr>
            <a:r>
              <a:rPr lang="it" sz="1500"/>
              <a:t>Atoms of the same chemical group (e.g. H and C atoms of CH</a:t>
            </a:r>
            <a:r>
              <a:rPr baseline="-25000" lang="it" sz="1500"/>
              <a:t>3</a:t>
            </a:r>
            <a:r>
              <a:rPr lang="it" sz="1500"/>
              <a:t>) are treated as one interaction center.</a:t>
            </a:r>
            <a:endParaRPr sz="1500"/>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7" name="Shape 387"/>
        <p:cNvGrpSpPr/>
        <p:nvPr/>
      </p:nvGrpSpPr>
      <p:grpSpPr>
        <a:xfrm>
          <a:off x="0" y="0"/>
          <a:ext cx="0" cy="0"/>
          <a:chOff x="0" y="0"/>
          <a:chExt cx="0" cy="0"/>
        </a:xfrm>
      </p:grpSpPr>
      <p:sp>
        <p:nvSpPr>
          <p:cNvPr id="388" name="Google Shape;388;g3fa490b3df7_0_10"/>
          <p:cNvSpPr txBox="1"/>
          <p:nvPr>
            <p:ph type="title"/>
          </p:nvPr>
        </p:nvSpPr>
        <p:spPr>
          <a:xfrm>
            <a:off x="311700" y="146450"/>
            <a:ext cx="8520600" cy="572700"/>
          </a:xfrm>
          <a:prstGeom prst="rect">
            <a:avLst/>
          </a:prstGeom>
          <a:noFill/>
          <a:ln>
            <a:noFill/>
          </a:ln>
        </p:spPr>
        <p:txBody>
          <a:bodyPr anchorCtr="0" anchor="t" bIns="91425" lIns="91425" spcFirstLastPara="1" rIns="91425" wrap="square" tIns="91425">
            <a:normAutofit/>
          </a:bodyPr>
          <a:lstStyle/>
          <a:p>
            <a:pPr indent="0" lvl="0" marL="0" rtl="0" algn="l">
              <a:lnSpc>
                <a:spcPct val="100000"/>
              </a:lnSpc>
              <a:spcBef>
                <a:spcPts val="0"/>
              </a:spcBef>
              <a:spcAft>
                <a:spcPts val="0"/>
              </a:spcAft>
              <a:buSzPts val="2800"/>
              <a:buNone/>
            </a:pPr>
            <a:r>
              <a:rPr lang="it" sz="2500">
                <a:latin typeface="Montserrat SemiBold"/>
                <a:ea typeface="Montserrat SemiBold"/>
                <a:cs typeface="Montserrat SemiBold"/>
                <a:sym typeface="Montserrat SemiBold"/>
              </a:rPr>
              <a:t>Force Field</a:t>
            </a:r>
            <a:endParaRPr sz="2500">
              <a:latin typeface="Montserrat SemiBold"/>
              <a:ea typeface="Montserrat SemiBold"/>
              <a:cs typeface="Montserrat SemiBold"/>
              <a:sym typeface="Montserrat SemiBold"/>
            </a:endParaRPr>
          </a:p>
        </p:txBody>
      </p:sp>
      <p:sp>
        <p:nvSpPr>
          <p:cNvPr id="389" name="Google Shape;389;g3fa490b3df7_0_10"/>
          <p:cNvSpPr/>
          <p:nvPr/>
        </p:nvSpPr>
        <p:spPr>
          <a:xfrm>
            <a:off x="311700" y="719147"/>
            <a:ext cx="8563200" cy="57900"/>
          </a:xfrm>
          <a:prstGeom prst="rect">
            <a:avLst/>
          </a:prstGeom>
          <a:gradFill>
            <a:gsLst>
              <a:gs pos="0">
                <a:schemeClr val="lt1"/>
              </a:gs>
              <a:gs pos="100000">
                <a:srgbClr val="92BC81"/>
              </a:gs>
            </a:gsLst>
            <a:lin ang="10800025" scaled="0"/>
          </a:gradFill>
          <a:ln cap="flat" cmpd="sng" w="9525">
            <a:solidFill>
              <a:schemeClr val="lt1"/>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90" name="Google Shape;390;g3fa490b3df7_0_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p>
            <a:pPr indent="0" lvl="0" marL="0" rtl="0" algn="r">
              <a:lnSpc>
                <a:spcPct val="100000"/>
              </a:lnSpc>
              <a:spcBef>
                <a:spcPts val="0"/>
              </a:spcBef>
              <a:spcAft>
                <a:spcPts val="0"/>
              </a:spcAft>
              <a:buSzPts val="1000"/>
              <a:buNone/>
            </a:pPr>
            <a:fld id="{00000000-1234-1234-1234-123412341234}" type="slidenum">
              <a:rPr lang="it"/>
              <a:t>‹#›</a:t>
            </a:fld>
            <a:endParaRPr/>
          </a:p>
        </p:txBody>
      </p:sp>
      <p:sp>
        <p:nvSpPr>
          <p:cNvPr id="391" name="Google Shape;391;g3fa490b3df7_0_10"/>
          <p:cNvSpPr txBox="1"/>
          <p:nvPr/>
        </p:nvSpPr>
        <p:spPr>
          <a:xfrm>
            <a:off x="2819700" y="990000"/>
            <a:ext cx="3504600" cy="493200"/>
          </a:xfrm>
          <a:prstGeom prst="rect">
            <a:avLst/>
          </a:prstGeom>
          <a:noFill/>
          <a:ln cap="flat" cmpd="sng" w="19050">
            <a:solidFill>
              <a:srgbClr val="FF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500"/>
              <a:buFont typeface="Arial"/>
              <a:buNone/>
            </a:pPr>
            <a:r>
              <a:rPr lang="it" sz="1600"/>
              <a:t>What about the parameters for H</a:t>
            </a:r>
            <a:r>
              <a:rPr baseline="-25000" lang="it" sz="1600"/>
              <a:t>2</a:t>
            </a:r>
            <a:r>
              <a:rPr lang="it" sz="1600"/>
              <a:t>O?</a:t>
            </a:r>
            <a:endParaRPr sz="1600"/>
          </a:p>
        </p:txBody>
      </p:sp>
      <p:pic>
        <p:nvPicPr>
          <p:cNvPr id="392" name="Google Shape;392;g3fa490b3df7_0_10"/>
          <p:cNvPicPr preferRelativeResize="0"/>
          <p:nvPr/>
        </p:nvPicPr>
        <p:blipFill>
          <a:blip r:embed="rId3">
            <a:alphaModFix/>
          </a:blip>
          <a:stretch>
            <a:fillRect/>
          </a:stretch>
        </p:blipFill>
        <p:spPr>
          <a:xfrm>
            <a:off x="2340975" y="1754050"/>
            <a:ext cx="4462047" cy="29065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file>