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F72599-A5D7-49C7-B81D-E4B38032796D}">
  <a:tblStyle styleId="{49F72599-A5D7-49C7-B81D-E4B3803279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404838b0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404838b0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8b851d2a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8b851d2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86edadab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86edadab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86edadab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86edadab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86edadab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86edadab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6edadab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86edadab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6edadab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86edadab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6edadab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6edadab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86edadabc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86edadabc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6edadab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86edadab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500">
                <a:latin typeface="Montserrat SemiBold"/>
                <a:ea typeface="Montserrat SemiBold"/>
                <a:cs typeface="Montserrat SemiBold"/>
                <a:sym typeface="Montserrat SemiBold"/>
              </a:rPr>
              <a:t>Introduction </a:t>
            </a:r>
            <a:endParaRPr sz="3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931300"/>
            <a:ext cx="8520600" cy="708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Montserrat Medium"/>
                <a:ea typeface="Montserrat Medium"/>
                <a:cs typeface="Montserrat Medium"/>
                <a:sym typeface="Montserrat Medium"/>
              </a:rPr>
              <a:t>PWF </a:t>
            </a:r>
            <a:r>
              <a:rPr lang="it" sz="1600">
                <a:latin typeface="Montserrat Medium"/>
                <a:ea typeface="Montserrat Medium"/>
                <a:cs typeface="Montserrat Medium"/>
                <a:sym typeface="Montserrat Medium"/>
              </a:rPr>
              <a:t>Summer school on Theoretical and Computational Biophysics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427500" cy="5143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93C47D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187850" y="43506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Day 1/5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588150" y="3723900"/>
            <a:ext cx="4199400" cy="4311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Montserrat Medium"/>
                <a:ea typeface="Montserrat Medium"/>
                <a:cs typeface="Montserrat Medium"/>
                <a:sym typeface="Montserrat Medium"/>
              </a:rPr>
              <a:t>University of Colombo</a:t>
            </a:r>
            <a:endParaRPr sz="1600"/>
          </a:p>
        </p:txBody>
      </p:sp>
      <p:pic>
        <p:nvPicPr>
          <p:cNvPr descr="ICTP logo"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925" y="217625"/>
            <a:ext cx="2481185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3114925" y="2719325"/>
            <a:ext cx="3403800" cy="777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isual Identity | University of Colombo, Sri Lanka"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850" y="217625"/>
            <a:ext cx="2657909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6565100" y="4350625"/>
            <a:ext cx="233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595959"/>
                </a:solidFill>
              </a:rPr>
              <a:t>Dr. Vittorio Del Tatto</a:t>
            </a:r>
            <a:endParaRPr sz="15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In this summer school: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359400" y="1323075"/>
            <a:ext cx="795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Day 1: introduction to the field (integrating Hamilton equations, sampling statistical ensembles)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359400" y="2017775"/>
            <a:ext cx="770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Day 2: force fields, solvent, running simulations and analyzing trajectories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59400" y="2391875"/>
            <a:ext cx="691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Day 3: free energy methods (how to sample rare events)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59400" y="2807375"/>
            <a:ext cx="766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Day 4: ab-initio molecular dynamics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359400" y="3247025"/>
            <a:ext cx="786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Day 5: machine-learning integration with MD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349825" y="929010"/>
            <a:ext cx="811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Program overview:</a:t>
            </a:r>
            <a:endParaRPr b="1"/>
          </a:p>
        </p:txBody>
      </p:sp>
      <p:sp>
        <p:nvSpPr>
          <p:cNvPr id="75" name="Google Shape;75;p14"/>
          <p:cNvSpPr txBox="1"/>
          <p:nvPr/>
        </p:nvSpPr>
        <p:spPr>
          <a:xfrm>
            <a:off x="359400" y="3957785"/>
            <a:ext cx="811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Structure of the days: </a:t>
            </a:r>
            <a:r>
              <a:rPr lang="it" sz="1500">
                <a:solidFill>
                  <a:schemeClr val="dk1"/>
                </a:solidFill>
              </a:rPr>
              <a:t>theory (morning) + hands-on (afternoon)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359400" y="4422200"/>
            <a:ext cx="190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1500">
                <a:solidFill>
                  <a:schemeClr val="dk1"/>
                </a:solidFill>
              </a:rPr>
              <a:t>…ask questions!!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What do we mean by </a:t>
            </a:r>
            <a:r>
              <a:rPr b="1" lang="it" sz="2500">
                <a:latin typeface="Montserrat"/>
                <a:ea typeface="Montserrat"/>
                <a:cs typeface="Montserrat"/>
                <a:sym typeface="Montserrat"/>
              </a:rPr>
              <a:t>computational</a:t>
            </a: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 science?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930169" y="1665456"/>
            <a:ext cx="14259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Experiments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(</a:t>
            </a:r>
            <a:r>
              <a:rPr b="1" lang="it" sz="1500">
                <a:solidFill>
                  <a:schemeClr val="dk1"/>
                </a:solidFill>
              </a:rPr>
              <a:t>truth</a:t>
            </a:r>
            <a:r>
              <a:rPr lang="it" sz="1500">
                <a:solidFill>
                  <a:schemeClr val="dk1"/>
                </a:solidFill>
              </a:rPr>
              <a:t>)</a:t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6972169" y="1665456"/>
            <a:ext cx="9666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Theory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(</a:t>
            </a:r>
            <a:r>
              <a:rPr b="1" lang="it" sz="1500">
                <a:solidFill>
                  <a:schemeClr val="dk1"/>
                </a:solidFill>
              </a:rPr>
              <a:t>model</a:t>
            </a:r>
            <a:r>
              <a:rPr lang="it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4555844" y="1271856"/>
            <a:ext cx="2994900" cy="393600"/>
          </a:xfrm>
          <a:prstGeom prst="uturnArrow">
            <a:avLst>
              <a:gd fmla="val 25000" name="adj1"/>
              <a:gd fmla="val 25000" name="adj2"/>
              <a:gd fmla="val 29115" name="adj3"/>
              <a:gd fmla="val 43750" name="adj4"/>
              <a:gd fmla="val 9786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 rot="10800000">
            <a:off x="4526444" y="2238156"/>
            <a:ext cx="2994900" cy="463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99941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4779899" y="2631750"/>
            <a:ext cx="267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prediction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(analytical or numerical)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870094" y="856356"/>
            <a:ext cx="230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validation / new theory</a:t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359400" y="927000"/>
            <a:ext cx="372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The scientific method in a nutshell: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359975" y="3415450"/>
            <a:ext cx="8661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Computational science </a:t>
            </a:r>
            <a:r>
              <a:rPr b="1" lang="it" sz="1500">
                <a:solidFill>
                  <a:schemeClr val="dk1"/>
                </a:solidFill>
              </a:rPr>
              <a:t>sits in the middle:</a:t>
            </a:r>
            <a:r>
              <a:rPr lang="it" sz="1500">
                <a:solidFill>
                  <a:schemeClr val="dk1"/>
                </a:solidFill>
              </a:rPr>
              <a:t> when the model is too complex to be solved analytically, numerical predictions (or </a:t>
            </a:r>
            <a:r>
              <a:rPr b="1" lang="it" sz="1500">
                <a:solidFill>
                  <a:schemeClr val="dk1"/>
                </a:solidFill>
              </a:rPr>
              <a:t>computational experiments</a:t>
            </a:r>
            <a:r>
              <a:rPr lang="it" sz="1500">
                <a:solidFill>
                  <a:schemeClr val="dk1"/>
                </a:solidFill>
              </a:rPr>
              <a:t>) are still possible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e.g. a protein in a water environment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359975" y="2416200"/>
            <a:ext cx="44415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Two kinds of predictions:</a:t>
            </a:r>
            <a:endParaRPr sz="1500">
              <a:solidFill>
                <a:schemeClr val="dk1"/>
              </a:solidFill>
            </a:endParaRPr>
          </a:p>
          <a:p>
            <a:pPr indent="-95250" lvl="0" marL="8172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it" sz="1500">
                <a:solidFill>
                  <a:schemeClr val="dk1"/>
                </a:solidFill>
              </a:rPr>
              <a:t> analytical (simple models)</a:t>
            </a:r>
            <a:endParaRPr sz="1500">
              <a:solidFill>
                <a:schemeClr val="dk1"/>
              </a:solidFill>
            </a:endParaRPr>
          </a:p>
          <a:p>
            <a:pPr indent="-95250" lvl="0" marL="8172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it" sz="1500">
                <a:solidFill>
                  <a:schemeClr val="dk1"/>
                </a:solidFill>
              </a:rPr>
              <a:t> numerical (complicated models)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359982" y="4292650"/>
            <a:ext cx="866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Important disclaimer: computational experiments</a:t>
            </a:r>
            <a:r>
              <a:rPr b="1" lang="it" sz="1500">
                <a:solidFill>
                  <a:schemeClr val="dk1"/>
                </a:solidFill>
              </a:rPr>
              <a:t> </a:t>
            </a:r>
            <a:r>
              <a:rPr lang="it" sz="1500">
                <a:solidFill>
                  <a:schemeClr val="dk1"/>
                </a:solidFill>
              </a:rPr>
              <a:t>approximate the model, not the real world!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500">
                <a:latin typeface="Montserrat"/>
                <a:ea typeface="Montserrat"/>
                <a:cs typeface="Montserrat"/>
                <a:sym typeface="Montserrat"/>
              </a:rPr>
              <a:t>Biophysics</a:t>
            </a: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 in a nutshell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673475" y="1475473"/>
            <a:ext cx="3909600" cy="28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Experimental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Structure:</a:t>
            </a:r>
            <a:endParaRPr sz="15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X-ray crystallography </a:t>
            </a:r>
            <a:r>
              <a:rPr lang="it">
                <a:solidFill>
                  <a:schemeClr val="dk1"/>
                </a:solidFill>
              </a:rPr>
              <a:t>(</a:t>
            </a:r>
            <a:r>
              <a:rPr b="1" lang="it">
                <a:solidFill>
                  <a:schemeClr val="dk1"/>
                </a:solidFill>
              </a:rPr>
              <a:t>~ 1–2 Å</a:t>
            </a:r>
            <a:r>
              <a:rPr lang="it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CryoEM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Dynamics:</a:t>
            </a:r>
            <a:endParaRPr sz="15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Ultrafast pump-probe experiments (</a:t>
            </a:r>
            <a:r>
              <a:rPr b="1" lang="it">
                <a:solidFill>
                  <a:schemeClr val="dk1"/>
                </a:solidFill>
              </a:rPr>
              <a:t>~ 5–10 fs</a:t>
            </a:r>
            <a:r>
              <a:rPr lang="it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Fluorescence spectroscopy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Optical tweezers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…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919700" y="1475698"/>
            <a:ext cx="3768600" cy="28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Theoretical and computational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●"/>
            </a:pPr>
            <a:r>
              <a:rPr lang="it">
                <a:solidFill>
                  <a:srgbClr val="CC0000"/>
                </a:solidFill>
              </a:rPr>
              <a:t>Numerical methods for simulations: classical molecular dynamics (</a:t>
            </a:r>
            <a:r>
              <a:rPr b="1" lang="it">
                <a:solidFill>
                  <a:srgbClr val="CC0000"/>
                </a:solidFill>
              </a:rPr>
              <a:t>MD</a:t>
            </a:r>
            <a:r>
              <a:rPr lang="it">
                <a:solidFill>
                  <a:srgbClr val="CC0000"/>
                </a:solidFill>
              </a:rPr>
              <a:t>), quantum (</a:t>
            </a:r>
            <a:r>
              <a:rPr b="1" lang="it">
                <a:solidFill>
                  <a:srgbClr val="CC0000"/>
                </a:solidFill>
              </a:rPr>
              <a:t>ab-initio MD</a:t>
            </a:r>
            <a:r>
              <a:rPr lang="it">
                <a:solidFill>
                  <a:srgbClr val="CC0000"/>
                </a:solidFill>
              </a:rPr>
              <a:t>)</a:t>
            </a:r>
            <a:endParaRPr>
              <a:solidFill>
                <a:srgbClr val="CC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●"/>
            </a:pPr>
            <a:r>
              <a:rPr lang="it">
                <a:solidFill>
                  <a:srgbClr val="CC0000"/>
                </a:solidFill>
              </a:rPr>
              <a:t>Force fields</a:t>
            </a:r>
            <a:endParaRPr>
              <a:solidFill>
                <a:srgbClr val="CC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●"/>
            </a:pPr>
            <a:r>
              <a:rPr lang="it">
                <a:solidFill>
                  <a:srgbClr val="CC0000"/>
                </a:solidFill>
              </a:rPr>
              <a:t>Machine learning (</a:t>
            </a:r>
            <a:r>
              <a:rPr b="1" lang="it">
                <a:solidFill>
                  <a:srgbClr val="CC0000"/>
                </a:solidFill>
              </a:rPr>
              <a:t>ML</a:t>
            </a:r>
            <a:r>
              <a:rPr lang="it">
                <a:solidFill>
                  <a:srgbClr val="CC0000"/>
                </a:solidFill>
              </a:rPr>
              <a:t>) techniques</a:t>
            </a:r>
            <a:endParaRPr>
              <a:solidFill>
                <a:srgbClr val="CC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Coarse-graining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Out-of-equilibrium dynamics (e.g. active matter)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Polymer physics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359250" y="825285"/>
            <a:ext cx="811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Very </a:t>
            </a:r>
            <a:r>
              <a:rPr b="1" lang="it" sz="1500">
                <a:solidFill>
                  <a:schemeClr val="dk1"/>
                </a:solidFill>
              </a:rPr>
              <a:t>interdisciplinary</a:t>
            </a:r>
            <a:r>
              <a:rPr lang="it" sz="1500">
                <a:solidFill>
                  <a:schemeClr val="dk1"/>
                </a:solidFill>
              </a:rPr>
              <a:t> </a:t>
            </a:r>
            <a:r>
              <a:rPr b="1" lang="it" sz="1500">
                <a:solidFill>
                  <a:schemeClr val="dk1"/>
                </a:solidFill>
              </a:rPr>
              <a:t>field</a:t>
            </a:r>
            <a:r>
              <a:rPr lang="it" sz="1500">
                <a:solidFill>
                  <a:schemeClr val="dk1"/>
                </a:solidFill>
              </a:rPr>
              <a:t>; studies the behaviour and features of biological molecules using tools from Physics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359250" y="4396577"/>
            <a:ext cx="8328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u="sng"/>
              <a:t>If the model is a good approximation of reality</a:t>
            </a:r>
            <a:r>
              <a:rPr b="1" lang="it"/>
              <a:t>: </a:t>
            </a:r>
            <a:r>
              <a:rPr lang="it"/>
              <a:t>simulation as </a:t>
            </a:r>
            <a:r>
              <a:rPr i="1" lang="it"/>
              <a:t>computational microscope</a:t>
            </a:r>
            <a:r>
              <a:rPr lang="it"/>
              <a:t>, time and space resolutions of the most advanced experimental techniques at a fraction of the effort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The problem of </a:t>
            </a:r>
            <a:r>
              <a:rPr b="1" lang="it" sz="2500">
                <a:latin typeface="Montserrat"/>
                <a:ea typeface="Montserrat"/>
                <a:cs typeface="Montserrat"/>
                <a:sym typeface="Montserrat"/>
              </a:rPr>
              <a:t>scales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359250" y="830563"/>
            <a:ext cx="866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The “theory” employed depends on the </a:t>
            </a:r>
            <a:r>
              <a:rPr b="1" lang="it" sz="1500">
                <a:solidFill>
                  <a:schemeClr val="dk1"/>
                </a:solidFill>
              </a:rPr>
              <a:t>time scales</a:t>
            </a:r>
            <a:r>
              <a:rPr lang="it" sz="1500">
                <a:solidFill>
                  <a:schemeClr val="dk1"/>
                </a:solidFill>
              </a:rPr>
              <a:t> of interest and the </a:t>
            </a:r>
            <a:r>
              <a:rPr b="1" lang="it" sz="1500">
                <a:solidFill>
                  <a:schemeClr val="dk1"/>
                </a:solidFill>
              </a:rPr>
              <a:t>size </a:t>
            </a:r>
            <a:r>
              <a:rPr lang="it" sz="1500">
                <a:solidFill>
                  <a:schemeClr val="dk1"/>
                </a:solidFill>
              </a:rPr>
              <a:t>of the system</a:t>
            </a:r>
            <a:endParaRPr/>
          </a:p>
        </p:txBody>
      </p:sp>
      <p:graphicFrame>
        <p:nvGraphicFramePr>
          <p:cNvPr id="113" name="Google Shape;113;p17"/>
          <p:cNvGraphicFramePr/>
          <p:nvPr/>
        </p:nvGraphicFramePr>
        <p:xfrm>
          <a:off x="615300" y="13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{49F72599-A5D7-49C7-B81D-E4B38032796D}</a:tableStyleId>
              </a:tblPr>
              <a:tblGrid>
                <a:gridCol w="1978350"/>
                <a:gridCol w="1978350"/>
                <a:gridCol w="1978350"/>
                <a:gridCol w="1978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Theory</a:t>
                      </a:r>
                      <a:endParaRPr i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Quantum mechanics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Classical mechanics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Simulation methods</a:t>
                      </a:r>
                      <a:endParaRPr b="1" i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Ab-initio MD, QM/MM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All-atom MD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Coarse-grained MD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Processes resolved</a:t>
                      </a:r>
                      <a:endParaRPr b="1" i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Covalent b</a:t>
                      </a:r>
                      <a:r>
                        <a:rPr lang="it"/>
                        <a:t>ond breaking, electron transfers, transitions to excited states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A</a:t>
                      </a:r>
                      <a:r>
                        <a:rPr lang="it"/>
                        <a:t>tomic vibrations, H-bonds formation / breaking, side-chain rotations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S</a:t>
                      </a:r>
                      <a:r>
                        <a:rPr lang="it"/>
                        <a:t>oft collective modes (e.g. bending of a membrane)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Time resolution</a:t>
                      </a:r>
                      <a:endParaRPr b="1" i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~ 0.1</a:t>
                      </a:r>
                      <a:r>
                        <a:rPr lang="it">
                          <a:solidFill>
                            <a:schemeClr val="dk1"/>
                          </a:solidFill>
                        </a:rPr>
                        <a:t>–</a:t>
                      </a:r>
                      <a:r>
                        <a:rPr lang="it"/>
                        <a:t>0.5 fs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~ 1-2 fs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~ 20-40 fs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Total time reachable</a:t>
                      </a:r>
                      <a:endParaRPr b="1" i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(routine)</a:t>
                      </a:r>
                      <a:endParaRPr b="1" i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~ 10</a:t>
                      </a:r>
                      <a:r>
                        <a:rPr lang="it">
                          <a:solidFill>
                            <a:schemeClr val="dk1"/>
                          </a:solidFill>
                        </a:rPr>
                        <a:t>–</a:t>
                      </a:r>
                      <a:r>
                        <a:rPr lang="it"/>
                        <a:t>100 ps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~ 1 </a:t>
                      </a:r>
                      <a:r>
                        <a:rPr lang="it"/>
                        <a:t>µs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~ 10 µs –1 ms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Typical system size</a:t>
                      </a:r>
                      <a:endParaRPr b="1" i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10</a:t>
                      </a:r>
                      <a:r>
                        <a:rPr baseline="30000" lang="it"/>
                        <a:t>2</a:t>
                      </a:r>
                      <a:r>
                        <a:rPr lang="it">
                          <a:solidFill>
                            <a:schemeClr val="dk1"/>
                          </a:solidFill>
                        </a:rPr>
                        <a:t>–</a:t>
                      </a:r>
                      <a:r>
                        <a:rPr lang="it"/>
                        <a:t>10</a:t>
                      </a:r>
                      <a:r>
                        <a:rPr baseline="30000" lang="it"/>
                        <a:t>3</a:t>
                      </a:r>
                      <a:r>
                        <a:rPr lang="it"/>
                        <a:t> atoms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10</a:t>
                      </a:r>
                      <a:r>
                        <a:rPr baseline="30000" lang="it"/>
                        <a:t>4</a:t>
                      </a:r>
                      <a:r>
                        <a:rPr lang="it">
                          <a:solidFill>
                            <a:schemeClr val="dk1"/>
                          </a:solidFill>
                        </a:rPr>
                        <a:t>–</a:t>
                      </a:r>
                      <a:r>
                        <a:rPr lang="it"/>
                        <a:t>10</a:t>
                      </a:r>
                      <a:r>
                        <a:rPr baseline="30000" lang="it"/>
                        <a:t>6</a:t>
                      </a:r>
                      <a:r>
                        <a:rPr lang="it"/>
                        <a:t> atoms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10⁵–10⁷ beads (10⁶–10⁸ atoms)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Length scales in biology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 a slide (with the same minimal style of the slides I'm creating) with an horizontal double-arrow going from small sizes (0.1 nm) to large sizes (the width of a human hair, Idk what it is). Place in the middle, in the correct spots, relevant biological systems: water molecule, amino acid, lysozyme, ribosome, virus, bacterium, red blood cell. Put some small images representing these objects close to the names " id="120" name="Google Shape;120;p18"/>
          <p:cNvPicPr preferRelativeResize="0"/>
          <p:nvPr/>
        </p:nvPicPr>
        <p:blipFill rotWithShape="1">
          <a:blip r:embed="rId3">
            <a:alphaModFix/>
          </a:blip>
          <a:srcRect b="26798" l="2295" r="1699" t="23914"/>
          <a:stretch/>
        </p:blipFill>
        <p:spPr>
          <a:xfrm>
            <a:off x="171800" y="2393175"/>
            <a:ext cx="8843000" cy="25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370475" y="1962675"/>
            <a:ext cx="1932600" cy="430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Ab-initio MD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370475" y="1424625"/>
            <a:ext cx="3507900" cy="430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All-atom MD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1686025" y="939175"/>
            <a:ext cx="3443700" cy="430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Coarse-grained MD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Classical vs ab-initio MD – key differences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132" name="Google Shape;132;p19"/>
          <p:cNvGraphicFramePr/>
          <p:nvPr/>
        </p:nvGraphicFramePr>
        <p:xfrm>
          <a:off x="535050" y="171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{49F72599-A5D7-49C7-B81D-E4B38032796D}</a:tableStyleId>
              </a:tblPr>
              <a:tblGrid>
                <a:gridCol w="2079700"/>
                <a:gridCol w="2931925"/>
                <a:gridCol w="3062275"/>
              </a:tblGrid>
              <a:tr h="43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dk1"/>
                          </a:solidFill>
                        </a:rPr>
                        <a:t>Classical MD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dk1"/>
                          </a:solidFill>
                        </a:rPr>
                        <a:t>Ab-initio MD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it">
                          <a:solidFill>
                            <a:schemeClr val="dk1"/>
                          </a:solidFill>
                        </a:rPr>
                        <a:t>State of the system</a:t>
                      </a:r>
                      <a:endParaRPr b="1" i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positions and momenta (6N numbers if N atoms)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positions and momenta of nuclei, wave function of e</a:t>
                      </a:r>
                      <a:r>
                        <a:rPr baseline="30000" lang="it"/>
                        <a:t>–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Law of motion</a:t>
                      </a:r>
                      <a:endParaRPr b="1" i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Newton’s equation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</a:rPr>
                        <a:t>Schrodinger’s equation for e</a:t>
                      </a:r>
                      <a:r>
                        <a:rPr baseline="30000" lang="it">
                          <a:solidFill>
                            <a:schemeClr val="dk1"/>
                          </a:solidFill>
                        </a:rPr>
                        <a:t>–</a:t>
                      </a:r>
                      <a:r>
                        <a:rPr lang="it">
                          <a:solidFill>
                            <a:schemeClr val="dk1"/>
                          </a:solidFill>
                        </a:rPr>
                        <a:t>; Newton’s equation for nuclei</a:t>
                      </a:r>
                      <a:r>
                        <a:rPr lang="it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Interaction (potential)</a:t>
                      </a:r>
                      <a:endParaRPr b="1" i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“force-field”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“electronic Hamiltonian” for e</a:t>
                      </a:r>
                      <a:r>
                        <a:rPr baseline="30000" lang="it"/>
                        <a:t>–</a:t>
                      </a:r>
                      <a:r>
                        <a:rPr lang="it"/>
                        <a:t>, its ground-state energy for nuclei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/>
                        <a:t>Numerical integration</a:t>
                      </a:r>
                      <a:endParaRPr b="1" i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Verlet integrator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Self-consistent energy calculation for electrons, Verlet integrator for nuclei 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19"/>
          <p:cNvSpPr txBox="1"/>
          <p:nvPr/>
        </p:nvSpPr>
        <p:spPr>
          <a:xfrm>
            <a:off x="333000" y="895550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In a nutshell: classical MD treats atoms classically and neglects electrons (</a:t>
            </a:r>
            <a:r>
              <a:rPr lang="it">
                <a:solidFill>
                  <a:schemeClr val="dk1"/>
                </a:solidFill>
              </a:rPr>
              <a:t>e</a:t>
            </a:r>
            <a:r>
              <a:rPr baseline="30000" lang="it">
                <a:solidFill>
                  <a:schemeClr val="dk1"/>
                </a:solidFill>
              </a:rPr>
              <a:t>–</a:t>
            </a:r>
            <a:r>
              <a:rPr lang="it" sz="1500">
                <a:solidFill>
                  <a:schemeClr val="dk1"/>
                </a:solidFill>
              </a:rPr>
              <a:t>); ab-initio MD treats nuclei classically and electrons as quantum objects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Other (common) elements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333000" y="895550"/>
            <a:ext cx="8520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/>
              <a:t>Simulation </a:t>
            </a:r>
            <a:r>
              <a:rPr lang="it" sz="1500"/>
              <a:t>parameters</a:t>
            </a:r>
            <a:r>
              <a:rPr lang="it" sz="1500"/>
              <a:t>: </a:t>
            </a:r>
            <a:r>
              <a:rPr b="1" lang="it" sz="1500"/>
              <a:t>time step</a:t>
            </a:r>
            <a:r>
              <a:rPr lang="it" sz="1500"/>
              <a:t> of integrator, trajectory length (simulated time), …</a:t>
            </a:r>
            <a:endParaRPr sz="1500"/>
          </a:p>
        </p:txBody>
      </p:sp>
      <p:sp>
        <p:nvSpPr>
          <p:cNvPr id="142" name="Google Shape;142;p20"/>
          <p:cNvSpPr txBox="1"/>
          <p:nvPr/>
        </p:nvSpPr>
        <p:spPr>
          <a:xfrm>
            <a:off x="333000" y="3002749"/>
            <a:ext cx="8520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/>
              <a:t>Approximations for </a:t>
            </a:r>
            <a:r>
              <a:rPr b="1" lang="it" sz="1500"/>
              <a:t>long-range interactions</a:t>
            </a:r>
            <a:endParaRPr b="1" sz="1500"/>
          </a:p>
        </p:txBody>
      </p:sp>
      <p:sp>
        <p:nvSpPr>
          <p:cNvPr id="143" name="Google Shape;143;p20"/>
          <p:cNvSpPr txBox="1"/>
          <p:nvPr/>
        </p:nvSpPr>
        <p:spPr>
          <a:xfrm>
            <a:off x="333000" y="1429550"/>
            <a:ext cx="78651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Specification of the </a:t>
            </a:r>
            <a:r>
              <a:rPr b="1" lang="it" sz="1500">
                <a:solidFill>
                  <a:schemeClr val="dk1"/>
                </a:solidFill>
              </a:rPr>
              <a:t>statistical ensemble: </a:t>
            </a:r>
            <a:endParaRPr b="1"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microcanonical (NVE): only Newton’s equations; total energy is conserved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canonical (NVT): Newton + </a:t>
            </a:r>
            <a:r>
              <a:rPr b="1" lang="it" sz="1500">
                <a:solidFill>
                  <a:schemeClr val="dk1"/>
                </a:solidFill>
              </a:rPr>
              <a:t>thermostat</a:t>
            </a:r>
            <a:r>
              <a:rPr lang="it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isobaric (NPT): Newton + thermostat + </a:t>
            </a:r>
            <a:r>
              <a:rPr b="1" lang="it" sz="1500">
                <a:solidFill>
                  <a:schemeClr val="dk1"/>
                </a:solidFill>
              </a:rPr>
              <a:t>barostat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Metastability and rare events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333000" y="895550"/>
            <a:ext cx="8520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/>
              <a:t>Typical trajectory showing metastability and rare transitions:</a:t>
            </a:r>
            <a:endParaRPr sz="1500"/>
          </a:p>
        </p:txBody>
      </p:sp>
      <p:grpSp>
        <p:nvGrpSpPr>
          <p:cNvPr id="152" name="Google Shape;152;p21"/>
          <p:cNvGrpSpPr/>
          <p:nvPr/>
        </p:nvGrpSpPr>
        <p:grpSpPr>
          <a:xfrm>
            <a:off x="1541257" y="1122719"/>
            <a:ext cx="6061503" cy="2144689"/>
            <a:chOff x="759382" y="1211257"/>
            <a:chExt cx="7464905" cy="2641243"/>
          </a:xfrm>
        </p:grpSpPr>
        <p:pic>
          <p:nvPicPr>
            <p:cNvPr id="153" name="Google Shape;153;p21" title="Gemini_Generated_Image_ph7we8ph7we8ph7w.jpeg"/>
            <p:cNvPicPr preferRelativeResize="0"/>
            <p:nvPr/>
          </p:nvPicPr>
          <p:blipFill rotWithShape="1">
            <a:blip r:embed="rId3">
              <a:alphaModFix/>
            </a:blip>
            <a:srcRect b="12048" l="12217" r="8449" t="7039"/>
            <a:stretch/>
          </p:blipFill>
          <p:spPr>
            <a:xfrm>
              <a:off x="1202525" y="1445307"/>
              <a:ext cx="2982301" cy="2073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21"/>
            <p:cNvSpPr txBox="1"/>
            <p:nvPr/>
          </p:nvSpPr>
          <p:spPr>
            <a:xfrm rot="-5400000">
              <a:off x="-153968" y="2124607"/>
              <a:ext cx="22113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225" lIns="74225" spcFirstLastPara="1" rIns="74225" wrap="square" tIns="742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6">
                  <a:solidFill>
                    <a:schemeClr val="dk1"/>
                  </a:solidFill>
                </a:rPr>
                <a:t>reaction coordinate</a:t>
              </a:r>
              <a:endParaRPr sz="1056"/>
            </a:p>
          </p:txBody>
        </p:sp>
        <p:sp>
          <p:nvSpPr>
            <p:cNvPr id="155" name="Google Shape;155;p21"/>
            <p:cNvSpPr txBox="1"/>
            <p:nvPr/>
          </p:nvSpPr>
          <p:spPr>
            <a:xfrm>
              <a:off x="1897162" y="3467900"/>
              <a:ext cx="22113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225" lIns="74225" spcFirstLastPara="1" rIns="74225" wrap="square" tIns="742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6">
                  <a:solidFill>
                    <a:schemeClr val="dk1"/>
                  </a:solidFill>
                </a:rPr>
                <a:t>simulated time</a:t>
              </a:r>
              <a:endParaRPr sz="1056"/>
            </a:p>
          </p:txBody>
        </p:sp>
        <p:pic>
          <p:nvPicPr>
            <p:cNvPr id="156" name="Google Shape;156;p21" title="Gemini_Generated_Image_yoq8i0yoq8i0yoq8.jpeg"/>
            <p:cNvPicPr preferRelativeResize="0"/>
            <p:nvPr/>
          </p:nvPicPr>
          <p:blipFill rotWithShape="1">
            <a:blip r:embed="rId4">
              <a:alphaModFix/>
            </a:blip>
            <a:srcRect b="15037" l="22368" r="19999" t="13391"/>
            <a:stretch/>
          </p:blipFill>
          <p:spPr>
            <a:xfrm>
              <a:off x="5643500" y="1646375"/>
              <a:ext cx="2485574" cy="17928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7" name="Google Shape;157;p21"/>
            <p:cNvCxnSpPr/>
            <p:nvPr/>
          </p:nvCxnSpPr>
          <p:spPr>
            <a:xfrm>
              <a:off x="5548288" y="3439200"/>
              <a:ext cx="2676000" cy="0"/>
            </a:xfrm>
            <a:prstGeom prst="straightConnector1">
              <a:avLst/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" name="Google Shape;158;p21"/>
            <p:cNvCxnSpPr/>
            <p:nvPr/>
          </p:nvCxnSpPr>
          <p:spPr>
            <a:xfrm rot="10800000">
              <a:off x="5723325" y="1505175"/>
              <a:ext cx="0" cy="2113500"/>
            </a:xfrm>
            <a:prstGeom prst="straightConnector1">
              <a:avLst/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" name="Google Shape;159;p21"/>
            <p:cNvSpPr txBox="1"/>
            <p:nvPr/>
          </p:nvSpPr>
          <p:spPr>
            <a:xfrm>
              <a:off x="5935918" y="3421050"/>
              <a:ext cx="22113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225" lIns="74225" spcFirstLastPara="1" rIns="74225" wrap="square" tIns="742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6">
                  <a:solidFill>
                    <a:schemeClr val="dk1"/>
                  </a:solidFill>
                </a:rPr>
                <a:t>reaction coordinate</a:t>
              </a:r>
              <a:endParaRPr sz="1056"/>
            </a:p>
          </p:txBody>
        </p:sp>
        <p:sp>
          <p:nvSpPr>
            <p:cNvPr id="160" name="Google Shape;160;p21"/>
            <p:cNvSpPr txBox="1"/>
            <p:nvPr/>
          </p:nvSpPr>
          <p:spPr>
            <a:xfrm rot="-5400000">
              <a:off x="4823450" y="2317697"/>
              <a:ext cx="11937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225" lIns="74225" spcFirstLastPara="1" rIns="74225" wrap="square" tIns="742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6">
                  <a:solidFill>
                    <a:schemeClr val="dk1"/>
                  </a:solidFill>
                </a:rPr>
                <a:t>free energy</a:t>
              </a:r>
              <a:endParaRPr sz="1056"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4456963" y="2388425"/>
              <a:ext cx="498900" cy="186900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7"/>
            </a:p>
          </p:txBody>
        </p:sp>
      </p:grpSp>
      <p:sp>
        <p:nvSpPr>
          <p:cNvPr id="162" name="Google Shape;162;p21"/>
          <p:cNvSpPr txBox="1"/>
          <p:nvPr/>
        </p:nvSpPr>
        <p:spPr>
          <a:xfrm>
            <a:off x="435050" y="3234182"/>
            <a:ext cx="85206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Three</a:t>
            </a:r>
            <a:r>
              <a:rPr lang="it" sz="1500"/>
              <a:t> relevant time scales:</a:t>
            </a:r>
            <a:endParaRPr sz="1500"/>
          </a:p>
          <a:p>
            <a:pPr indent="-32565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 sz="1500"/>
              <a:t>“relaxation” time within a minimum, 𝝉</a:t>
            </a:r>
            <a:r>
              <a:rPr baseline="-25000" lang="it" sz="1500"/>
              <a:t>relaxation</a:t>
            </a:r>
            <a:endParaRPr baseline="-25000" sz="1500"/>
          </a:p>
          <a:p>
            <a:pPr indent="-32565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 sz="1500"/>
              <a:t>“residence” time between two transitions, </a:t>
            </a:r>
            <a:r>
              <a:rPr lang="it" sz="1500">
                <a:solidFill>
                  <a:schemeClr val="dk1"/>
                </a:solidFill>
              </a:rPr>
              <a:t>𝝉</a:t>
            </a:r>
            <a:r>
              <a:rPr baseline="-25000" lang="it" sz="1500">
                <a:solidFill>
                  <a:schemeClr val="dk1"/>
                </a:solidFill>
              </a:rPr>
              <a:t>residence</a:t>
            </a:r>
            <a:endParaRPr sz="1500"/>
          </a:p>
          <a:p>
            <a:pPr indent="-32565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 sz="1500"/>
              <a:t>“echange” time required to perform the transition, </a:t>
            </a:r>
            <a:r>
              <a:rPr lang="it" sz="1500">
                <a:solidFill>
                  <a:schemeClr val="dk1"/>
                </a:solidFill>
              </a:rPr>
              <a:t>𝝉</a:t>
            </a:r>
            <a:r>
              <a:rPr baseline="-25000" lang="it" sz="1500">
                <a:solidFill>
                  <a:schemeClr val="dk1"/>
                </a:solidFill>
              </a:rPr>
              <a:t>exchange</a:t>
            </a:r>
            <a:endParaRPr sz="1500"/>
          </a:p>
        </p:txBody>
      </p:sp>
      <p:sp>
        <p:nvSpPr>
          <p:cNvPr id="163" name="Google Shape;163;p21"/>
          <p:cNvSpPr txBox="1"/>
          <p:nvPr/>
        </p:nvSpPr>
        <p:spPr>
          <a:xfrm>
            <a:off x="434400" y="4479421"/>
            <a:ext cx="8275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Metastability: </a:t>
            </a:r>
            <a:r>
              <a:rPr lang="it" sz="1500">
                <a:solidFill>
                  <a:schemeClr val="dk1"/>
                </a:solidFill>
              </a:rPr>
              <a:t>𝝉</a:t>
            </a:r>
            <a:r>
              <a:rPr baseline="-25000" lang="it" sz="1500">
                <a:solidFill>
                  <a:schemeClr val="dk1"/>
                </a:solidFill>
              </a:rPr>
              <a:t>relaxation</a:t>
            </a:r>
            <a:r>
              <a:rPr lang="it" sz="1500">
                <a:solidFill>
                  <a:schemeClr val="dk1"/>
                </a:solidFill>
              </a:rPr>
              <a:t> &lt;&lt;  𝝉</a:t>
            </a:r>
            <a:r>
              <a:rPr baseline="-25000" lang="it" sz="1500">
                <a:solidFill>
                  <a:schemeClr val="dk1"/>
                </a:solidFill>
              </a:rPr>
              <a:t>residence</a:t>
            </a:r>
            <a:r>
              <a:rPr lang="it" sz="1500">
                <a:solidFill>
                  <a:schemeClr val="dk1"/>
                </a:solidFill>
              </a:rPr>
              <a:t>;  </a:t>
            </a:r>
            <a:r>
              <a:rPr b="1" lang="it" sz="1500">
                <a:solidFill>
                  <a:schemeClr val="dk1"/>
                </a:solidFill>
              </a:rPr>
              <a:t>rare event: </a:t>
            </a:r>
            <a:r>
              <a:rPr lang="it" sz="1500">
                <a:solidFill>
                  <a:schemeClr val="dk1"/>
                </a:solidFill>
              </a:rPr>
              <a:t>𝝉</a:t>
            </a:r>
            <a:r>
              <a:rPr baseline="-25000" lang="it" sz="1500">
                <a:solidFill>
                  <a:schemeClr val="dk1"/>
                </a:solidFill>
              </a:rPr>
              <a:t>exchange</a:t>
            </a:r>
            <a:r>
              <a:rPr lang="it" sz="1500">
                <a:solidFill>
                  <a:schemeClr val="dk1"/>
                </a:solidFill>
              </a:rPr>
              <a:t> &lt;&lt; </a:t>
            </a:r>
            <a:r>
              <a:rPr baseline="-25000" lang="it" sz="1500">
                <a:solidFill>
                  <a:schemeClr val="dk1"/>
                </a:solidFill>
              </a:rPr>
              <a:t> </a:t>
            </a:r>
            <a:r>
              <a:rPr lang="it" sz="1500">
                <a:solidFill>
                  <a:schemeClr val="dk1"/>
                </a:solidFill>
              </a:rPr>
              <a:t>𝝉</a:t>
            </a:r>
            <a:r>
              <a:rPr baseline="-25000" lang="it" sz="1500">
                <a:solidFill>
                  <a:schemeClr val="dk1"/>
                </a:solidFill>
              </a:rPr>
              <a:t>residence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Enhanced sampling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333000" y="895550"/>
            <a:ext cx="85206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/>
              <a:t>Problem of rare events: require long trajectories to be observed (often too long than what achievable with all-atoms MD)</a:t>
            </a:r>
            <a:endParaRPr sz="1500"/>
          </a:p>
        </p:txBody>
      </p:sp>
      <p:sp>
        <p:nvSpPr>
          <p:cNvPr id="172" name="Google Shape;172;p22"/>
          <p:cNvSpPr txBox="1"/>
          <p:nvPr/>
        </p:nvSpPr>
        <p:spPr>
          <a:xfrm>
            <a:off x="333000" y="1695050"/>
            <a:ext cx="85206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/>
              <a:t>Solution: </a:t>
            </a:r>
            <a:r>
              <a:rPr b="1" lang="it" sz="1500"/>
              <a:t>enhanced sampling</a:t>
            </a:r>
            <a:r>
              <a:rPr lang="it" sz="1500"/>
              <a:t> (or </a:t>
            </a:r>
            <a:r>
              <a:rPr b="1" lang="it" sz="1500">
                <a:solidFill>
                  <a:schemeClr val="dk1"/>
                </a:solidFill>
              </a:rPr>
              <a:t>free energy methods</a:t>
            </a:r>
            <a:r>
              <a:rPr lang="it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make rare events </a:t>
            </a:r>
            <a:r>
              <a:rPr i="1" lang="it" sz="1500">
                <a:solidFill>
                  <a:schemeClr val="dk1"/>
                </a:solidFill>
              </a:rPr>
              <a:t>frequent in the simulation</a:t>
            </a:r>
            <a:r>
              <a:rPr lang="it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32565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e.g. umbrella sampling, metadynamics, replica-exchange, transition path sampling, … 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73" name="Google Shape;173;p22" title="metadynamics.gif"/>
          <p:cNvPicPr preferRelativeResize="0"/>
          <p:nvPr/>
        </p:nvPicPr>
        <p:blipFill rotWithShape="1">
          <a:blip r:embed="rId3">
            <a:alphaModFix/>
          </a:blip>
          <a:srcRect b="0" l="0" r="0" t="9420"/>
          <a:stretch/>
        </p:blipFill>
        <p:spPr>
          <a:xfrm>
            <a:off x="856800" y="2686925"/>
            <a:ext cx="2705376" cy="231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2"/>
          <p:cNvCxnSpPr/>
          <p:nvPr/>
        </p:nvCxnSpPr>
        <p:spPr>
          <a:xfrm flipH="1">
            <a:off x="3360375" y="2539175"/>
            <a:ext cx="553500" cy="7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2"/>
          <p:cNvSpPr txBox="1"/>
          <p:nvPr/>
        </p:nvSpPr>
        <p:spPr>
          <a:xfrm>
            <a:off x="3562175" y="2760050"/>
            <a:ext cx="55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e.g.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3360375" y="4318025"/>
            <a:ext cx="49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/>
              <a:t>Taken from: B. Hishberg, “</a:t>
            </a:r>
            <a:r>
              <a:rPr lang="it" sz="900">
                <a:solidFill>
                  <a:schemeClr val="dk1"/>
                </a:solidFill>
                <a:highlight>
                  <a:srgbClr val="FFFFFF"/>
                </a:highlight>
              </a:rPr>
              <a:t>Stochastic Resetting for Enhanced Sampling”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/>
              <a:t>https://hirshblab.sites.tau.ac.il/post/stochastic-resetting-for-enhanced-sampling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A challenging example of metastability: protein folding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3"/>
          <p:cNvSpPr txBox="1"/>
          <p:nvPr>
            <p:ph idx="4294967295" type="ctrTitle"/>
          </p:nvPr>
        </p:nvSpPr>
        <p:spPr>
          <a:xfrm>
            <a:off x="333000" y="892591"/>
            <a:ext cx="85206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/>
              <a:t>Example: </a:t>
            </a:r>
            <a:r>
              <a:rPr lang="it" sz="1500"/>
              <a:t>protein folding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𝝉</a:t>
            </a:r>
            <a:r>
              <a:rPr baseline="-25000" lang="it" sz="1500"/>
              <a:t>echange == folding</a:t>
            </a:r>
            <a:r>
              <a:rPr lang="it" sz="1500"/>
              <a:t>~ 10-100 ns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𝝉</a:t>
            </a:r>
            <a:r>
              <a:rPr baseline="-25000" lang="it" sz="1500"/>
              <a:t>residence </a:t>
            </a:r>
            <a:r>
              <a:rPr lang="it" sz="1500"/>
              <a:t>~ 1 ms</a:t>
            </a:r>
            <a:endParaRPr sz="1500"/>
          </a:p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85" name="Google Shape;185;p23" title="funnel_protein_foldin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125" y="821014"/>
            <a:ext cx="3000002" cy="236667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4051425" y="3187675"/>
            <a:ext cx="344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chemeClr val="dk1"/>
                </a:solidFill>
              </a:rPr>
              <a:t>Taken from: </a:t>
            </a:r>
            <a:r>
              <a:rPr lang="it" sz="900">
                <a:solidFill>
                  <a:schemeClr val="dk1"/>
                </a:solidFill>
              </a:rPr>
              <a:t>Bowman GR, Annu Rev Biomed Data Sci. (2024)</a:t>
            </a:r>
            <a:endParaRPr sz="900">
              <a:solidFill>
                <a:schemeClr val="dk1"/>
              </a:solidFill>
            </a:endParaRPr>
          </a:p>
        </p:txBody>
      </p:sp>
      <p:cxnSp>
        <p:nvCxnSpPr>
          <p:cNvPr id="187" name="Google Shape;187;p23"/>
          <p:cNvCxnSpPr/>
          <p:nvPr/>
        </p:nvCxnSpPr>
        <p:spPr>
          <a:xfrm>
            <a:off x="1732475" y="1870488"/>
            <a:ext cx="0" cy="29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3"/>
          <p:cNvSpPr txBox="1"/>
          <p:nvPr/>
        </p:nvSpPr>
        <p:spPr>
          <a:xfrm>
            <a:off x="680675" y="2142575"/>
            <a:ext cx="3891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only one supercomputer in the world (ANTON) can simulate trajectories with this length!</a:t>
            </a:r>
            <a:endParaRPr/>
          </a:p>
        </p:txBody>
      </p:sp>
      <p:sp>
        <p:nvSpPr>
          <p:cNvPr id="189" name="Google Shape;189;p23"/>
          <p:cNvSpPr txBox="1"/>
          <p:nvPr/>
        </p:nvSpPr>
        <p:spPr>
          <a:xfrm>
            <a:off x="333000" y="3412310"/>
            <a:ext cx="8094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N.B. </a:t>
            </a:r>
            <a:r>
              <a:rPr b="1" lang="it">
                <a:solidFill>
                  <a:schemeClr val="dk1"/>
                </a:solidFill>
              </a:rPr>
              <a:t>AlphaFold</a:t>
            </a:r>
            <a:r>
              <a:rPr lang="it">
                <a:solidFill>
                  <a:schemeClr val="dk1"/>
                </a:solidFill>
              </a:rPr>
              <a:t> (2024 Nobel Prize in Chemistry) “solved” the problem of protein structure prediction, not the full </a:t>
            </a:r>
            <a:r>
              <a:rPr lang="it">
                <a:solidFill>
                  <a:schemeClr val="dk1"/>
                </a:solidFill>
              </a:rPr>
              <a:t>protein</a:t>
            </a:r>
            <a:r>
              <a:rPr lang="it">
                <a:solidFill>
                  <a:schemeClr val="dk1"/>
                </a:solidFill>
              </a:rPr>
              <a:t> folding problem (no kinetic information!)</a:t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333000" y="4060322"/>
            <a:ext cx="86283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Why </a:t>
            </a:r>
            <a:r>
              <a:rPr lang="it" sz="1500">
                <a:solidFill>
                  <a:schemeClr val="dk1"/>
                </a:solidFill>
              </a:rPr>
              <a:t>the problem is still </a:t>
            </a:r>
            <a:r>
              <a:rPr b="1" lang="it" sz="1500">
                <a:solidFill>
                  <a:schemeClr val="dk1"/>
                </a:solidFill>
              </a:rPr>
              <a:t>unsolved?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Enhanced sampling usually requires good reaction coordinates, unknown a priori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</a:rPr>
              <a:t>Errors in the force field can significantly increase the escape time (height of barriers)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