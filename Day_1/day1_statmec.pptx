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Montserrat SemiBold"/>
      <p:regular r:id="rId30"/>
      <p:bold r:id="rId31"/>
      <p:italic r:id="rId32"/>
      <p:boldItalic r:id="rId33"/>
    </p:embeddedFont>
    <p:embeddedFont>
      <p:font typeface="Montserrat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bold.fntdata"/><Relationship Id="rId30" Type="http://schemas.openxmlformats.org/officeDocument/2006/relationships/font" Target="fonts/Montserrat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SemiBold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404838b0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404838b0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86edadab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86edadab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6edadab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86edadab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86edadab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86edadab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8954e4f3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8954e4f3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954e4f3c_0_2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8954e4f3c_0_26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165" name="Google Shape;165;g3f8954e4f3c_0_26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ad3e4761_2_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f8ad3e4761_2_1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186" name="Google Shape;186;g3f8ad3e4761_2_1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ad3e4761_3_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f8ad3e4761_3_6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199" name="Google Shape;199;g3f8ad3e4761_3_6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8ad3e4761_3_1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f8ad3e4761_3_18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222" name="Google Shape;222;g3f8ad3e4761_3_18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ad3e4761_3_2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8ad3e4761_3_22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242" name="Google Shape;242;g3f8ad3e4761_3_22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8ad3e4761_3_2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f8ad3e4761_3_26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265" name="Google Shape;265;g3f8ad3e4761_3_26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8ad3e4761_3_6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f8ad3e4761_3_64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281" name="Google Shape;281;g3f8ad3e4761_3_64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8ad3e4761_3_5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f8ad3e4761_3_54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304" name="Google Shape;304;g3f8ad3e4761_3_54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8954e4f3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8954e4f3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b0ae51cf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b0ae51cf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8954e4f3c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8954e4f3c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8ad3e4761_3_4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f8ad3e4761_3_48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367" name="Google Shape;367;g3f8ad3e4761_3_48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8ad3e4761_3_4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f8ad3e4761_3_41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395" name="Google Shape;395;g3f8ad3e4761_3_41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ad3e4761_3_4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f8ad3e4761_3_42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411" name="Google Shape;411;g3f8ad3e4761_3_42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8ad3e4761_3_4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f8ad3e4761_3_44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426" name="Google Shape;426;g3f8ad3e4761_3_44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8ad3e4761_3_4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f8ad3e4761_3_45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message: in the canonical ensemble the kinetic energy is a random variable with a known distribution, and its fluctuations are as much a part of the ensemble as its average. The relative width goes as one over the square root of Nf, so for large systems the distribution is narrow but never a delta.</a:t>
            </a:r>
            <a:endParaRPr/>
          </a:p>
        </p:txBody>
      </p:sp>
      <p:sp>
        <p:nvSpPr>
          <p:cNvPr id="441" name="Google Shape;441;g3f8ad3e4761_3_45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8954e4f3c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8954e4f3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8954e4f3c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f8954e4f3c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14.png"/><Relationship Id="rId5" Type="http://schemas.openxmlformats.org/officeDocument/2006/relationships/image" Target="../media/image36.png"/><Relationship Id="rId6" Type="http://schemas.openxmlformats.org/officeDocument/2006/relationships/image" Target="../media/image19.png"/><Relationship Id="rId7" Type="http://schemas.openxmlformats.org/officeDocument/2006/relationships/image" Target="../media/image28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gif"/><Relationship Id="rId4" Type="http://schemas.openxmlformats.org/officeDocument/2006/relationships/image" Target="../media/image40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32.png"/><Relationship Id="rId5" Type="http://schemas.openxmlformats.org/officeDocument/2006/relationships/image" Target="../media/image4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Relationship Id="rId4" Type="http://schemas.openxmlformats.org/officeDocument/2006/relationships/image" Target="../media/image4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png"/><Relationship Id="rId4" Type="http://schemas.openxmlformats.org/officeDocument/2006/relationships/image" Target="../media/image4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1597300" y="1118772"/>
            <a:ext cx="6253800" cy="16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latin typeface="Montserrat SemiBold"/>
                <a:ea typeface="Montserrat SemiBold"/>
                <a:cs typeface="Montserrat SemiBold"/>
                <a:sym typeface="Montserrat SemiBold"/>
              </a:rPr>
              <a:t>Beyond Newton’s equations: sampling statistical ensembles</a:t>
            </a:r>
            <a:endParaRPr sz="30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2931300"/>
            <a:ext cx="8520600" cy="708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Montserrat Medium"/>
                <a:ea typeface="Montserrat Medium"/>
                <a:cs typeface="Montserrat Medium"/>
                <a:sym typeface="Montserrat Medium"/>
              </a:rPr>
              <a:t>PWF </a:t>
            </a:r>
            <a:r>
              <a:rPr lang="it" sz="1600">
                <a:latin typeface="Montserrat Medium"/>
                <a:ea typeface="Montserrat Medium"/>
                <a:cs typeface="Montserrat Medium"/>
                <a:sym typeface="Montserrat Medium"/>
              </a:rPr>
              <a:t>Summer school on Theoretical and Computational Biophysics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" name="Google Shape;58;p14"/>
          <p:cNvSpPr/>
          <p:nvPr/>
        </p:nvSpPr>
        <p:spPr>
          <a:xfrm>
            <a:off x="0" y="0"/>
            <a:ext cx="427500" cy="5143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93C47D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3187850" y="43506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Day 1/5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2588150" y="3723900"/>
            <a:ext cx="4199400" cy="4311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Montserrat Medium"/>
                <a:ea typeface="Montserrat Medium"/>
                <a:cs typeface="Montserrat Medium"/>
                <a:sym typeface="Montserrat Medium"/>
              </a:rPr>
              <a:t>University of Colombo</a:t>
            </a:r>
            <a:endParaRPr sz="1600"/>
          </a:p>
        </p:txBody>
      </p:sp>
      <p:pic>
        <p:nvPicPr>
          <p:cNvPr descr="ICTP logo"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925" y="217625"/>
            <a:ext cx="2481185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1628425" y="2719325"/>
            <a:ext cx="6846000" cy="79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isual Identity | University of Colombo, Sri Lanka"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850" y="217625"/>
            <a:ext cx="2657909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6187850" y="4350625"/>
            <a:ext cx="233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Dr. Vittorio Del Tatto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Statistical mechanics in a nutshell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59400" y="927000"/>
            <a:ext cx="822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Classical mechanics: with </a:t>
            </a:r>
            <a:r>
              <a:rPr i="1" lang="it" sz="1500">
                <a:solidFill>
                  <a:schemeClr val="dk1"/>
                </a:solidFill>
              </a:rPr>
              <a:t>N</a:t>
            </a:r>
            <a:r>
              <a:rPr lang="it" sz="1500">
                <a:solidFill>
                  <a:schemeClr val="dk1"/>
                </a:solidFill>
              </a:rPr>
              <a:t> </a:t>
            </a:r>
            <a:r>
              <a:rPr lang="it" sz="1500">
                <a:solidFill>
                  <a:schemeClr val="dk1"/>
                </a:solidFill>
              </a:rPr>
              <a:t>particles</a:t>
            </a:r>
            <a:r>
              <a:rPr lang="it" sz="1500">
                <a:solidFill>
                  <a:schemeClr val="dk1"/>
                </a:solidFill>
              </a:rPr>
              <a:t>, the state of the system is defined by 6</a:t>
            </a:r>
            <a:r>
              <a:rPr i="1" lang="it" sz="1500">
                <a:solidFill>
                  <a:schemeClr val="dk1"/>
                </a:solidFill>
              </a:rPr>
              <a:t>N</a:t>
            </a:r>
            <a:r>
              <a:rPr lang="it" sz="1500">
                <a:solidFill>
                  <a:schemeClr val="dk1"/>
                </a:solidFill>
              </a:rPr>
              <a:t> numbers 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59400" y="1296839"/>
            <a:ext cx="822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However in the real world, only few </a:t>
            </a:r>
            <a:r>
              <a:rPr b="1" lang="it" sz="1500">
                <a:solidFill>
                  <a:schemeClr val="dk1"/>
                </a:solidFill>
              </a:rPr>
              <a:t>macroscopic</a:t>
            </a:r>
            <a:r>
              <a:rPr lang="it" sz="1500">
                <a:solidFill>
                  <a:schemeClr val="dk1"/>
                </a:solidFill>
              </a:rPr>
              <a:t> </a:t>
            </a:r>
            <a:r>
              <a:rPr b="1" lang="it" sz="1500">
                <a:solidFill>
                  <a:schemeClr val="dk1"/>
                </a:solidFill>
              </a:rPr>
              <a:t>variables </a:t>
            </a:r>
            <a:r>
              <a:rPr lang="it" sz="1500">
                <a:solidFill>
                  <a:schemeClr val="dk1"/>
                </a:solidFill>
              </a:rPr>
              <a:t>can be typically observed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41600" y="2412889"/>
            <a:ext cx="7660800" cy="80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Statistical mechanics </a:t>
            </a:r>
            <a:r>
              <a:rPr lang="it" sz="1500">
                <a:solidFill>
                  <a:schemeClr val="dk1"/>
                </a:solidFill>
              </a:rPr>
              <a:t>studies the relationship between macroscopic quantities (e.g. temperature, pressure, specific heat, energy fluctuation) and the microscopic degrees of freedom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1773000" y="3475500"/>
            <a:ext cx="559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/>
              <a:t>N.B. involve </a:t>
            </a:r>
            <a:r>
              <a:rPr b="1" lang="it" sz="1500"/>
              <a:t>ensemble</a:t>
            </a:r>
            <a:r>
              <a:rPr lang="it" sz="1500"/>
              <a:t> </a:t>
            </a:r>
            <a:r>
              <a:rPr b="1" lang="it" sz="1500"/>
              <a:t>averages</a:t>
            </a:r>
            <a:r>
              <a:rPr lang="it" sz="1500"/>
              <a:t> of the microscopic variables</a:t>
            </a:r>
            <a:endParaRPr sz="1500"/>
          </a:p>
        </p:txBody>
      </p:sp>
      <p:sp>
        <p:nvSpPr>
          <p:cNvPr id="75" name="Google Shape;75;p15"/>
          <p:cNvSpPr txBox="1"/>
          <p:nvPr/>
        </p:nvSpPr>
        <p:spPr>
          <a:xfrm>
            <a:off x="359400" y="1683429"/>
            <a:ext cx="82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If we measure a set of macroscopic variables, can we still say something about the state of the underlying </a:t>
            </a:r>
            <a:r>
              <a:rPr b="1" lang="it" sz="1500">
                <a:solidFill>
                  <a:schemeClr val="dk1"/>
                </a:solidFill>
              </a:rPr>
              <a:t>microscopic variables</a:t>
            </a:r>
            <a:r>
              <a:rPr lang="it" sz="1500">
                <a:solidFill>
                  <a:schemeClr val="dk1"/>
                </a:solidFill>
              </a:rPr>
              <a:t>?</a:t>
            </a:r>
            <a:endParaRPr/>
          </a:p>
        </p:txBody>
      </p:sp>
      <p:cxnSp>
        <p:nvCxnSpPr>
          <p:cNvPr id="76" name="Google Shape;76;p15"/>
          <p:cNvCxnSpPr>
            <a:stCxn id="73" idx="2"/>
          </p:cNvCxnSpPr>
          <p:nvPr/>
        </p:nvCxnSpPr>
        <p:spPr>
          <a:xfrm>
            <a:off x="4572000" y="3215689"/>
            <a:ext cx="9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Macroscopic and microscopic states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359400" y="927000"/>
            <a:ext cx="8224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Macroscopic state:</a:t>
            </a:r>
            <a:r>
              <a:rPr b="1" lang="it" sz="1500">
                <a:solidFill>
                  <a:schemeClr val="dk1"/>
                </a:solidFill>
              </a:rPr>
              <a:t> </a:t>
            </a:r>
            <a:r>
              <a:rPr lang="it" sz="1500">
                <a:solidFill>
                  <a:schemeClr val="dk1"/>
                </a:solidFill>
              </a:rPr>
              <a:t>identified by the state of one or more macroscopic variables</a:t>
            </a:r>
            <a:endParaRPr sz="1500">
              <a:solidFill>
                <a:schemeClr val="dk1"/>
              </a:solidFill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e.g. (</a:t>
            </a:r>
            <a:r>
              <a:rPr i="1" lang="it" sz="1500">
                <a:solidFill>
                  <a:schemeClr val="dk1"/>
                </a:solidFill>
              </a:rPr>
              <a:t>N = </a:t>
            </a:r>
            <a:r>
              <a:rPr lang="it" sz="1500">
                <a:solidFill>
                  <a:schemeClr val="dk1"/>
                </a:solidFill>
              </a:rPr>
              <a:t>100, </a:t>
            </a:r>
            <a:r>
              <a:rPr i="1" lang="it" sz="1500">
                <a:solidFill>
                  <a:schemeClr val="dk1"/>
                </a:solidFill>
              </a:rPr>
              <a:t>V</a:t>
            </a:r>
            <a:r>
              <a:rPr lang="it" sz="1500">
                <a:solidFill>
                  <a:schemeClr val="dk1"/>
                </a:solidFill>
              </a:rPr>
              <a:t> = 10 nm</a:t>
            </a:r>
            <a:r>
              <a:rPr baseline="30000" lang="it" sz="1500">
                <a:solidFill>
                  <a:schemeClr val="dk1"/>
                </a:solidFill>
              </a:rPr>
              <a:t>3</a:t>
            </a:r>
            <a:r>
              <a:rPr lang="it" sz="1500">
                <a:solidFill>
                  <a:schemeClr val="dk1"/>
                </a:solidFill>
              </a:rPr>
              <a:t>, </a:t>
            </a:r>
            <a:r>
              <a:rPr i="1" lang="it" sz="1500">
                <a:solidFill>
                  <a:schemeClr val="dk1"/>
                </a:solidFill>
              </a:rPr>
              <a:t>T</a:t>
            </a:r>
            <a:r>
              <a:rPr lang="it" sz="1500">
                <a:solidFill>
                  <a:schemeClr val="dk1"/>
                </a:solidFill>
              </a:rPr>
              <a:t> = 273.15 K)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59400" y="1560983"/>
            <a:ext cx="82242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Microscopic state: </a:t>
            </a:r>
            <a:r>
              <a:rPr lang="it" sz="1500">
                <a:solidFill>
                  <a:schemeClr val="dk1"/>
                </a:solidFill>
              </a:rPr>
              <a:t>identified by the state of all the</a:t>
            </a:r>
            <a:r>
              <a:rPr b="1" lang="it" sz="1500">
                <a:solidFill>
                  <a:schemeClr val="dk1"/>
                </a:solidFill>
              </a:rPr>
              <a:t> </a:t>
            </a:r>
            <a:r>
              <a:rPr lang="it" sz="1500">
                <a:solidFill>
                  <a:schemeClr val="dk1"/>
                </a:solidFill>
              </a:rPr>
              <a:t>underlying (unknown) microscopic variables (3N positions, 3N momenta)</a:t>
            </a:r>
            <a:endParaRPr sz="1500">
              <a:solidFill>
                <a:schemeClr val="dk1"/>
              </a:solidFill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e.g. </a:t>
            </a:r>
            <a:endParaRPr baseline="-25000" sz="1500">
              <a:solidFill>
                <a:schemeClr val="dk1"/>
              </a:solidFill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235250" y="2646476"/>
            <a:ext cx="6673500" cy="80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A large </a:t>
            </a:r>
            <a:r>
              <a:rPr lang="it" sz="1500">
                <a:solidFill>
                  <a:schemeClr val="dk1"/>
                </a:solidFill>
              </a:rPr>
              <a:t>(often infinite) </a:t>
            </a:r>
            <a:r>
              <a:rPr lang="it" sz="1500">
                <a:solidFill>
                  <a:schemeClr val="dk1"/>
                </a:solidFill>
              </a:rPr>
              <a:t>number of microscopic states can represent the same macroscopic state!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359400" y="3638626"/>
            <a:ext cx="82242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Statistical ensemble: </a:t>
            </a:r>
            <a:endParaRPr b="1"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the set of microscopic states compatible with a given macroscopic state, {𝛤 }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the probability of finding the system in each microscopic state, </a:t>
            </a:r>
            <a:r>
              <a:rPr i="1" lang="it" sz="1500">
                <a:solidFill>
                  <a:schemeClr val="dk1"/>
                </a:solidFill>
              </a:rPr>
              <a:t>p</a:t>
            </a:r>
            <a:r>
              <a:rPr lang="it" sz="1500">
                <a:solidFill>
                  <a:schemeClr val="dk1"/>
                </a:solidFill>
              </a:rPr>
              <a:t>(</a:t>
            </a:r>
            <a:r>
              <a:rPr lang="it" sz="1500">
                <a:solidFill>
                  <a:schemeClr val="dk1"/>
                </a:solidFill>
              </a:rPr>
              <a:t>𝛤)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9" name="Google Shape;89;p16" title="{&quot;red&quot;:0,&quot;green&quot;:0,&quot;blue&quot;:0,&quot;origURL&quot;:&quot;https://saxarona.github.io/mathjax-viewer/?input=%20%5CGamma%20%3D%20(%5Cmathbf%7Bq%7D_1%2C%20%5Cdots%20%2C%20%5Cmathbf%7Bq%7D_N%2C%20%5Cmathbf%7Bp%7D_1%2C%20%5Cdots%20%2C%20%5Cmathbf%7Bp%7D_N)#0&quot;,&quot;size&quot;:15,&quot;width&quot;:647.5748031496063,&quot;height&quot;:50.90551181102362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709" y="2221940"/>
            <a:ext cx="2304288" cy="189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Properties of statistical ensembles 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59400" y="927000"/>
            <a:ext cx="8224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Equilibrium:</a:t>
            </a:r>
            <a:endParaRPr b="1" sz="1500">
              <a:solidFill>
                <a:schemeClr val="dk1"/>
              </a:solidFill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probability </a:t>
            </a:r>
            <a:r>
              <a:rPr i="1" lang="it" sz="1500">
                <a:solidFill>
                  <a:schemeClr val="dk1"/>
                </a:solidFill>
              </a:rPr>
              <a:t>         </a:t>
            </a:r>
            <a:r>
              <a:rPr lang="it" sz="1500">
                <a:solidFill>
                  <a:schemeClr val="dk1"/>
                </a:solidFill>
              </a:rPr>
              <a:t>does not depend on time: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359400" y="1608000"/>
            <a:ext cx="856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probability </a:t>
            </a:r>
            <a:r>
              <a:rPr i="1" lang="it" sz="1500">
                <a:solidFill>
                  <a:schemeClr val="dk1"/>
                </a:solidFill>
              </a:rPr>
              <a:t>         </a:t>
            </a:r>
            <a:r>
              <a:rPr lang="it" sz="1500">
                <a:solidFill>
                  <a:schemeClr val="dk1"/>
                </a:solidFill>
              </a:rPr>
              <a:t>is invariant under time-reversal symmetry:</a:t>
            </a:r>
            <a:endParaRPr/>
          </a:p>
        </p:txBody>
      </p:sp>
      <p:pic>
        <p:nvPicPr>
          <p:cNvPr id="99" name="Google Shape;99;p17" title="{&quot;red&quot;:0,&quot;green&quot;:0,&quot;blue&quot;:0,&quot;origURL&quot;:&quot;https://saxarona.github.io/mathjax-viewer/?input=%20%5CGamma%5E%7B*%7D%20%3D%20(%5Cmathbf%7Bq%7D_1%2C%20%5Cdots%20%2C%20%5Cmathbf%7Bq%7D_N%2C%20-%5Cmathbf%7Bp%7D_1%2C%20%5Cdots%20%2C%20-%5Cmathbf%7Bp%7D_N)#0&quot;,&quot;size&quot;:15,&quot;width&quot;:647.5748031496063,&quot;height&quot;:50.90551181102362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6425" y="2108098"/>
            <a:ext cx="2597725" cy="184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3363425" y="197641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where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359400" y="2403975"/>
            <a:ext cx="822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Ensemble averages: </a:t>
            </a:r>
            <a:r>
              <a:rPr lang="it" sz="1500">
                <a:solidFill>
                  <a:schemeClr val="dk1"/>
                </a:solidFill>
              </a:rPr>
              <a:t>given microscopic observable </a:t>
            </a:r>
            <a:r>
              <a:rPr i="1" lang="it" sz="1500">
                <a:solidFill>
                  <a:schemeClr val="dk1"/>
                </a:solidFill>
              </a:rPr>
              <a:t>O</a:t>
            </a:r>
            <a:r>
              <a:rPr lang="it" sz="1500">
                <a:solidFill>
                  <a:schemeClr val="dk1"/>
                </a:solidFill>
              </a:rPr>
              <a:t>(𝛤), its expected value is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59400" y="3349875"/>
            <a:ext cx="822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Ergodicity: </a:t>
            </a:r>
            <a:r>
              <a:rPr lang="it" sz="1500">
                <a:solidFill>
                  <a:schemeClr val="dk1"/>
                </a:solidFill>
              </a:rPr>
              <a:t>if </a:t>
            </a:r>
            <a:r>
              <a:rPr lang="it" sz="1500">
                <a:solidFill>
                  <a:schemeClr val="dk1"/>
                </a:solidFill>
              </a:rPr>
              <a:t>𝛤(t) denotes a </a:t>
            </a:r>
            <a:r>
              <a:rPr b="1" lang="it" sz="1500">
                <a:solidFill>
                  <a:schemeClr val="dk1"/>
                </a:solidFill>
              </a:rPr>
              <a:t>single trajectory </a:t>
            </a:r>
            <a:r>
              <a:rPr lang="it" sz="1500">
                <a:solidFill>
                  <a:schemeClr val="dk1"/>
                </a:solidFill>
              </a:rPr>
              <a:t>starting from 𝛤(0),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3" name="Google Shape;103;p17" title="{&quot;red&quot;:0,&quot;green&quot;:0,&quot;blue&quot;:0,&quot;origURL&quot;:&quot;https://saxarona.github.io/mathjax-viewer/?input=%5Clim_%7BT%5Crightarrow%20%2B%20%5Cinfty%7D%20%5Cfrac%7B1%7D%7BT%7D%20%5Cint_0%5ET%20dt%20O(%5CGamma(t))%20%3D%20%5Clangle%20O%5Crangle#0&quot;,&quot;size&quot;:15,&quot;width&quot;:236.2204724409449,&quot;height&quot;:95.4330708661417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5387" y="3795025"/>
            <a:ext cx="2715826" cy="5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845551" y="4365300"/>
            <a:ext cx="8029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If the system is ergodic, ensemble averages (across different realizations) are equivalent to time averages (on a single realization)!</a:t>
            </a:r>
            <a:endParaRPr/>
          </a:p>
        </p:txBody>
      </p:sp>
      <p:pic>
        <p:nvPicPr>
          <p:cNvPr id="105" name="Google Shape;105;p17" title="{&quot;red&quot;:0,&quot;green&quot;:0,&quot;blue&quot;:0,&quot;origURL&quot;:&quot;https://saxarona.github.io/mathjax-viewer/?input=%20%5Cfrac%7B%5Cpartial%20%5Cmathcal%7BP%7D(%5CGamma)%7D%7B%5Cpartial%20t%7D%20%3D%200#0&quot;,&quot;size&quot;:15,&quot;width&quot;:647.5748031496063,&quot;height&quot;:32.71653543307087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5300" y="1151938"/>
            <a:ext cx="1056132" cy="456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1063" y="2833125"/>
            <a:ext cx="1992249" cy="46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{&quot;red&quot;:0,&quot;green&quot;:0,&quot;blue&quot;:0,&quot;origURL&quot;:&quot;https://saxarona.github.io/mathjax-viewer/?input=%20%5Cmathcal%7BP%7D(%5CGamma)%20#0&quot;,&quot;size&quot;:15,&quot;width&quot;:236.2204724409449,&quot;height&quot;:32.71653543307087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33798" y="1296553"/>
            <a:ext cx="456057" cy="216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{&quot;red&quot;:0,&quot;green&quot;:0,&quot;blue&quot;:0,&quot;origURL&quot;:&quot;https://saxarona.github.io/mathjax-viewer/?input=%20%5Cmathcal%7BP%7D(%5CGamma)%20#0&quot;,&quot;size&quot;:15,&quot;width&quot;:236.2204724409449,&quot;height&quot;:32.71653543307087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33798" y="1718160"/>
            <a:ext cx="456057" cy="216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 title="{&quot;red&quot;:0,&quot;green&quot;:0,&quot;blue&quot;:0,&quot;origURL&quot;:&quot;https://saxarona.github.io/mathjax-viewer/?input=%20%5Cmathcal%7BP%7D(%5CGamma)%20%3D%20%5Cmathcal%7BP%7D(%5CGamma%5E%7B*%7D)#0&quot;,&quot;size&quot;:15,&quot;width&quot;:674.2677165354331,&quot;height&quot;:32.71653543307087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18275" y="2076149"/>
            <a:ext cx="1272159" cy="216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Statistical ensembles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7" name="Google Shape;117;p18" title="Statistical_Ensembles.png"/>
          <p:cNvPicPr preferRelativeResize="0"/>
          <p:nvPr/>
        </p:nvPicPr>
        <p:blipFill rotWithShape="1">
          <a:blip r:embed="rId3">
            <a:alphaModFix/>
          </a:blip>
          <a:srcRect b="2791" l="79726" r="670" t="9987"/>
          <a:stretch/>
        </p:blipFill>
        <p:spPr>
          <a:xfrm>
            <a:off x="7142176" y="1027604"/>
            <a:ext cx="1732726" cy="258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 title="Statistical_Ensembles.png"/>
          <p:cNvPicPr preferRelativeResize="0"/>
          <p:nvPr/>
        </p:nvPicPr>
        <p:blipFill rotWithShape="1">
          <a:blip r:embed="rId3">
            <a:alphaModFix/>
          </a:blip>
          <a:srcRect b="2791" l="3610" r="59370" t="9987"/>
          <a:stretch/>
        </p:blipFill>
        <p:spPr>
          <a:xfrm>
            <a:off x="471000" y="1046729"/>
            <a:ext cx="3272202" cy="258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 title="Statistical_Ensembles.png"/>
          <p:cNvPicPr preferRelativeResize="0"/>
          <p:nvPr/>
        </p:nvPicPr>
        <p:blipFill rotWithShape="1">
          <a:blip r:embed="rId3">
            <a:alphaModFix/>
          </a:blip>
          <a:srcRect b="2791" l="59319" r="21078" t="9987"/>
          <a:stretch/>
        </p:blipFill>
        <p:spPr>
          <a:xfrm>
            <a:off x="3746170" y="1046729"/>
            <a:ext cx="1732726" cy="258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 title="Statistical_Ensembles.png"/>
          <p:cNvPicPr preferRelativeResize="0"/>
          <p:nvPr/>
        </p:nvPicPr>
        <p:blipFill rotWithShape="1">
          <a:blip r:embed="rId3">
            <a:alphaModFix/>
          </a:blip>
          <a:srcRect b="2791" l="40625" r="40689" t="9987"/>
          <a:stretch/>
        </p:blipFill>
        <p:spPr>
          <a:xfrm>
            <a:off x="5364900" y="1046729"/>
            <a:ext cx="1651674" cy="258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278125" y="961767"/>
            <a:ext cx="5200800" cy="271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311700" y="4742527"/>
            <a:ext cx="646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* </a:t>
            </a:r>
            <a:r>
              <a:rPr lang="it" sz="1100"/>
              <a:t>Taken from: </a:t>
            </a:r>
            <a:r>
              <a:rPr lang="it" sz="1100"/>
              <a:t>http://en.wikipedia.org/wiki/Ensemble_(mathematical_physics)</a:t>
            </a:r>
            <a:endParaRPr sz="1100"/>
          </a:p>
        </p:txBody>
      </p:sp>
      <p:sp>
        <p:nvSpPr>
          <p:cNvPr id="123" name="Google Shape;123;p18"/>
          <p:cNvSpPr txBox="1"/>
          <p:nvPr/>
        </p:nvSpPr>
        <p:spPr>
          <a:xfrm>
            <a:off x="8228375" y="763692"/>
            <a:ext cx="54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* </a:t>
            </a:r>
            <a:endParaRPr sz="1500"/>
          </a:p>
        </p:txBody>
      </p:sp>
      <p:cxnSp>
        <p:nvCxnSpPr>
          <p:cNvPr id="124" name="Google Shape;124;p18"/>
          <p:cNvCxnSpPr/>
          <p:nvPr/>
        </p:nvCxnSpPr>
        <p:spPr>
          <a:xfrm>
            <a:off x="1169825" y="3494948"/>
            <a:ext cx="0" cy="41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8"/>
          <p:cNvCxnSpPr/>
          <p:nvPr/>
        </p:nvCxnSpPr>
        <p:spPr>
          <a:xfrm>
            <a:off x="2878525" y="3494948"/>
            <a:ext cx="0" cy="41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8"/>
          <p:cNvSpPr txBox="1"/>
          <p:nvPr/>
        </p:nvSpPr>
        <p:spPr>
          <a:xfrm>
            <a:off x="796675" y="3862100"/>
            <a:ext cx="10998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closed,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isolated,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rigid walls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2474950" y="3847800"/>
            <a:ext cx="1420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closed,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1"/>
                </a:solidFill>
              </a:rPr>
              <a:t>not isolated</a:t>
            </a:r>
            <a:r>
              <a:rPr lang="it" sz="1300">
                <a:solidFill>
                  <a:schemeClr val="dk1"/>
                </a:solidFill>
              </a:rPr>
              <a:t>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rigid walls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097388" y="3847796"/>
            <a:ext cx="2003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closed,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1"/>
                </a:solidFill>
              </a:rPr>
              <a:t>not isolated,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1"/>
                </a:solidFill>
              </a:rPr>
              <a:t>movable walls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3902450" y="2982192"/>
            <a:ext cx="1299000" cy="61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18" title="Statistical_Ensembles.png"/>
          <p:cNvPicPr preferRelativeResize="0"/>
          <p:nvPr/>
        </p:nvPicPr>
        <p:blipFill rotWithShape="1">
          <a:blip r:embed="rId3">
            <a:alphaModFix/>
          </a:blip>
          <a:srcRect b="3734" l="59318" r="23330" t="85258"/>
          <a:stretch/>
        </p:blipFill>
        <p:spPr>
          <a:xfrm>
            <a:off x="3705649" y="3114983"/>
            <a:ext cx="1533651" cy="32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18"/>
          <p:cNvCxnSpPr/>
          <p:nvPr/>
        </p:nvCxnSpPr>
        <p:spPr>
          <a:xfrm>
            <a:off x="4612538" y="3494948"/>
            <a:ext cx="0" cy="41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Statistical ensembles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11018083" y="2876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9" name="Google Shape;139;p19" title="Statistical_Ensembles.png"/>
          <p:cNvPicPr preferRelativeResize="0"/>
          <p:nvPr/>
        </p:nvPicPr>
        <p:blipFill rotWithShape="1">
          <a:blip r:embed="rId3">
            <a:alphaModFix/>
          </a:blip>
          <a:srcRect b="22300" l="3609" r="76024" t="22854"/>
          <a:stretch/>
        </p:blipFill>
        <p:spPr>
          <a:xfrm>
            <a:off x="1542695" y="883580"/>
            <a:ext cx="1318003" cy="1189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 title="Statistical_Ensembles.png"/>
          <p:cNvPicPr preferRelativeResize="0"/>
          <p:nvPr/>
        </p:nvPicPr>
        <p:blipFill rotWithShape="1">
          <a:blip r:embed="rId3">
            <a:alphaModFix/>
          </a:blip>
          <a:srcRect b="21589" l="59319" r="21078" t="9984"/>
          <a:stretch/>
        </p:blipFill>
        <p:spPr>
          <a:xfrm>
            <a:off x="1414066" y="3422900"/>
            <a:ext cx="1268621" cy="148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 title="Statistical_Ensembles.png"/>
          <p:cNvPicPr preferRelativeResize="0"/>
          <p:nvPr/>
        </p:nvPicPr>
        <p:blipFill rotWithShape="1">
          <a:blip r:embed="rId3">
            <a:alphaModFix/>
          </a:blip>
          <a:srcRect b="22649" l="23006" r="59370" t="22856"/>
          <a:stretch/>
        </p:blipFill>
        <p:spPr>
          <a:xfrm>
            <a:off x="1542700" y="2157034"/>
            <a:ext cx="1140509" cy="1182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 title="Statistical_Ensembles.png"/>
          <p:cNvPicPr preferRelativeResize="0"/>
          <p:nvPr/>
        </p:nvPicPr>
        <p:blipFill rotWithShape="1">
          <a:blip r:embed="rId3">
            <a:alphaModFix/>
          </a:blip>
          <a:srcRect b="7354" l="5562" r="82995" t="77879"/>
          <a:stretch/>
        </p:blipFill>
        <p:spPr>
          <a:xfrm>
            <a:off x="450495" y="1267750"/>
            <a:ext cx="1011501" cy="4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 title="Statistical_Ensembles.png"/>
          <p:cNvPicPr preferRelativeResize="0"/>
          <p:nvPr/>
        </p:nvPicPr>
        <p:blipFill rotWithShape="1">
          <a:blip r:embed="rId3">
            <a:alphaModFix/>
          </a:blip>
          <a:srcRect b="7354" l="25656" r="64682" t="77879"/>
          <a:stretch/>
        </p:blipFill>
        <p:spPr>
          <a:xfrm>
            <a:off x="560067" y="2573225"/>
            <a:ext cx="854000" cy="4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 title="Statistical_Ensembles.png"/>
          <p:cNvPicPr preferRelativeResize="0"/>
          <p:nvPr/>
        </p:nvPicPr>
        <p:blipFill rotWithShape="1">
          <a:blip r:embed="rId3">
            <a:alphaModFix/>
          </a:blip>
          <a:srcRect b="2791" l="61379" r="24268" t="77877"/>
          <a:stretch/>
        </p:blipFill>
        <p:spPr>
          <a:xfrm>
            <a:off x="326647" y="3878700"/>
            <a:ext cx="1268624" cy="57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5790175" y="1430481"/>
            <a:ext cx="259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from principle of </a:t>
            </a:r>
            <a:r>
              <a:rPr b="1" lang="it" sz="1200">
                <a:solidFill>
                  <a:schemeClr val="dk1"/>
                </a:solidFill>
              </a:rPr>
              <a:t>“equal a priori probability”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6635088" y="2723494"/>
            <a:ext cx="25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</a:rPr>
              <a:t>Boltzmann distribution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7278850" y="4178264"/>
            <a:ext cx="1770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</a:rPr>
              <a:t>Isothermal-isobaric distribution</a:t>
            </a:r>
            <a:endParaRPr/>
          </a:p>
        </p:txBody>
      </p:sp>
      <p:pic>
        <p:nvPicPr>
          <p:cNvPr id="148" name="Google Shape;148;p19" title="{&quot;red&quot;:0,&quot;green&quot;:0,&quot;blue&quot;:0,&quot;origURL&quot;:&quot;https://saxarona.github.io/mathjax-viewer/?input=%20%5Cbeta%20%3D%20%5Cfrac%7B1%7D%7Bk_B%20T%7D#0&quot;,&quot;size&quot;:12,&quot;width&quot;:298.0866141732283,&quot;height&quot;:45.80314960629921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7596" y="3373302"/>
            <a:ext cx="708089" cy="37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title="{&quot;red&quot;:0,&quot;green&quot;:0,&quot;blue&quot;:0,&quot;origURL&quot;:&quot;https://saxarona.github.io/mathjax-viewer/?input=%20%5Cbeta%20%3D%20%5Cfrac%7B1%7D%7Bk_B%20T%7D#0&quot;,&quot;size&quot;:12,&quot;width&quot;:298.0866141732283,&quot;height&quot;:45.80314960629921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686" y="2308339"/>
            <a:ext cx="708088" cy="3720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/>
          <p:nvPr/>
        </p:nvCxnSpPr>
        <p:spPr>
          <a:xfrm>
            <a:off x="4944511" y="3003663"/>
            <a:ext cx="842100" cy="47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2201695" y="3926750"/>
            <a:ext cx="0" cy="5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19"/>
          <p:cNvSpPr/>
          <p:nvPr/>
        </p:nvSpPr>
        <p:spPr>
          <a:xfrm>
            <a:off x="2913600" y="2656675"/>
            <a:ext cx="2699700" cy="536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2941400" y="1430475"/>
            <a:ext cx="2671800" cy="536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2590600" y="4212175"/>
            <a:ext cx="4585200" cy="51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size&quot;:12,&quot;color&quot;:&quot;#000000&quot;,&quot;family&quot;:&quot;Arial&quot;},&quot;backgroundColorModified&quot;:false,&quot;type&quot;:&quot;$$&quot;,&quot;backgroundColor&quot;:&quot;#FFFFFF&quot;,&quot;aid&quot;:null,&quot;id&quot;:&quot;3&quot;,&quot;code&quot;:&quot;$$\\mathcal{P}_{\\text{NVE}}\\left(\\Gamma\\right)=\\frac{1}{\\Omega_{\\text{NVE}}}\\delta\\left(H\\left(\\Gamma\\right)\\,-\\,E\\right)$$&quot;,&quot;ts&quot;:1788338842902,&quot;cs&quot;:&quot;0aR9+Sufl6gUbzMFVeI6Cg==&quot;,&quot;size&quot;:{&quot;width&quot;:264.20000000000005,&quot;height&quot;:41.199999999999996}}" id="155" name="Google Shape;15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8388" y="1496175"/>
            <a:ext cx="2516505" cy="392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&quot;,&quot;font&quot;:{&quot;family&quot;:&quot;Arial&quot;,&quot;color&quot;:&quot;#000000&quot;,&quot;size&quot;:12},&quot;aid&quot;:null,&quot;type&quot;:&quot;$$&quot;,&quot;fontColorModified&quot;:false,&quot;backgroundColor&quot;:&quot;#FFFFFF&quot;,&quot;code&quot;:&quot;$$\\mathcal{P}_{\\text{NVT}}\\left(\\Gamma\\right)=\\frac{1}{Z_{\\text{NVT}}}\\exp\\left(-\\beta H\\left(\\Gamma\\right)\\right)$$&quot;,&quot;backgroundColorModified&quot;:false,&quot;ts&quot;:1788338968782,&quot;cs&quot;:&quot;7geI3n7oab+RYccQ97uWzA==&quot;,&quot;size&quot;:{&quot;width&quot;:266.59999999999997,&quot;height&quot;:41.199999999999996}}" id="156" name="Google Shape;15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56962" y="2705341"/>
            <a:ext cx="2539365" cy="392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mathcal{P}_{\\text{NPT}}\\left(\\{\\mathbf{q}_{i},\\,\\mathbf{p}_{i}\\},\\,V\\right)=\\frac{1}{Z_{\\text{NPT}}}\\exp\\Big(-\\beta H\\left(\\{\\mathbf{q}_{i},\\,\\mathbf{p}_{i}\\}\\right)\\,+\\,pV\\Big)$$&quot;,&quot;id&quot;:&quot;3&quot;,&quot;backgroundColorModified&quot;:false,&quot;aid&quot;:null,&quot;type&quot;:&quot;$$&quot;,&quot;font&quot;:{&quot;size&quot;:12,&quot;color&quot;:&quot;#000000&quot;,&quot;family&quot;:&quot;Arial&quot;},&quot;fontColorModified&quot;:false,&quot;ts&quot;:1788339139568,&quot;cs&quot;:&quot;spGjvWXSkGGEZtgTSNvTeA==&quot;,&quot;size&quot;:{&quot;width&quot;:466.6666666666667,&quot;height&quot;:41}}" id="157" name="Google Shape;15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55775" y="4273856"/>
            <a:ext cx="4445000" cy="390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9"/>
          <p:cNvCxnSpPr/>
          <p:nvPr/>
        </p:nvCxnSpPr>
        <p:spPr>
          <a:xfrm flipH="1" rot="10800000">
            <a:off x="5571786" y="3677763"/>
            <a:ext cx="269700" cy="6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backgroundColorModified&quot;:false,&quot;code&quot;:&quot;$$\\Gamma=\\{\\mathbf{q}_{i},\\mathbf{p}_{i}\\}$$&quot;,&quot;type&quot;:&quot;$$&quot;,&quot;aid&quot;:null,&quot;font&quot;:{&quot;family&quot;:&quot;Arial&quot;,&quot;color&quot;:&quot;#000000&quot;,&quot;size&quot;:12},&quot;backgroundColor&quot;:&quot;#FFFFFF&quot;,&quot;id&quot;:&quot;4&quot;,&quot;fontColorModified&quot;:false,&quot;ts&quot;:1788339408157,&quot;cs&quot;:&quot;AujjAhu6c7FHliOJZOu2Ww==&quot;,&quot;size&quot;:{&quot;width&quot;:98,&quot;height&quot;:18.833333333333332}}" id="159" name="Google Shape;159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83575" y="1138825"/>
            <a:ext cx="933450" cy="179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$$\\Gamma=\\{\\mathbf{q}_{i},\\mathbf{p}_{i}\\}$$&quot;,&quot;type&quot;:&quot;$$&quot;,&quot;aid&quot;:null,&quot;font&quot;:{&quot;family&quot;:&quot;Arial&quot;,&quot;color&quot;:&quot;#000000&quot;,&quot;size&quot;:12},&quot;backgroundColor&quot;:&quot;#FFFFFF&quot;,&quot;id&quot;:&quot;4&quot;,&quot;fontColorModified&quot;:false,&quot;ts&quot;:1788339408157,&quot;cs&quot;:&quot;AujjAhu6c7FHliOJZOu2Ww==&quot;,&quot;size&quot;:{&quot;width&quot;:98,&quot;height&quot;:18.833333333333332}}" id="160" name="Google Shape;16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59925" y="2375963"/>
            <a:ext cx="933450" cy="179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000000&quot;,&quot;size&quot;:12},&quot;backgroundColor&quot;:&quot;#FFFFFF&quot;,&quot;id&quot;:&quot;5&quot;,&quot;code&quot;:&quot;$$\\Gamma=\\left(\\{\\mathbf{q}_{i},\\mathbf{p}_{i}\\},\\,V\\right)$$&quot;,&quot;type&quot;:&quot;$$&quot;,&quot;fontColorModified&quot;:false,&quot;aid&quot;:null,&quot;backgroundColorModified&quot;:false,&quot;ts&quot;:1788339481534,&quot;cs&quot;:&quot;AmOnNi2mqziYK0yKth8kRA==&quot;,&quot;size&quot;:{&quot;width&quot;:138,&quot;height&quot;:18.833333333333332}}" id="161" name="Google Shape;161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69425" y="3928305"/>
            <a:ext cx="1314450" cy="17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616737" y="2279372"/>
            <a:ext cx="8154300" cy="1847100"/>
          </a:xfrm>
          <a:prstGeom prst="roundRect">
            <a:avLst>
              <a:gd fmla="val 1040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16737" y="2279372"/>
            <a:ext cx="815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A Markov-chain sampler of a distribution                 is an update rule                     which should satisfy the following properties: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400050" y="209550"/>
            <a:ext cx="771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Canonical ensemble (NVT)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359400" y="927000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Distribution we want to sample: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24537" y="2953393"/>
            <a:ext cx="8058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it" sz="1500">
                <a:solidFill>
                  <a:schemeClr val="dk1"/>
                </a:solidFill>
              </a:rPr>
              <a:t>Stationarity of the target distribution: </a:t>
            </a:r>
            <a:r>
              <a:rPr lang="it" sz="1500">
                <a:solidFill>
                  <a:schemeClr val="dk1"/>
                </a:solidFill>
              </a:rPr>
              <a:t>applied to                       , it returns 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it" sz="1500">
                <a:solidFill>
                  <a:schemeClr val="dk1"/>
                </a:solidFill>
              </a:rPr>
              <a:t>Ergodicity: </a:t>
            </a:r>
            <a:r>
              <a:rPr lang="it" sz="1500">
                <a:solidFill>
                  <a:schemeClr val="dk1"/>
                </a:solidFill>
              </a:rPr>
              <a:t>no “unexplored” regions in the    - space after a finite number of updates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it" sz="1500">
                <a:solidFill>
                  <a:schemeClr val="dk1"/>
                </a:solidFill>
              </a:rPr>
              <a:t>[optional] </a:t>
            </a:r>
            <a:r>
              <a:rPr b="1" lang="it" sz="1500">
                <a:solidFill>
                  <a:schemeClr val="dk1"/>
                </a:solidFill>
              </a:rPr>
              <a:t>Fast decorrelation of samples:                  </a:t>
            </a:r>
            <a:r>
              <a:rPr lang="it" sz="1500">
                <a:solidFill>
                  <a:schemeClr val="dk1"/>
                </a:solidFill>
              </a:rPr>
              <a:t>sampled</a:t>
            </a:r>
            <a:r>
              <a:rPr b="1" lang="it" sz="1500">
                <a:solidFill>
                  <a:schemeClr val="dk1"/>
                </a:solidFill>
              </a:rPr>
              <a:t> </a:t>
            </a:r>
            <a:r>
              <a:rPr lang="it" sz="1500">
                <a:solidFill>
                  <a:schemeClr val="dk1"/>
                </a:solidFill>
              </a:rPr>
              <a:t>with shorter trajectories!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73" name="Google Shape;173;p20" title="Screenshot 2026-08-30 at 15.33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9700" y="952985"/>
            <a:ext cx="2175460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MATH_FORMULA::v1::\{\Gamma_{i}\}\sim\mathcal{P}_{\text{target}}"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0762" y="3056659"/>
            <a:ext cx="1153518" cy="21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MATH_FORMULA::v1::\{\Gamma^{\prime}_{i}\}\sim\mathcal{P}_{\text{target}}" id="175" name="Google Shape;17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9301" y="3050612"/>
            <a:ext cx="1153525" cy="226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MATH_FORMULA::v1::\mathcal{P}_{\text{target}}\left(\Gamma)\right."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8193" y="2382125"/>
            <a:ext cx="818788" cy="2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359400" y="1344038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Problem: </a:t>
            </a:r>
            <a:r>
              <a:rPr lang="it" sz="1500">
                <a:solidFill>
                  <a:schemeClr val="dk1"/>
                </a:solidFill>
              </a:rPr>
              <a:t>direct sampling is not possible! (</a:t>
            </a:r>
            <a:r>
              <a:rPr lang="it" sz="1500">
                <a:solidFill>
                  <a:schemeClr val="dk1"/>
                </a:solidFill>
                <a:highlight>
                  <a:srgbClr val="FFFFFF"/>
                </a:highlight>
              </a:rPr>
              <a:t>≠</a:t>
            </a:r>
            <a:r>
              <a:rPr lang="it" sz="1050">
                <a:solidFill>
                  <a:srgbClr val="6C6C6C"/>
                </a:solidFill>
                <a:highlight>
                  <a:srgbClr val="FFFFFF"/>
                </a:highlight>
              </a:rPr>
              <a:t> </a:t>
            </a:r>
            <a:r>
              <a:rPr lang="it" sz="1500">
                <a:solidFill>
                  <a:schemeClr val="dk1"/>
                </a:solidFill>
              </a:rPr>
              <a:t>simple low-dimensional distribution)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359400" y="1732675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Solution</a:t>
            </a:r>
            <a:r>
              <a:rPr b="1" lang="it" sz="1500">
                <a:solidFill>
                  <a:schemeClr val="dk1"/>
                </a:solidFill>
              </a:rPr>
              <a:t>: </a:t>
            </a:r>
            <a:r>
              <a:rPr lang="it" sz="1500">
                <a:solidFill>
                  <a:schemeClr val="dk1"/>
                </a:solidFill>
              </a:rPr>
              <a:t>complex probability distribution can be still sampled using Markov chains!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AIMATH_FORMULA::v1::\mathcal{S}:\Gamma\mapsto\Gamma^{\prime}" id="179" name="Google Shape;17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0777" y="2382116"/>
            <a:ext cx="1002075" cy="19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MATH_FORMULA::v1::\Gamma" id="180" name="Google Shape;18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05386" y="3420959"/>
            <a:ext cx="133775" cy="1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MATH_FORMULA::v1::\mathcal{P}_{\text{target}}\left(\Gamma)\right." id="181" name="Google Shape;18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4552" y="3752633"/>
            <a:ext cx="818788" cy="2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624537" y="4248547"/>
            <a:ext cx="84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N.B. </a:t>
            </a:r>
            <a:r>
              <a:rPr lang="it" sz="1500">
                <a:solidFill>
                  <a:schemeClr val="dk1"/>
                </a:solidFill>
              </a:rPr>
              <a:t>the update rule can be </a:t>
            </a:r>
            <a:r>
              <a:rPr b="1" lang="it" sz="1500">
                <a:solidFill>
                  <a:schemeClr val="dk1"/>
                </a:solidFill>
              </a:rPr>
              <a:t>deterministic</a:t>
            </a:r>
            <a:r>
              <a:rPr lang="it" sz="1500">
                <a:solidFill>
                  <a:schemeClr val="dk1"/>
                </a:solidFill>
              </a:rPr>
              <a:t> or </a:t>
            </a:r>
            <a:r>
              <a:rPr b="1" lang="it" sz="1500">
                <a:solidFill>
                  <a:schemeClr val="dk1"/>
                </a:solidFill>
              </a:rPr>
              <a:t>stochastic </a:t>
            </a:r>
            <a:r>
              <a:rPr lang="it" sz="1500">
                <a:solidFill>
                  <a:schemeClr val="dk1"/>
                </a:solidFill>
              </a:rPr>
              <a:t>(involving the extraction of random numbers)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Canonical ensemble (NVT)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359400" y="927000"/>
            <a:ext cx="8058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Candidate Markov chain samplers: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359400" y="1359750"/>
            <a:ext cx="8694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Markov chain Monte-Carlo (not in this school): update in two steps,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deterministic </a:t>
            </a:r>
            <a:r>
              <a:rPr b="1" lang="it" sz="1500">
                <a:solidFill>
                  <a:schemeClr val="dk1"/>
                </a:solidFill>
              </a:rPr>
              <a:t>trial move</a:t>
            </a:r>
            <a:r>
              <a:rPr lang="it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random </a:t>
            </a:r>
            <a:r>
              <a:rPr b="1" lang="it" sz="1500">
                <a:solidFill>
                  <a:schemeClr val="dk1"/>
                </a:solidFill>
              </a:rPr>
              <a:t>acceptance rule </a:t>
            </a:r>
            <a:r>
              <a:rPr lang="it" sz="1500">
                <a:solidFill>
                  <a:schemeClr val="dk1"/>
                </a:solidFill>
              </a:rPr>
              <a:t>(Metropolis-Hastings)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Limitation: </a:t>
            </a:r>
            <a:r>
              <a:rPr lang="it" sz="1500">
                <a:solidFill>
                  <a:schemeClr val="dk1"/>
                </a:solidFill>
              </a:rPr>
              <a:t>designing trial moves which give large acceptance is hard! (</a:t>
            </a:r>
            <a:r>
              <a:rPr lang="it" sz="1500" u="sng">
                <a:solidFill>
                  <a:schemeClr val="dk1"/>
                </a:solidFill>
              </a:rPr>
              <a:t>property 3 not satisfied</a:t>
            </a:r>
            <a:r>
              <a:rPr lang="it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59400" y="2998295"/>
            <a:ext cx="8694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Velocity Verlet?</a:t>
            </a:r>
            <a:r>
              <a:rPr lang="it" sz="1500">
                <a:solidFill>
                  <a:schemeClr val="dk1"/>
                </a:solidFill>
              </a:rPr>
              <a:t> Is it a good sampler of               ?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deterministic update: 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 u="sng">
                <a:solidFill>
                  <a:schemeClr val="dk1"/>
                </a:solidFill>
              </a:rPr>
              <a:t>Property 1 (stationarity) satisfied</a:t>
            </a:r>
            <a:r>
              <a:rPr b="1" lang="it" sz="1500">
                <a:solidFill>
                  <a:schemeClr val="dk1"/>
                </a:solidFill>
              </a:rPr>
              <a:t> </a:t>
            </a:r>
            <a:r>
              <a:rPr lang="it" sz="1500">
                <a:solidFill>
                  <a:schemeClr val="dk1"/>
                </a:solidFill>
              </a:rPr>
              <a:t>(can be shown) 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 u="sng">
                <a:solidFill>
                  <a:schemeClr val="dk1"/>
                </a:solidFill>
              </a:rPr>
              <a:t>Property 2 (ergodicity) not satisfied</a:t>
            </a:r>
            <a:r>
              <a:rPr lang="it" sz="1500">
                <a:solidFill>
                  <a:schemeClr val="dk1"/>
                </a:solidFill>
              </a:rPr>
              <a:t>: dynamics stuck to subregion of phase space with  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93" name="Google Shape;193;p21" title="Screenshot 2026-08-30 at 15.33.57.png"/>
          <p:cNvPicPr preferRelativeResize="0"/>
          <p:nvPr/>
        </p:nvPicPr>
        <p:blipFill rotWithShape="1">
          <a:blip r:embed="rId3">
            <a:alphaModFix/>
          </a:blip>
          <a:srcRect b="0" l="0" r="65344" t="0"/>
          <a:stretch/>
        </p:blipFill>
        <p:spPr>
          <a:xfrm>
            <a:off x="4195026" y="3018561"/>
            <a:ext cx="753924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MATH_FORMULA::v1::H\left(\Gamma)=const\right.=H\left(\Gamma_0\right)"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812" y="4516031"/>
            <a:ext cx="2115486" cy="2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title="Screenshot 2026-08-30 at 17.53.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0143" y="3354379"/>
            <a:ext cx="4821066" cy="4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859977" y="2542825"/>
            <a:ext cx="7139400" cy="646500"/>
          </a:xfrm>
          <a:prstGeom prst="roundRect">
            <a:avLst>
              <a:gd fmla="val 1040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Canonical ensemble (NVT)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359400" y="939163"/>
            <a:ext cx="805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Can we couple Velocity Verlet to an update rule that modifies energy according to the NVT distribution, achieving ergodicity?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2133947" y="1683650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Velocity Verlet</a:t>
            </a:r>
            <a:endParaRPr/>
          </a:p>
        </p:txBody>
      </p:sp>
      <p:cxnSp>
        <p:nvCxnSpPr>
          <p:cNvPr id="206" name="Google Shape;206;p22"/>
          <p:cNvCxnSpPr>
            <a:endCxn id="205" idx="3"/>
          </p:cNvCxnSpPr>
          <p:nvPr/>
        </p:nvCxnSpPr>
        <p:spPr>
          <a:xfrm>
            <a:off x="2963447" y="2006900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2"/>
          <p:cNvSpPr txBox="1"/>
          <p:nvPr/>
        </p:nvSpPr>
        <p:spPr>
          <a:xfrm>
            <a:off x="3421247" y="1683662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Update energy</a:t>
            </a:r>
            <a:endParaRPr/>
          </a:p>
        </p:txBody>
      </p:sp>
      <p:cxnSp>
        <p:nvCxnSpPr>
          <p:cNvPr id="208" name="Google Shape;208;p22"/>
          <p:cNvCxnSpPr/>
          <p:nvPr/>
        </p:nvCxnSpPr>
        <p:spPr>
          <a:xfrm>
            <a:off x="1789547" y="2006900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22"/>
          <p:cNvSpPr txBox="1"/>
          <p:nvPr/>
        </p:nvSpPr>
        <p:spPr>
          <a:xfrm>
            <a:off x="4582972" y="1683650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Velocity Verlet</a:t>
            </a:r>
            <a:endParaRPr/>
          </a:p>
        </p:txBody>
      </p:sp>
      <p:cxnSp>
        <p:nvCxnSpPr>
          <p:cNvPr id="210" name="Google Shape;210;p22"/>
          <p:cNvCxnSpPr>
            <a:endCxn id="209" idx="3"/>
          </p:cNvCxnSpPr>
          <p:nvPr/>
        </p:nvCxnSpPr>
        <p:spPr>
          <a:xfrm>
            <a:off x="5412472" y="2006900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22"/>
          <p:cNvSpPr txBox="1"/>
          <p:nvPr/>
        </p:nvSpPr>
        <p:spPr>
          <a:xfrm>
            <a:off x="5870272" y="1683662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Update energy</a:t>
            </a:r>
            <a:endParaRPr/>
          </a:p>
        </p:txBody>
      </p:sp>
      <p:cxnSp>
        <p:nvCxnSpPr>
          <p:cNvPr id="212" name="Google Shape;212;p22"/>
          <p:cNvCxnSpPr/>
          <p:nvPr/>
        </p:nvCxnSpPr>
        <p:spPr>
          <a:xfrm>
            <a:off x="4238572" y="2006900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2"/>
          <p:cNvCxnSpPr/>
          <p:nvPr/>
        </p:nvCxnSpPr>
        <p:spPr>
          <a:xfrm>
            <a:off x="6641297" y="2006900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22"/>
          <p:cNvSpPr txBox="1"/>
          <p:nvPr/>
        </p:nvSpPr>
        <p:spPr>
          <a:xfrm>
            <a:off x="1394482" y="1799150"/>
            <a:ext cx="34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7032006" y="1799150"/>
            <a:ext cx="34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1345393" y="3517500"/>
            <a:ext cx="7324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In other words, we would have a sampler of the canonical distribution!</a:t>
            </a:r>
            <a:endParaRPr/>
          </a:p>
        </p:txBody>
      </p:sp>
      <p:cxnSp>
        <p:nvCxnSpPr>
          <p:cNvPr id="217" name="Google Shape;217;p22"/>
          <p:cNvCxnSpPr/>
          <p:nvPr/>
        </p:nvCxnSpPr>
        <p:spPr>
          <a:xfrm>
            <a:off x="4371875" y="3191000"/>
            <a:ext cx="0" cy="40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22"/>
          <p:cNvSpPr txBox="1"/>
          <p:nvPr/>
        </p:nvSpPr>
        <p:spPr>
          <a:xfrm>
            <a:off x="859969" y="2530075"/>
            <a:ext cx="732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If we could find an </a:t>
            </a:r>
            <a:r>
              <a:rPr b="1" lang="it" sz="1500">
                <a:solidFill>
                  <a:schemeClr val="dk1"/>
                </a:solidFill>
              </a:rPr>
              <a:t>energy update rule</a:t>
            </a:r>
            <a:r>
              <a:rPr lang="it" sz="1500">
                <a:solidFill>
                  <a:schemeClr val="dk1"/>
                </a:solidFill>
              </a:rPr>
              <a:t> which is stationary wrt NVT distribution, we would achieve ergodicity will preserving stationarity!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Canonical ensemble (NVT)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311700" y="933588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It turns out that a simple way to do this is </a:t>
            </a:r>
            <a:r>
              <a:rPr b="1" lang="it" sz="1500">
                <a:solidFill>
                  <a:schemeClr val="dk1"/>
                </a:solidFill>
              </a:rPr>
              <a:t>updating only the kinetic energy part</a:t>
            </a:r>
            <a:endParaRPr b="1"/>
          </a:p>
        </p:txBody>
      </p:sp>
      <p:pic>
        <p:nvPicPr>
          <p:cNvPr id="227" name="Google Shape;227;p23" title="{&quot;red&quot;:0,&quot;green&quot;:0,&quot;blue&quot;:0,&quot;origURL&quot;:&quot;https://saxarona.github.io/mathjax-viewer/?input=%20%5Cmathcal%7BP%7D_%7B%5Ctext%7BNVT%7D%7D%20(%5C%7B%20%5Cmathbf%7Bq%7D_i%20%5C%7D%2C%20%5C%7B%20%5Cmathbf%7Bp%7D_i%20%5C%7D)%20%5Cpropto%20%5Cexp%5Cbig(%20-%5Cbeta%20U(%5C%7B%20%5Cmathbf%7Bq%7D_i%20%5C%7D)%5Cbig)%20%5Cexp%5Cbig(%20-%5Cbeta%20K(%5C%7B%20%5Cmathbf%7Bp%7D_i%20%5C%7D)%5Cbig)%20#0&quot;,&quot;size&quot;:15,&quot;width&quot;:607.7007874015748,&quot;height&quot;:83.5275590551181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175" y="1862591"/>
            <a:ext cx="4467797" cy="21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id&quot;:&quot;1&quot;,&quot;code&quot;:&quot;$$\\propto\\,\\exp\\left(-\\beta \\,U\\left(\\mathbf{\\{q}_{i}\\rbrace\\right)\\right)\\,\\prod_{i=1}^{N}\\,\\exp\\left(-\\beta \\,\\frac{\\mathbf{{p}}_{i}^{2}}{2m_{i}}\\right)$$&quot;,&quot;font&quot;:{&quot;family&quot;:&quot;Arial&quot;,&quot;color&quot;:&quot;#000000&quot;,&quot;size&quot;:12},&quot;aid&quot;:null,&quot;backgroundColor&quot;:&quot;#FFFFFF&quot;,&quot;ts&quot;:1788103338161,&quot;cs&quot;:&quot;pw5t0USz4Mqxwt5SkoUW3A==&quot;,&quot;size&quot;:{&quot;width&quot;:327.5,&quot;height&quot;:56.5}}" id="228" name="Google Shape;2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7956" y="2161885"/>
            <a:ext cx="3119437" cy="53816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3697100" y="2818427"/>
            <a:ext cx="165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difficult to sample</a:t>
            </a:r>
            <a:endParaRPr sz="1300"/>
          </a:p>
        </p:txBody>
      </p:sp>
      <p:sp>
        <p:nvSpPr>
          <p:cNvPr id="230" name="Google Shape;230;p23"/>
          <p:cNvSpPr txBox="1"/>
          <p:nvPr/>
        </p:nvSpPr>
        <p:spPr>
          <a:xfrm>
            <a:off x="5323025" y="2809350"/>
            <a:ext cx="239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easy to sample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(just a product of Gaussians!)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31" name="Google Shape;231;p23"/>
          <p:cNvSpPr/>
          <p:nvPr/>
        </p:nvSpPr>
        <p:spPr>
          <a:xfrm rot="-5400000">
            <a:off x="4341113" y="2146411"/>
            <a:ext cx="177900" cy="1303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 rot="-5400000">
            <a:off x="5855213" y="2032540"/>
            <a:ext cx="173100" cy="1526100"/>
          </a:xfrm>
          <a:prstGeom prst="leftBrace">
            <a:avLst>
              <a:gd fmla="val 65716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311700" y="1349100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How? </a:t>
            </a:r>
            <a:r>
              <a:rPr lang="it" sz="1500">
                <a:solidFill>
                  <a:schemeClr val="dk1"/>
                </a:solidFill>
              </a:rPr>
              <a:t>Distribution is separable in positions and momenta: since </a:t>
            </a:r>
            <a:endParaRPr/>
          </a:p>
        </p:txBody>
      </p:sp>
      <p:pic>
        <p:nvPicPr>
          <p:cNvPr id="234" name="Google Shape;234;p23" title="{&quot;red&quot;:0,&quot;green&quot;:0,&quot;blue&quot;:0,&quot;origURL&quot;:&quot;https://saxarona.github.io/mathjax-viewer/?input=%20H(%5CGamma)%20%3D%20U(%5C%7B%20%5Cmathbf%7Bq%7D_i%20%5C%7D)%20%2B%20K(%20%5C%7B%20%5Cmathbf%7Bp%7D_i%20%5C%7D)%5C%2C%2C#0&quot;,&quot;size&quot;:15,&quot;width&quot;:607.7007874015748,&quot;height&quot;:83.52755905511813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2717" y="1485382"/>
            <a:ext cx="2304287" cy="19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642225" y="3429050"/>
            <a:ext cx="789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A </a:t>
            </a:r>
            <a:r>
              <a:rPr b="1" lang="it" sz="1500">
                <a:solidFill>
                  <a:schemeClr val="dk1"/>
                </a:solidFill>
              </a:rPr>
              <a:t>sampling algorithm for the kinetic energy </a:t>
            </a:r>
            <a:r>
              <a:rPr lang="it" sz="1500">
                <a:solidFill>
                  <a:schemeClr val="dk1"/>
                </a:solidFill>
              </a:rPr>
              <a:t>of the NVT distribution is called </a:t>
            </a:r>
            <a:r>
              <a:rPr b="1" lang="it" sz="1500">
                <a:solidFill>
                  <a:schemeClr val="dk1"/>
                </a:solidFill>
              </a:rPr>
              <a:t>thermostat</a:t>
            </a:r>
            <a:endParaRPr b="1"/>
          </a:p>
        </p:txBody>
      </p:sp>
      <p:sp>
        <p:nvSpPr>
          <p:cNvPr id="236" name="Google Shape;236;p23"/>
          <p:cNvSpPr/>
          <p:nvPr/>
        </p:nvSpPr>
        <p:spPr>
          <a:xfrm>
            <a:off x="613200" y="3394350"/>
            <a:ext cx="7960200" cy="520200"/>
          </a:xfrm>
          <a:prstGeom prst="roundRect">
            <a:avLst>
              <a:gd fmla="val 1040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13200" y="4257150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Hamilton’s eqs. integrator (e.g. Velocity Verlet) + thermostat = sampler of canonical ensemble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613200" y="4204800"/>
            <a:ext cx="8058300" cy="520200"/>
          </a:xfrm>
          <a:prstGeom prst="roundRect">
            <a:avLst>
              <a:gd fmla="val 1040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lang="it" sz="2475"/>
              <a:t>Thermostats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311700" y="1289467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Deterministic</a:t>
            </a:r>
            <a:r>
              <a:rPr lang="it" sz="1500">
                <a:solidFill>
                  <a:schemeClr val="dk1"/>
                </a:solidFill>
              </a:rPr>
              <a:t> vs </a:t>
            </a:r>
            <a:r>
              <a:rPr b="1" lang="it" sz="1500">
                <a:solidFill>
                  <a:schemeClr val="dk1"/>
                </a:solidFill>
              </a:rPr>
              <a:t>stochastic</a:t>
            </a:r>
            <a:r>
              <a:rPr lang="it" sz="1500">
                <a:solidFill>
                  <a:schemeClr val="dk1"/>
                </a:solidFill>
              </a:rPr>
              <a:t> thermostats</a:t>
            </a:r>
            <a:endParaRPr b="1"/>
          </a:p>
        </p:txBody>
      </p:sp>
      <p:sp>
        <p:nvSpPr>
          <p:cNvPr id="247" name="Google Shape;247;p24"/>
          <p:cNvSpPr txBox="1"/>
          <p:nvPr/>
        </p:nvSpPr>
        <p:spPr>
          <a:xfrm>
            <a:off x="311700" y="2508652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/>
              <a:t>Local</a:t>
            </a:r>
            <a:r>
              <a:rPr lang="it" sz="1500"/>
              <a:t> vs </a:t>
            </a:r>
            <a:r>
              <a:rPr b="1" lang="it" sz="1500"/>
              <a:t>global</a:t>
            </a:r>
            <a:r>
              <a:rPr lang="it" sz="1500"/>
              <a:t> thermostats</a:t>
            </a:r>
            <a:endParaRPr sz="1500"/>
          </a:p>
        </p:txBody>
      </p:sp>
      <p:cxnSp>
        <p:nvCxnSpPr>
          <p:cNvPr id="248" name="Google Shape;248;p24"/>
          <p:cNvCxnSpPr/>
          <p:nvPr/>
        </p:nvCxnSpPr>
        <p:spPr>
          <a:xfrm>
            <a:off x="2850450" y="1609254"/>
            <a:ext cx="285300" cy="1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24"/>
          <p:cNvSpPr txBox="1"/>
          <p:nvPr/>
        </p:nvSpPr>
        <p:spPr>
          <a:xfrm>
            <a:off x="1593450" y="1783563"/>
            <a:ext cx="415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Typically equilibrate faster (no slow dumped oscillations), exception: Berendsen</a:t>
            </a:r>
            <a:endParaRPr/>
          </a:p>
        </p:txBody>
      </p:sp>
      <p:cxnSp>
        <p:nvCxnSpPr>
          <p:cNvPr id="250" name="Google Shape;250;p24"/>
          <p:cNvCxnSpPr/>
          <p:nvPr/>
        </p:nvCxnSpPr>
        <p:spPr>
          <a:xfrm>
            <a:off x="1048250" y="2840727"/>
            <a:ext cx="0" cy="2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4"/>
          <p:cNvSpPr txBox="1"/>
          <p:nvPr/>
        </p:nvSpPr>
        <p:spPr>
          <a:xfrm>
            <a:off x="645275" y="3080727"/>
            <a:ext cx="319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update momenta        one by one,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with a different rule per particle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252" name="Google Shape;252;p24"/>
          <p:cNvCxnSpPr/>
          <p:nvPr/>
        </p:nvCxnSpPr>
        <p:spPr>
          <a:xfrm>
            <a:off x="2214500" y="2834502"/>
            <a:ext cx="1721700" cy="3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24"/>
          <p:cNvSpPr txBox="1"/>
          <p:nvPr/>
        </p:nvSpPr>
        <p:spPr>
          <a:xfrm>
            <a:off x="3839975" y="3080727"/>
            <a:ext cx="467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update momenta         globally,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with the same rule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645275" y="3820827"/>
            <a:ext cx="287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requires extracting </a:t>
            </a:r>
            <a:r>
              <a:rPr i="1" lang="it" sz="1500">
                <a:solidFill>
                  <a:schemeClr val="dk1"/>
                </a:solidFill>
              </a:rPr>
              <a:t>3N random numbers</a:t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3839975" y="3820827"/>
            <a:ext cx="287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requires extracting </a:t>
            </a:r>
            <a:r>
              <a:rPr i="1" lang="it" sz="1500">
                <a:solidFill>
                  <a:schemeClr val="dk1"/>
                </a:solidFill>
              </a:rPr>
              <a:t>a single random number </a:t>
            </a:r>
            <a:r>
              <a:rPr lang="it" sz="1500">
                <a:solidFill>
                  <a:schemeClr val="dk1"/>
                </a:solidFill>
              </a:rPr>
              <a:t>(faster!)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56" name="Google Shape;256;p24" title="Screenshot 2026-08-30 at 18.45.14.png"/>
          <p:cNvPicPr preferRelativeResize="0"/>
          <p:nvPr/>
        </p:nvPicPr>
        <p:blipFill rotWithShape="1">
          <a:blip r:embed="rId3">
            <a:alphaModFix/>
          </a:blip>
          <a:srcRect b="0" l="7750" r="9179" t="0"/>
          <a:stretch/>
        </p:blipFill>
        <p:spPr>
          <a:xfrm>
            <a:off x="2204748" y="3157960"/>
            <a:ext cx="360325" cy="27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 title="Screenshot 2026-08-30 at 18.45.14.png"/>
          <p:cNvPicPr preferRelativeResize="0"/>
          <p:nvPr/>
        </p:nvPicPr>
        <p:blipFill rotWithShape="1">
          <a:blip r:embed="rId3">
            <a:alphaModFix/>
          </a:blip>
          <a:srcRect b="0" l="7750" r="9179" t="0"/>
          <a:stretch/>
        </p:blipFill>
        <p:spPr>
          <a:xfrm>
            <a:off x="5432000" y="3157960"/>
            <a:ext cx="360325" cy="27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24"/>
          <p:cNvCxnSpPr/>
          <p:nvPr/>
        </p:nvCxnSpPr>
        <p:spPr>
          <a:xfrm>
            <a:off x="2090250" y="3631127"/>
            <a:ext cx="0" cy="2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4"/>
          <p:cNvCxnSpPr/>
          <p:nvPr/>
        </p:nvCxnSpPr>
        <p:spPr>
          <a:xfrm>
            <a:off x="4983350" y="3631127"/>
            <a:ext cx="0" cy="2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24"/>
          <p:cNvSpPr txBox="1"/>
          <p:nvPr/>
        </p:nvSpPr>
        <p:spPr>
          <a:xfrm>
            <a:off x="311700" y="863013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</a:rPr>
              <a:t>Properties:</a:t>
            </a:r>
            <a:endParaRPr sz="1700"/>
          </a:p>
        </p:txBody>
      </p:sp>
      <p:pic>
        <p:nvPicPr>
          <p:cNvPr id="261" name="Google Shape;261;p24" title="oscillations.png"/>
          <p:cNvPicPr preferRelativeResize="0"/>
          <p:nvPr/>
        </p:nvPicPr>
        <p:blipFill rotWithShape="1">
          <a:blip r:embed="rId4">
            <a:alphaModFix/>
          </a:blip>
          <a:srcRect b="0" l="6094" r="0" t="0"/>
          <a:stretch/>
        </p:blipFill>
        <p:spPr>
          <a:xfrm>
            <a:off x="5744250" y="1171400"/>
            <a:ext cx="3000000" cy="15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lang="it" sz="2475"/>
              <a:t>Thermostats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311700" y="1327142"/>
            <a:ext cx="80583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/>
              <a:t>Berendsen thermostat:</a:t>
            </a:r>
            <a:r>
              <a:rPr lang="it" sz="1500"/>
              <a:t> deterministic, global (but </a:t>
            </a:r>
            <a:r>
              <a:rPr lang="it" sz="1500"/>
              <a:t>technically</a:t>
            </a:r>
            <a:r>
              <a:rPr lang="it" sz="1500"/>
              <a:t> </a:t>
            </a:r>
            <a:r>
              <a:rPr b="1" lang="it" sz="1500"/>
              <a:t>wrong! </a:t>
            </a:r>
            <a:r>
              <a:rPr lang="it" sz="1500"/>
              <a:t>It samples correctly the mean kinetic energy, not the full distribution</a:t>
            </a:r>
            <a:r>
              <a:rPr lang="it" sz="1500"/>
              <a:t>)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311700" y="863025"/>
            <a:ext cx="415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</a:rPr>
              <a:t>A list of thermostats</a:t>
            </a:r>
            <a:r>
              <a:rPr b="1" lang="it" sz="1700">
                <a:solidFill>
                  <a:schemeClr val="dk1"/>
                </a:solidFill>
              </a:rPr>
              <a:t>:</a:t>
            </a:r>
            <a:endParaRPr sz="1700"/>
          </a:p>
        </p:txBody>
      </p:sp>
      <p:sp>
        <p:nvSpPr>
          <p:cNvPr id="271" name="Google Shape;271;p25"/>
          <p:cNvSpPr txBox="1"/>
          <p:nvPr/>
        </p:nvSpPr>
        <p:spPr>
          <a:xfrm>
            <a:off x="311700" y="2376363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/>
              <a:t>Andersen</a:t>
            </a:r>
            <a:r>
              <a:rPr b="1" lang="it" sz="1500"/>
              <a:t> thermostat:</a:t>
            </a:r>
            <a:r>
              <a:rPr lang="it" sz="1500"/>
              <a:t> stochastic, local 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311700" y="2806313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/>
              <a:t>Langevin</a:t>
            </a:r>
            <a:r>
              <a:rPr b="1" lang="it" sz="1500"/>
              <a:t> thermostat:</a:t>
            </a:r>
            <a:r>
              <a:rPr lang="it" sz="1500"/>
              <a:t> stochastic, local 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311700" y="3258937"/>
            <a:ext cx="521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Nosé-Hoover</a:t>
            </a:r>
            <a:r>
              <a:rPr b="1" lang="it" sz="1500">
                <a:solidFill>
                  <a:schemeClr val="dk1"/>
                </a:solidFill>
              </a:rPr>
              <a:t>: </a:t>
            </a:r>
            <a:r>
              <a:rPr lang="it" sz="1500">
                <a:solidFill>
                  <a:schemeClr val="dk1"/>
                </a:solidFill>
              </a:rPr>
              <a:t>deterministic, local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311700" y="3688895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/>
              <a:t>Stochastic velocity rescaling (v-rescale)</a:t>
            </a:r>
            <a:r>
              <a:rPr b="1" lang="it" sz="1500"/>
              <a:t>:</a:t>
            </a:r>
            <a:r>
              <a:rPr lang="it" sz="1500"/>
              <a:t> stochastic, global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 rot="-1927859">
            <a:off x="6550491" y="2673512"/>
            <a:ext cx="2321115" cy="6811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…More at the hands-on session of this afternoon!</a:t>
            </a:r>
            <a:endParaRPr/>
          </a:p>
        </p:txBody>
      </p:sp>
      <p:cxnSp>
        <p:nvCxnSpPr>
          <p:cNvPr id="276" name="Google Shape;276;p25"/>
          <p:cNvCxnSpPr/>
          <p:nvPr/>
        </p:nvCxnSpPr>
        <p:spPr>
          <a:xfrm>
            <a:off x="997550" y="2164275"/>
            <a:ext cx="70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25"/>
          <p:cNvSpPr txBox="1"/>
          <p:nvPr/>
        </p:nvSpPr>
        <p:spPr>
          <a:xfrm>
            <a:off x="1763525" y="1936250"/>
            <a:ext cx="404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use it for </a:t>
            </a:r>
            <a:r>
              <a:rPr b="1" lang="it" sz="1500">
                <a:solidFill>
                  <a:schemeClr val="dk1"/>
                </a:solidFill>
              </a:rPr>
              <a:t>equilibration</a:t>
            </a:r>
            <a:r>
              <a:rPr lang="it" sz="1500">
                <a:solidFill>
                  <a:schemeClr val="dk1"/>
                </a:solidFill>
              </a:rPr>
              <a:t>, not for </a:t>
            </a:r>
            <a:r>
              <a:rPr b="1" lang="it" sz="1500">
                <a:solidFill>
                  <a:schemeClr val="dk1"/>
                </a:solidFill>
              </a:rPr>
              <a:t>production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/>
          <p:nvPr/>
        </p:nvSpPr>
        <p:spPr>
          <a:xfrm>
            <a:off x="400050" y="209550"/>
            <a:ext cx="85632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lang="it" sz="2475"/>
              <a:t>Isothermal – isobaric</a:t>
            </a: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ensemble (N</a:t>
            </a:r>
            <a:r>
              <a:rPr b="1" lang="it" sz="2475"/>
              <a:t>P</a:t>
            </a: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1753576" y="1318279"/>
            <a:ext cx="4787100" cy="51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6" title="Screenshot 2026-08-31 at 00.09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651" y="1334504"/>
            <a:ext cx="4745160" cy="41957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 txBox="1"/>
          <p:nvPr/>
        </p:nvSpPr>
        <p:spPr>
          <a:xfrm>
            <a:off x="302675" y="834617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/>
              <a:t>Target distribution:</a:t>
            </a:r>
            <a:endParaRPr/>
          </a:p>
        </p:txBody>
      </p:sp>
      <p:cxnSp>
        <p:nvCxnSpPr>
          <p:cNvPr id="288" name="Google Shape;288;p26"/>
          <p:cNvCxnSpPr/>
          <p:nvPr/>
        </p:nvCxnSpPr>
        <p:spPr>
          <a:xfrm>
            <a:off x="3633775" y="167994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6"/>
          <p:cNvCxnSpPr/>
          <p:nvPr/>
        </p:nvCxnSpPr>
        <p:spPr>
          <a:xfrm>
            <a:off x="3633775" y="227624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26"/>
          <p:cNvSpPr txBox="1"/>
          <p:nvPr/>
        </p:nvSpPr>
        <p:spPr>
          <a:xfrm>
            <a:off x="3626975" y="2997029"/>
            <a:ext cx="140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now we know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how to sample it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1" name="Google Shape;291;p26"/>
          <p:cNvSpPr/>
          <p:nvPr/>
        </p:nvSpPr>
        <p:spPr>
          <a:xfrm rot="-5400000">
            <a:off x="4407650" y="2202831"/>
            <a:ext cx="192900" cy="1431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5167600" y="3037079"/>
            <a:ext cx="279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what we need to sample! </a:t>
            </a:r>
            <a:endParaRPr sz="1300"/>
          </a:p>
        </p:txBody>
      </p:sp>
      <p:sp>
        <p:nvSpPr>
          <p:cNvPr id="293" name="Google Shape;293;p26"/>
          <p:cNvSpPr/>
          <p:nvPr/>
        </p:nvSpPr>
        <p:spPr>
          <a:xfrm rot="-5400000">
            <a:off x="6045074" y="2095205"/>
            <a:ext cx="185100" cy="16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color&quot;:&quot;#000000&quot;,&quot;family&quot;:&quot;Arial&quot;,&quot;size&quot;:12},&quot;backgroundColorModified&quot;:false,&quot;aid&quot;:null,&quot;type&quot;:&quot;$$&quot;,&quot;code&quot;:&quot;$$\\propto\\frac{Z_{\\text{NVT}}}{Z_{\\text{NVT}}}\\,\\exp\\big(-\\beta H\\left(\\{\\mathbf{q}_{i},\\,\\mathbf{p}_{i}\\}\\right)\\big)\\,\\exp\\left(-\\beta \\,pV\\right)$$&quot;,&quot;backgroundColor&quot;:&quot;#FFFFFF&quot;,&quot;fontColorModified&quot;:false,&quot;id&quot;:&quot;6&quot;,&quot;ts&quot;:1788340122545,&quot;cs&quot;:&quot;L9BQOe2oCrlEAlcCoX+nuQ==&quot;,&quot;size&quot;:{&quot;width&quot;:360.3333333333333,&quot;height&quot;:41.666666666666664}}" id="294" name="Google Shape;2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1750" y="1906652"/>
            <a:ext cx="3769671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color&quot;:&quot;#000000&quot;,&quot;family&quot;:&quot;Arial&quot;,&quot;size&quot;:14.5},&quot;type&quot;:&quot;$$&quot;,&quot;backgroundColorModified&quot;:false,&quot;fontColorModified&quot;:false,&quot;id&quot;:&quot;6&quot;,&quot;backgroundColor&quot;:&quot;#FFFFFF&quot;,&quot;code&quot;:&quot;$$\\propto\\mathcal{P}_{\\text{NVT}}\\left(\\{\\mathbf{q}_{i},\\,\\mathbf{p}_{i}\\}\\right)\\,Z_{\\text{NVT}}\\exp\\left(-\\beta \\,pV\\right)$$&quot;,&quot;ts&quot;:1788341193673,&quot;cs&quot;:&quot;P2qH9URbugh0p+hd1Xg3tA==&quot;,&quot;size&quot;:{&quot;width&quot;:356.4052559055117,&quot;height&quot;:23.052495538057727}}" id="295" name="Google Shape;29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1750" y="2575054"/>
            <a:ext cx="3394760" cy="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/>
        </p:nvSpPr>
        <p:spPr>
          <a:xfrm>
            <a:off x="3181650" y="3490654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(velocity Verlet + thermostat)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7" name="Google Shape;297;p26"/>
          <p:cNvSpPr txBox="1"/>
          <p:nvPr/>
        </p:nvSpPr>
        <p:spPr>
          <a:xfrm>
            <a:off x="400050" y="3818404"/>
            <a:ext cx="811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N.B.               and </a:t>
            </a:r>
            <a:r>
              <a:rPr i="1" lang="it" sz="1500">
                <a:solidFill>
                  <a:schemeClr val="dk1"/>
                </a:solidFill>
              </a:rPr>
              <a:t>V</a:t>
            </a:r>
            <a:r>
              <a:rPr b="1" lang="it" sz="1500">
                <a:solidFill>
                  <a:schemeClr val="dk1"/>
                </a:solidFill>
              </a:rPr>
              <a:t> </a:t>
            </a:r>
            <a:r>
              <a:rPr lang="it" sz="1500">
                <a:solidFill>
                  <a:schemeClr val="dk1"/>
                </a:solidFill>
              </a:rPr>
              <a:t>are separated in the last expression, so: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a sampler of the NVT distribution is </a:t>
            </a:r>
            <a:r>
              <a:rPr b="1" lang="it" sz="1500">
                <a:solidFill>
                  <a:schemeClr val="dk1"/>
                </a:solidFill>
              </a:rPr>
              <a:t>stationary</a:t>
            </a:r>
            <a:r>
              <a:rPr lang="it" sz="1500">
                <a:solidFill>
                  <a:schemeClr val="dk1"/>
                </a:solidFill>
              </a:rPr>
              <a:t> wrt NPT distribution… 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…but </a:t>
            </a:r>
            <a:r>
              <a:rPr b="1" lang="it" sz="1500">
                <a:solidFill>
                  <a:schemeClr val="dk1"/>
                </a:solidFill>
              </a:rPr>
              <a:t>not ergodic</a:t>
            </a:r>
            <a:r>
              <a:rPr lang="it" sz="1500">
                <a:solidFill>
                  <a:schemeClr val="dk1"/>
                </a:solidFill>
              </a:rPr>
              <a:t> (volume fixed)!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98" name="Google Shape;298;p26" title="Screenshot 2026-08-31 at 00.09.59.png"/>
          <p:cNvPicPr preferRelativeResize="0"/>
          <p:nvPr/>
        </p:nvPicPr>
        <p:blipFill rotWithShape="1">
          <a:blip r:embed="rId3">
            <a:alphaModFix/>
          </a:blip>
          <a:srcRect b="9091" l="13119" r="72228" t="8264"/>
          <a:stretch/>
        </p:blipFill>
        <p:spPr>
          <a:xfrm>
            <a:off x="1364226" y="3881354"/>
            <a:ext cx="695324" cy="34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\\mathcal{P}_{\\text{NPT}}\\left(V\\right)\\,$$&quot;,&quot;aid&quot;:null,&quot;id&quot;:&quot;6&quot;,&quot;fontColorModified&quot;:false,&quot;backgroundColorModified&quot;:false,&quot;backgroundColor&quot;:&quot;#FFFFFF&quot;,&quot;font&quot;:{&quot;color&quot;:&quot;#000000&quot;,&quot;family&quot;:&quot;Arial&quot;,&quot;size&quot;:14.5},&quot;ts&quot;:1788341403692,&quot;cs&quot;:&quot;2tpi1pxlOldsGobUXwQ+SA==&quot;,&quot;size&quot;:{&quot;width&quot;:88.5,&quot;height&quot;:22.666666666666668}}" id="299" name="Google Shape;29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23349" y="3121567"/>
            <a:ext cx="842963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 rot="-566">
            <a:off x="7270750" y="4349833"/>
            <a:ext cx="182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does it ring a bell?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/>
          <p:nvPr/>
        </p:nvSpPr>
        <p:spPr>
          <a:xfrm>
            <a:off x="1206000" y="3648963"/>
            <a:ext cx="6804300" cy="520200"/>
          </a:xfrm>
          <a:prstGeom prst="roundRect">
            <a:avLst>
              <a:gd fmla="val 1040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"/>
          <p:cNvSpPr/>
          <p:nvPr/>
        </p:nvSpPr>
        <p:spPr>
          <a:xfrm>
            <a:off x="961357" y="2920155"/>
            <a:ext cx="7221300" cy="520200"/>
          </a:xfrm>
          <a:prstGeom prst="roundRect">
            <a:avLst>
              <a:gd fmla="val 1040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400050" y="209550"/>
            <a:ext cx="85632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lang="it" sz="2475"/>
              <a:t>Isothermal – isobaric</a:t>
            </a: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ensemble (N</a:t>
            </a:r>
            <a:r>
              <a:rPr b="1" lang="it" sz="2475"/>
              <a:t>P</a:t>
            </a: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1817163" y="1238162"/>
            <a:ext cx="1173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Velocity Verlet</a:t>
            </a:r>
            <a:endParaRPr sz="1300"/>
          </a:p>
        </p:txBody>
      </p:sp>
      <p:cxnSp>
        <p:nvCxnSpPr>
          <p:cNvPr id="311" name="Google Shape;311;p27"/>
          <p:cNvCxnSpPr/>
          <p:nvPr/>
        </p:nvCxnSpPr>
        <p:spPr>
          <a:xfrm>
            <a:off x="2659103" y="1561423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27"/>
          <p:cNvSpPr txBox="1"/>
          <p:nvPr/>
        </p:nvSpPr>
        <p:spPr>
          <a:xfrm>
            <a:off x="3056038" y="1124275"/>
            <a:ext cx="1173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Update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(kinetic) energy</a:t>
            </a:r>
            <a:endParaRPr sz="1300"/>
          </a:p>
        </p:txBody>
      </p:sp>
      <p:cxnSp>
        <p:nvCxnSpPr>
          <p:cNvPr id="313" name="Google Shape;313;p27"/>
          <p:cNvCxnSpPr/>
          <p:nvPr/>
        </p:nvCxnSpPr>
        <p:spPr>
          <a:xfrm>
            <a:off x="1418335" y="1561413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27"/>
          <p:cNvSpPr txBox="1"/>
          <p:nvPr/>
        </p:nvSpPr>
        <p:spPr>
          <a:xfrm>
            <a:off x="5470906" y="1238162"/>
            <a:ext cx="1173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Velocity Verlet</a:t>
            </a:r>
            <a:endParaRPr sz="1300"/>
          </a:p>
        </p:txBody>
      </p:sp>
      <p:cxnSp>
        <p:nvCxnSpPr>
          <p:cNvPr id="315" name="Google Shape;315;p27"/>
          <p:cNvCxnSpPr/>
          <p:nvPr/>
        </p:nvCxnSpPr>
        <p:spPr>
          <a:xfrm>
            <a:off x="6282263" y="1561412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7"/>
          <p:cNvCxnSpPr/>
          <p:nvPr/>
        </p:nvCxnSpPr>
        <p:spPr>
          <a:xfrm>
            <a:off x="5053935" y="1561413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27"/>
          <p:cNvCxnSpPr/>
          <p:nvPr/>
        </p:nvCxnSpPr>
        <p:spPr>
          <a:xfrm>
            <a:off x="7456660" y="1561412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27"/>
          <p:cNvSpPr txBox="1"/>
          <p:nvPr/>
        </p:nvSpPr>
        <p:spPr>
          <a:xfrm>
            <a:off x="1023270" y="1353663"/>
            <a:ext cx="34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7847369" y="1353663"/>
            <a:ext cx="34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4294913" y="1238162"/>
            <a:ext cx="1173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1"/>
                </a:solidFill>
              </a:rPr>
              <a:t>Update volume</a:t>
            </a:r>
            <a:endParaRPr b="1" sz="1300"/>
          </a:p>
        </p:txBody>
      </p:sp>
      <p:cxnSp>
        <p:nvCxnSpPr>
          <p:cNvPr id="321" name="Google Shape;321;p27"/>
          <p:cNvCxnSpPr/>
          <p:nvPr/>
        </p:nvCxnSpPr>
        <p:spPr>
          <a:xfrm>
            <a:off x="3831110" y="1561413"/>
            <a:ext cx="3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27"/>
          <p:cNvSpPr txBox="1"/>
          <p:nvPr/>
        </p:nvSpPr>
        <p:spPr>
          <a:xfrm>
            <a:off x="6659126" y="1192550"/>
            <a:ext cx="1173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Update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(kinetic) energy</a:t>
            </a:r>
            <a:endParaRPr sz="1300"/>
          </a:p>
        </p:txBody>
      </p:sp>
      <p:sp>
        <p:nvSpPr>
          <p:cNvPr id="323" name="Google Shape;323;p27"/>
          <p:cNvSpPr txBox="1"/>
          <p:nvPr/>
        </p:nvSpPr>
        <p:spPr>
          <a:xfrm>
            <a:off x="990382" y="2954855"/>
            <a:ext cx="699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A </a:t>
            </a:r>
            <a:r>
              <a:rPr b="1" lang="it" sz="1500">
                <a:solidFill>
                  <a:schemeClr val="dk1"/>
                </a:solidFill>
              </a:rPr>
              <a:t>sampling algorithm for the volume </a:t>
            </a:r>
            <a:r>
              <a:rPr lang="it" sz="1500">
                <a:solidFill>
                  <a:schemeClr val="dk1"/>
                </a:solidFill>
              </a:rPr>
              <a:t>of the NPT distribution is called </a:t>
            </a:r>
            <a:r>
              <a:rPr b="1" lang="it" sz="1500">
                <a:solidFill>
                  <a:schemeClr val="dk1"/>
                </a:solidFill>
              </a:rPr>
              <a:t>barostat</a:t>
            </a:r>
            <a:endParaRPr b="1"/>
          </a:p>
        </p:txBody>
      </p:sp>
      <p:sp>
        <p:nvSpPr>
          <p:cNvPr id="324" name="Google Shape;324;p27"/>
          <p:cNvSpPr txBox="1"/>
          <p:nvPr/>
        </p:nvSpPr>
        <p:spPr>
          <a:xfrm>
            <a:off x="1206100" y="3701313"/>
            <a:ext cx="680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Hamilton’s eqs. integrator + thermostat + barostat = sampler of NPT ensemble</a:t>
            </a:r>
            <a:endParaRPr/>
          </a:p>
        </p:txBody>
      </p:sp>
      <p:cxnSp>
        <p:nvCxnSpPr>
          <p:cNvPr id="325" name="Google Shape;325;p27"/>
          <p:cNvCxnSpPr/>
          <p:nvPr/>
        </p:nvCxnSpPr>
        <p:spPr>
          <a:xfrm>
            <a:off x="4634025" y="1762407"/>
            <a:ext cx="0" cy="30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27"/>
          <p:cNvSpPr txBox="1"/>
          <p:nvPr/>
        </p:nvSpPr>
        <p:spPr>
          <a:xfrm>
            <a:off x="3446000" y="2160602"/>
            <a:ext cx="26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by sampling it from </a:t>
            </a:r>
            <a:endParaRPr/>
          </a:p>
        </p:txBody>
      </p:sp>
      <p:pic>
        <p:nvPicPr>
          <p:cNvPr descr="{&quot;type&quot;:&quot;$$&quot;,&quot;code&quot;:&quot;$$\\mathcal{P}_{\\text{NPT}}\\left(V\\right)\\,$$&quot;,&quot;aid&quot;:null,&quot;id&quot;:&quot;6&quot;,&quot;fontColorModified&quot;:false,&quot;backgroundColorModified&quot;:false,&quot;backgroundColor&quot;:&quot;#FFFFFF&quot;,&quot;font&quot;:{&quot;color&quot;:&quot;#000000&quot;,&quot;family&quot;:&quot;Arial&quot;,&quot;size&quot;:14.5},&quot;ts&quot;:1788341403692,&quot;cs&quot;:&quot;2tpi1pxlOldsGobUXwQ+SA==&quot;,&quot;size&quot;:{&quot;width&quot;:88.5,&quot;height&quot;:22.666666666666668}}" id="327" name="Google Shape;3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399" y="2263713"/>
            <a:ext cx="842963" cy="2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Barostats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311700" y="874763"/>
            <a:ext cx="415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</a:rPr>
              <a:t>Properties: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311700" y="1323667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Deterministic</a:t>
            </a:r>
            <a:r>
              <a:rPr lang="it" sz="1500">
                <a:solidFill>
                  <a:schemeClr val="dk1"/>
                </a:solidFill>
              </a:rPr>
              <a:t> vs </a:t>
            </a:r>
            <a:r>
              <a:rPr b="1" lang="it" sz="1500">
                <a:solidFill>
                  <a:schemeClr val="dk1"/>
                </a:solidFill>
              </a:rPr>
              <a:t>stochastic</a:t>
            </a:r>
            <a:r>
              <a:rPr lang="it" sz="1500">
                <a:solidFill>
                  <a:schemeClr val="dk1"/>
                </a:solidFill>
              </a:rPr>
              <a:t> thermostats</a:t>
            </a:r>
            <a:endParaRPr b="1"/>
          </a:p>
        </p:txBody>
      </p:sp>
      <p:sp>
        <p:nvSpPr>
          <p:cNvPr id="337" name="Google Shape;337;p28"/>
          <p:cNvSpPr txBox="1"/>
          <p:nvPr/>
        </p:nvSpPr>
        <p:spPr>
          <a:xfrm>
            <a:off x="311700" y="1739167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Local </a:t>
            </a:r>
            <a:r>
              <a:rPr lang="it" sz="1500">
                <a:solidFill>
                  <a:schemeClr val="dk1"/>
                </a:solidFill>
              </a:rPr>
              <a:t>vs </a:t>
            </a:r>
            <a:r>
              <a:rPr b="1" lang="it" sz="1500">
                <a:solidFill>
                  <a:schemeClr val="dk1"/>
                </a:solidFill>
              </a:rPr>
              <a:t>global?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311700" y="2156261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Isotropic </a:t>
            </a:r>
            <a:r>
              <a:rPr lang="it" sz="1500">
                <a:solidFill>
                  <a:schemeClr val="dk1"/>
                </a:solidFill>
              </a:rPr>
              <a:t>vs </a:t>
            </a:r>
            <a:r>
              <a:rPr b="1" lang="it" sz="1500">
                <a:solidFill>
                  <a:schemeClr val="dk1"/>
                </a:solidFill>
              </a:rPr>
              <a:t>anisotropic </a:t>
            </a:r>
            <a:r>
              <a:rPr lang="it" sz="1500">
                <a:solidFill>
                  <a:schemeClr val="dk1"/>
                </a:solidFill>
              </a:rPr>
              <a:t>(vs semi-isotropic)</a:t>
            </a:r>
            <a:endParaRPr/>
          </a:p>
        </p:txBody>
      </p:sp>
      <p:cxnSp>
        <p:nvCxnSpPr>
          <p:cNvPr id="339" name="Google Shape;339;p28"/>
          <p:cNvCxnSpPr/>
          <p:nvPr/>
        </p:nvCxnSpPr>
        <p:spPr>
          <a:xfrm flipH="1">
            <a:off x="1045150" y="1775275"/>
            <a:ext cx="1138500" cy="372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28"/>
          <p:cNvCxnSpPr/>
          <p:nvPr/>
        </p:nvCxnSpPr>
        <p:spPr>
          <a:xfrm rot="10800000">
            <a:off x="1033900" y="1731425"/>
            <a:ext cx="1160700" cy="459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1" name="Google Shape;341;p28" title="anisotropic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8700" y="2571752"/>
            <a:ext cx="2763775" cy="26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title="isotropic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4125" y="2571761"/>
            <a:ext cx="2641243" cy="2518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3" name="Google Shape;343;p28"/>
          <p:cNvCxnSpPr/>
          <p:nvPr/>
        </p:nvCxnSpPr>
        <p:spPr>
          <a:xfrm>
            <a:off x="1406325" y="2506175"/>
            <a:ext cx="514500" cy="38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28"/>
          <p:cNvCxnSpPr/>
          <p:nvPr/>
        </p:nvCxnSpPr>
        <p:spPr>
          <a:xfrm>
            <a:off x="3574075" y="2484300"/>
            <a:ext cx="1281000" cy="48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Barostats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2" name="Google Shape;352;p29"/>
          <p:cNvSpPr txBox="1"/>
          <p:nvPr/>
        </p:nvSpPr>
        <p:spPr>
          <a:xfrm>
            <a:off x="311700" y="874763"/>
            <a:ext cx="415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</a:rPr>
              <a:t>A list of barostats</a:t>
            </a:r>
            <a:r>
              <a:rPr b="1" lang="it" sz="1700">
                <a:solidFill>
                  <a:schemeClr val="dk1"/>
                </a:solidFill>
              </a:rPr>
              <a:t>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311700" y="1323667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Berendsen: </a:t>
            </a:r>
            <a:r>
              <a:rPr lang="it" sz="1500">
                <a:solidFill>
                  <a:schemeClr val="dk1"/>
                </a:solidFill>
              </a:rPr>
              <a:t>deterministic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311700" y="1804517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Parrinello-Rahman</a:t>
            </a:r>
            <a:r>
              <a:rPr b="1" lang="it" sz="1500">
                <a:solidFill>
                  <a:schemeClr val="dk1"/>
                </a:solidFill>
              </a:rPr>
              <a:t>: </a:t>
            </a:r>
            <a:r>
              <a:rPr lang="it" sz="1500">
                <a:solidFill>
                  <a:schemeClr val="dk1"/>
                </a:solidFill>
              </a:rPr>
              <a:t>deterministic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311700" y="2343692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Martyna-Tuckerman-Tobias-Klein (MTTK)</a:t>
            </a:r>
            <a:r>
              <a:rPr b="1" lang="it" sz="1500">
                <a:solidFill>
                  <a:schemeClr val="dk1"/>
                </a:solidFill>
              </a:rPr>
              <a:t>: </a:t>
            </a:r>
            <a:r>
              <a:rPr lang="it" sz="1500">
                <a:solidFill>
                  <a:schemeClr val="dk1"/>
                </a:solidFill>
              </a:rPr>
              <a:t>deterministic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311700" y="2882867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Stochastic cell rescaling</a:t>
            </a:r>
            <a:r>
              <a:rPr b="1" lang="it" sz="1500">
                <a:solidFill>
                  <a:schemeClr val="dk1"/>
                </a:solidFill>
              </a:rPr>
              <a:t> (c-rescale): </a:t>
            </a:r>
            <a:r>
              <a:rPr lang="it" sz="1500">
                <a:solidFill>
                  <a:schemeClr val="dk1"/>
                </a:solidFill>
              </a:rPr>
              <a:t>stochastic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latin typeface="Montserrat SemiBold"/>
                <a:ea typeface="Montserrat SemiBold"/>
                <a:cs typeface="Montserrat SemiBold"/>
                <a:sym typeface="Montserrat SemiBold"/>
              </a:rPr>
              <a:t>Backup slides</a:t>
            </a:r>
            <a:endParaRPr sz="30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0" y="0"/>
            <a:ext cx="427500" cy="5143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93C47D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0"/>
          <p:cNvSpPr/>
          <p:nvPr/>
        </p:nvSpPr>
        <p:spPr>
          <a:xfrm>
            <a:off x="973900" y="2719325"/>
            <a:ext cx="7978800" cy="7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Canonical ensemble (NVT)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1"/>
          <p:cNvSpPr txBox="1"/>
          <p:nvPr/>
        </p:nvSpPr>
        <p:spPr>
          <a:xfrm>
            <a:off x="359400" y="927000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Distribution is separable in positions and momenta: since </a:t>
            </a:r>
            <a:endParaRPr/>
          </a:p>
        </p:txBody>
      </p:sp>
      <p:pic>
        <p:nvPicPr>
          <p:cNvPr id="372" name="Google Shape;372;p31" title="{&quot;red&quot;:0,&quot;green&quot;:0,&quot;blue&quot;:0,&quot;origURL&quot;:&quot;https://saxarona.github.io/mathjax-viewer/?input=%20%5Cmathcal%7BP%7D_%7B%5Ctext%7BNVT%7D%7D%20(%5C%7B%20%5Cmathbf%7Bq%7D_i%20%5C%7D%2C%20%5C%7B%20%5Cmathbf%7Bp%7D_i%20%5C%7D)%20%5Cpropto%20%5Cexp%5Cbig(%20-%5Cbeta%20U(%5C%7B%20%5Cmathbf%7Bq%7D_i%20%5C%7D)%5Cbig)%20%5Cexp%5Cbig(%20-%5Cbeta%20K(%5C%7B%20%5Cmathbf%7Bp%7D_i%20%5C%7D)%5Cbig)%20#0&quot;,&quot;size&quot;:15,&quot;width&quot;:607.7007874015748,&quot;height&quot;:83.5275590551181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725" y="1419925"/>
            <a:ext cx="4467797" cy="2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 title="{&quot;red&quot;:0,&quot;green&quot;:0,&quot;blue&quot;:0,&quot;origURL&quot;:&quot;https://saxarona.github.io/mathjax-viewer/?input=%20H(%5CGamma)%20%3D%20U(%5C%7B%20%5Cmathbf%7Bq%7D_i%20%5C%7D)%20%2B%20K(%20%5C%7B%20%5Cmathbf%7Bp%7D_i%20%5C%7D)%5C%2C%2C#0&quot;,&quot;size&quot;:15,&quot;width&quot;:607.7007874015748,&quot;height&quot;:83.5275590551181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3517" y="1048611"/>
            <a:ext cx="2304287" cy="19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400050" y="1915075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Canonical distribution as a function of the kinetic energy only?</a:t>
            </a:r>
            <a:endParaRPr/>
          </a:p>
        </p:txBody>
      </p:sp>
      <p:sp>
        <p:nvSpPr>
          <p:cNvPr id="375" name="Google Shape;375;p31"/>
          <p:cNvSpPr txBox="1"/>
          <p:nvPr/>
        </p:nvSpPr>
        <p:spPr>
          <a:xfrm>
            <a:off x="1079225" y="2429300"/>
            <a:ext cx="750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Change of variable: </a:t>
            </a:r>
            <a:endParaRPr/>
          </a:p>
        </p:txBody>
      </p:sp>
      <p:pic>
        <p:nvPicPr>
          <p:cNvPr id="376" name="Google Shape;376;p31" title="{&quot;red&quot;:0,&quot;green&quot;:0,&quot;blue&quot;:0,&quot;origURL&quot;:&quot;https://saxarona.github.io/mathjax-viewer/?input=%20%5Cmathcal%7BP%7D_%7B%5Ctext%7BNVT%7D%7D(K)%20%3D%20%5Cint%20d%5CGamma%20%5Cdelta%5Cbig(%20K%20-%20K(%5CGamma)%20%5Cbig)%20%5Cmathcal%7BP%7D_%7B%5Ctext%7BNVT%7D%7D(%5CGamma)%20#0&quot;,&quot;size&quot;:15,&quot;width&quot;:562.1338582677165,&quot;height&quot;:50.90551181102362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9838" y="2429295"/>
            <a:ext cx="3206922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1" title="{&quot;red&quot;:0,&quot;green&quot;:0,&quot;blue&quot;:0,&quot;origURL&quot;:&quot;https://saxarona.github.io/mathjax-viewer/?input=%20%5Cmathcal%7BP%7D_%7B%5Ctext%7BNVT%7D%7D(K)%20%5Cpropto%20K%5E%7B%5Cfrac%7BN_f%7D%7B2%7D-1%7D%20%5Cexp(-%5Cbeta%20K)%20#0&quot;,&quot;size&quot;:15,&quot;width&quot;:236.2204724409449,&quot;height&quot;:69.0708661417322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9850" y="3303519"/>
            <a:ext cx="2435449" cy="287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31"/>
          <p:cNvCxnSpPr/>
          <p:nvPr/>
        </p:nvCxnSpPr>
        <p:spPr>
          <a:xfrm>
            <a:off x="3426975" y="2799600"/>
            <a:ext cx="0" cy="4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31"/>
          <p:cNvSpPr txBox="1"/>
          <p:nvPr/>
        </p:nvSpPr>
        <p:spPr>
          <a:xfrm>
            <a:off x="2929200" y="37441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where </a:t>
            </a: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3466609" y="2770050"/>
            <a:ext cx="46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[...]</a:t>
            </a:r>
            <a:endParaRPr/>
          </a:p>
        </p:txBody>
      </p:sp>
      <p:sp>
        <p:nvSpPr>
          <p:cNvPr id="381" name="Google Shape;381;p31"/>
          <p:cNvSpPr txBox="1"/>
          <p:nvPr/>
        </p:nvSpPr>
        <p:spPr>
          <a:xfrm>
            <a:off x="2246200" y="4290200"/>
            <a:ext cx="226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number of momentum degrees of freedom</a:t>
            </a:r>
            <a:endParaRPr sz="1200"/>
          </a:p>
        </p:txBody>
      </p:sp>
      <p:sp>
        <p:nvSpPr>
          <p:cNvPr id="382" name="Google Shape;382;p31"/>
          <p:cNvSpPr txBox="1"/>
          <p:nvPr/>
        </p:nvSpPr>
        <p:spPr>
          <a:xfrm>
            <a:off x="4064825" y="4290200"/>
            <a:ext cx="153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momentum components</a:t>
            </a:r>
            <a:endParaRPr sz="1200"/>
          </a:p>
        </p:txBody>
      </p:sp>
      <p:sp>
        <p:nvSpPr>
          <p:cNvPr id="383" name="Google Shape;383;p31"/>
          <p:cNvSpPr txBox="1"/>
          <p:nvPr/>
        </p:nvSpPr>
        <p:spPr>
          <a:xfrm>
            <a:off x="5245425" y="4290200"/>
            <a:ext cx="184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number of constraints (e.g. rigid bonds, fixed angles)</a:t>
            </a:r>
            <a:endParaRPr sz="1200"/>
          </a:p>
        </p:txBody>
      </p:sp>
      <p:sp>
        <p:nvSpPr>
          <p:cNvPr id="384" name="Google Shape;384;p31"/>
          <p:cNvSpPr txBox="1"/>
          <p:nvPr/>
        </p:nvSpPr>
        <p:spPr>
          <a:xfrm>
            <a:off x="7150375" y="4266225"/>
            <a:ext cx="192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number of conservation rules (if no external field) </a:t>
            </a:r>
            <a:endParaRPr sz="1200"/>
          </a:p>
        </p:txBody>
      </p:sp>
      <p:pic>
        <p:nvPicPr>
          <p:cNvPr id="385" name="Google Shape;385;p31" title="{&quot;red&quot;:0,&quot;green&quot;:0,&quot;blue&quot;:0,&quot;origURL&quot;:&quot;https://saxarona.github.io/mathjax-viewer/?input=%20N_f%20%3D%203N%20-%20N_c%20-%203#0&quot;,&quot;size&quot;:15,&quot;width&quot;:236.2204724409449,&quot;height&quot;:32.71653543307087,&quot;slideId&quot;:&quot;g3f8954e4f3c_0_269&quot;,&quot;pageElementId&quot;:&quot;g3f8ad3e4761_2_2&quot;,&quot;spaceCount&quot;:32,&quot;spaceStart&quot;:0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5400" y="3888813"/>
            <a:ext cx="1716215" cy="20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31"/>
          <p:cNvCxnSpPr/>
          <p:nvPr/>
        </p:nvCxnSpPr>
        <p:spPr>
          <a:xfrm flipH="1">
            <a:off x="3396539" y="4094565"/>
            <a:ext cx="288300" cy="29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31"/>
          <p:cNvCxnSpPr/>
          <p:nvPr/>
        </p:nvCxnSpPr>
        <p:spPr>
          <a:xfrm>
            <a:off x="4319725" y="4100725"/>
            <a:ext cx="1167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31"/>
          <p:cNvCxnSpPr/>
          <p:nvPr/>
        </p:nvCxnSpPr>
        <p:spPr>
          <a:xfrm>
            <a:off x="4883450" y="4071575"/>
            <a:ext cx="447000" cy="3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31"/>
          <p:cNvCxnSpPr>
            <a:stCxn id="385" idx="3"/>
          </p:cNvCxnSpPr>
          <p:nvPr/>
        </p:nvCxnSpPr>
        <p:spPr>
          <a:xfrm>
            <a:off x="5381615" y="3990825"/>
            <a:ext cx="1824900" cy="3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31"/>
          <p:cNvSpPr/>
          <p:nvPr/>
        </p:nvSpPr>
        <p:spPr>
          <a:xfrm>
            <a:off x="2849425" y="3279370"/>
            <a:ext cx="2646300" cy="41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1"/>
          <p:cNvSpPr txBox="1"/>
          <p:nvPr/>
        </p:nvSpPr>
        <p:spPr>
          <a:xfrm>
            <a:off x="5600225" y="3279213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rgbClr val="98C087"/>
                </a:solidFill>
              </a:rPr>
              <a:t>“Gamma distribution”</a:t>
            </a:r>
            <a:endParaRPr b="1">
              <a:solidFill>
                <a:srgbClr val="98C08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lang="it" sz="2475"/>
              <a:t>Andersen thermostat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2"/>
          <p:cNvSpPr txBox="1"/>
          <p:nvPr/>
        </p:nvSpPr>
        <p:spPr>
          <a:xfrm>
            <a:off x="311700" y="934940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/>
              <a:t>Idea: </a:t>
            </a:r>
            <a:r>
              <a:rPr b="1" lang="it" sz="1500"/>
              <a:t>re-sample momenta from scratch every few steps</a:t>
            </a:r>
            <a:r>
              <a:rPr lang="it" sz="1500"/>
              <a:t> (using a stride     )</a:t>
            </a:r>
            <a:endParaRPr sz="1500"/>
          </a:p>
        </p:txBody>
      </p:sp>
      <p:pic>
        <p:nvPicPr>
          <p:cNvPr id="400" name="Google Shape;400;p32" title="andersen_thermost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501" y="1416535"/>
            <a:ext cx="5458999" cy="246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Modified&quot;:false,&quot;id&quot;:&quot;2&quot;,&quot;backgroundColor&quot;:&quot;#FFFFFF&quot;,&quot;code&quot;:&quot;$$n_{s}$$&quot;,&quot;font&quot;:{&quot;color&quot;:&quot;#000000&quot;,&quot;family&quot;:&quot;Arial&quot;,&quot;size&quot;:15.5},&quot;aid&quot;:null,&quot;ts&quot;:1788124302384,&quot;cs&quot;:&quot;FG/WSSguOA6BuHOx57uAEw==&quot;,&quot;size&quot;:{&quot;width&quot;:22.438320209973753,&quot;height&quot;:14.813648293963254}}" id="401" name="Google Shape;40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1327" y="1090575"/>
            <a:ext cx="213725" cy="14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ylish check mark v x icon yes no true false – Royalty-Free Vector |  VectorStock" id="402" name="Google Shape;402;p32"/>
          <p:cNvPicPr preferRelativeResize="0"/>
          <p:nvPr/>
        </p:nvPicPr>
        <p:blipFill rotWithShape="1">
          <a:blip r:embed="rId5">
            <a:alphaModFix/>
          </a:blip>
          <a:srcRect b="44706" l="15570" r="50014" t="29105"/>
          <a:stretch/>
        </p:blipFill>
        <p:spPr>
          <a:xfrm>
            <a:off x="1082050" y="4120318"/>
            <a:ext cx="239525" cy="19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ylish check mark v x icon yes no true false – Royalty-Free Vector |  VectorStock" id="403" name="Google Shape;403;p32"/>
          <p:cNvPicPr preferRelativeResize="0"/>
          <p:nvPr/>
        </p:nvPicPr>
        <p:blipFill rotWithShape="1">
          <a:blip r:embed="rId5">
            <a:alphaModFix/>
          </a:blip>
          <a:srcRect b="44707" l="51275" r="14307" t="25397"/>
          <a:stretch/>
        </p:blipFill>
        <p:spPr>
          <a:xfrm>
            <a:off x="1167668" y="4385521"/>
            <a:ext cx="239525" cy="22464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1581700" y="4010968"/>
            <a:ext cx="38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samples the canonical distribution</a:t>
            </a:r>
            <a:endParaRPr/>
          </a:p>
        </p:txBody>
      </p:sp>
      <p:sp>
        <p:nvSpPr>
          <p:cNvPr id="405" name="Google Shape;405;p32"/>
          <p:cNvSpPr txBox="1"/>
          <p:nvPr/>
        </p:nvSpPr>
        <p:spPr>
          <a:xfrm>
            <a:off x="1581700" y="4385518"/>
            <a:ext cx="380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2"/>
          <p:cNvSpPr txBox="1"/>
          <p:nvPr/>
        </p:nvSpPr>
        <p:spPr>
          <a:xfrm>
            <a:off x="1581700" y="4290100"/>
            <a:ext cx="708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equilibration of momenta is instantaneous, equilibration of positions can be slow </a:t>
            </a:r>
            <a:endParaRPr/>
          </a:p>
        </p:txBody>
      </p:sp>
      <p:pic>
        <p:nvPicPr>
          <p:cNvPr descr="Stylish check mark v x icon yes no true false – Royalty-Free Vector |  VectorStock" id="407" name="Google Shape;407;p32"/>
          <p:cNvPicPr preferRelativeResize="0"/>
          <p:nvPr/>
        </p:nvPicPr>
        <p:blipFill rotWithShape="1">
          <a:blip r:embed="rId5">
            <a:alphaModFix/>
          </a:blip>
          <a:srcRect b="44706" l="15570" r="50014" t="29105"/>
          <a:stretch/>
        </p:blipFill>
        <p:spPr>
          <a:xfrm>
            <a:off x="928143" y="4399443"/>
            <a:ext cx="239525" cy="1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lang="it" sz="2475"/>
              <a:t>Langevin thermostat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3"/>
          <p:cNvSpPr txBox="1"/>
          <p:nvPr/>
        </p:nvSpPr>
        <p:spPr>
          <a:xfrm>
            <a:off x="311700" y="934940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/>
              <a:t>can be seen as a “softer” version of the Langevin thermostat</a:t>
            </a:r>
            <a:endParaRPr sz="1500"/>
          </a:p>
        </p:txBody>
      </p:sp>
      <p:pic>
        <p:nvPicPr>
          <p:cNvPr id="416" name="Google Shape;416;p33" title="langevin_thermostat_alg.png"/>
          <p:cNvPicPr preferRelativeResize="0"/>
          <p:nvPr/>
        </p:nvPicPr>
        <p:blipFill rotWithShape="1">
          <a:blip r:embed="rId3">
            <a:alphaModFix/>
          </a:blip>
          <a:srcRect b="642" l="0" r="0" t="642"/>
          <a:stretch/>
        </p:blipFill>
        <p:spPr>
          <a:xfrm>
            <a:off x="1842501" y="1416535"/>
            <a:ext cx="5458997" cy="246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ylish check mark v x icon yes no true false – Royalty-Free Vector |  VectorStock" id="417" name="Google Shape;417;p33"/>
          <p:cNvPicPr preferRelativeResize="0"/>
          <p:nvPr/>
        </p:nvPicPr>
        <p:blipFill rotWithShape="1">
          <a:blip r:embed="rId4">
            <a:alphaModFix/>
          </a:blip>
          <a:srcRect b="44706" l="15570" r="50014" t="29105"/>
          <a:stretch/>
        </p:blipFill>
        <p:spPr>
          <a:xfrm>
            <a:off x="1082050" y="4120318"/>
            <a:ext cx="239525" cy="19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ylish check mark v x icon yes no true false – Royalty-Free Vector |  VectorStock" id="418" name="Google Shape;418;p33"/>
          <p:cNvPicPr preferRelativeResize="0"/>
          <p:nvPr/>
        </p:nvPicPr>
        <p:blipFill rotWithShape="1">
          <a:blip r:embed="rId4">
            <a:alphaModFix/>
          </a:blip>
          <a:srcRect b="44707" l="51275" r="14307" t="25397"/>
          <a:stretch/>
        </p:blipFill>
        <p:spPr>
          <a:xfrm>
            <a:off x="1167668" y="4385521"/>
            <a:ext cx="239525" cy="224649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3"/>
          <p:cNvSpPr txBox="1"/>
          <p:nvPr/>
        </p:nvSpPr>
        <p:spPr>
          <a:xfrm>
            <a:off x="1581700" y="4010968"/>
            <a:ext cx="38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samples the canonical distribution</a:t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1581700" y="4385518"/>
            <a:ext cx="380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1581700" y="4290100"/>
            <a:ext cx="708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equilibration of momenta is instantaneous, equilibration of positions can be slow </a:t>
            </a:r>
            <a:endParaRPr/>
          </a:p>
        </p:txBody>
      </p:sp>
      <p:pic>
        <p:nvPicPr>
          <p:cNvPr descr="Stylish check mark v x icon yes no true false – Royalty-Free Vector |  VectorStock" id="422" name="Google Shape;422;p33"/>
          <p:cNvPicPr preferRelativeResize="0"/>
          <p:nvPr/>
        </p:nvPicPr>
        <p:blipFill rotWithShape="1">
          <a:blip r:embed="rId4">
            <a:alphaModFix/>
          </a:blip>
          <a:srcRect b="44706" l="15570" r="50014" t="29105"/>
          <a:stretch/>
        </p:blipFill>
        <p:spPr>
          <a:xfrm>
            <a:off x="928143" y="4399443"/>
            <a:ext cx="239525" cy="1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lang="it" sz="2475"/>
              <a:t>Berendsen thermostat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4"/>
          <p:cNvSpPr txBox="1"/>
          <p:nvPr/>
        </p:nvSpPr>
        <p:spPr>
          <a:xfrm>
            <a:off x="311700" y="934940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/>
              <a:t>can be seen as a “softer” version of the Langevin thermostat</a:t>
            </a:r>
            <a:endParaRPr sz="1500"/>
          </a:p>
        </p:txBody>
      </p:sp>
      <p:pic>
        <p:nvPicPr>
          <p:cNvPr id="431" name="Google Shape;431;p34" title="langevin_thermostat_alg.png"/>
          <p:cNvPicPr preferRelativeResize="0"/>
          <p:nvPr/>
        </p:nvPicPr>
        <p:blipFill rotWithShape="1">
          <a:blip r:embed="rId3">
            <a:alphaModFix/>
          </a:blip>
          <a:srcRect b="642" l="0" r="0" t="642"/>
          <a:stretch/>
        </p:blipFill>
        <p:spPr>
          <a:xfrm>
            <a:off x="1842501" y="1416535"/>
            <a:ext cx="5458997" cy="246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ylish check mark v x icon yes no true false – Royalty-Free Vector |  VectorStock" id="432" name="Google Shape;432;p34"/>
          <p:cNvPicPr preferRelativeResize="0"/>
          <p:nvPr/>
        </p:nvPicPr>
        <p:blipFill rotWithShape="1">
          <a:blip r:embed="rId4">
            <a:alphaModFix/>
          </a:blip>
          <a:srcRect b="44706" l="15570" r="50014" t="29105"/>
          <a:stretch/>
        </p:blipFill>
        <p:spPr>
          <a:xfrm>
            <a:off x="1082050" y="4120318"/>
            <a:ext cx="239525" cy="19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ylish check mark v x icon yes no true false – Royalty-Free Vector |  VectorStock" id="433" name="Google Shape;433;p34"/>
          <p:cNvPicPr preferRelativeResize="0"/>
          <p:nvPr/>
        </p:nvPicPr>
        <p:blipFill rotWithShape="1">
          <a:blip r:embed="rId4">
            <a:alphaModFix/>
          </a:blip>
          <a:srcRect b="44707" l="51275" r="14307" t="25397"/>
          <a:stretch/>
        </p:blipFill>
        <p:spPr>
          <a:xfrm>
            <a:off x="1167668" y="4385521"/>
            <a:ext cx="239525" cy="224649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4"/>
          <p:cNvSpPr txBox="1"/>
          <p:nvPr/>
        </p:nvSpPr>
        <p:spPr>
          <a:xfrm>
            <a:off x="1581700" y="4010968"/>
            <a:ext cx="38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samples the canonical distribution</a:t>
            </a:r>
            <a:endParaRPr/>
          </a:p>
        </p:txBody>
      </p:sp>
      <p:sp>
        <p:nvSpPr>
          <p:cNvPr id="435" name="Google Shape;435;p34"/>
          <p:cNvSpPr txBox="1"/>
          <p:nvPr/>
        </p:nvSpPr>
        <p:spPr>
          <a:xfrm>
            <a:off x="1581700" y="4385518"/>
            <a:ext cx="380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4"/>
          <p:cNvSpPr txBox="1"/>
          <p:nvPr/>
        </p:nvSpPr>
        <p:spPr>
          <a:xfrm>
            <a:off x="1581700" y="4290100"/>
            <a:ext cx="708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equilibration of momenta is instantaneous, equilibration of positions can be slow </a:t>
            </a:r>
            <a:endParaRPr/>
          </a:p>
        </p:txBody>
      </p:sp>
      <p:pic>
        <p:nvPicPr>
          <p:cNvPr descr="Stylish check mark v x icon yes no true false – Royalty-Free Vector |  VectorStock" id="437" name="Google Shape;437;p34"/>
          <p:cNvPicPr preferRelativeResize="0"/>
          <p:nvPr/>
        </p:nvPicPr>
        <p:blipFill rotWithShape="1">
          <a:blip r:embed="rId4">
            <a:alphaModFix/>
          </a:blip>
          <a:srcRect b="44706" l="15570" r="50014" t="29105"/>
          <a:stretch/>
        </p:blipFill>
        <p:spPr>
          <a:xfrm>
            <a:off x="928143" y="4399443"/>
            <a:ext cx="239525" cy="1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5"/>
          <p:cNvSpPr/>
          <p:nvPr/>
        </p:nvSpPr>
        <p:spPr>
          <a:xfrm>
            <a:off x="400050" y="209550"/>
            <a:ext cx="4150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2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1" i="0" lang="it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Canonical ensemble (NVT)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5"/>
          <p:cNvSpPr txBox="1"/>
          <p:nvPr/>
        </p:nvSpPr>
        <p:spPr>
          <a:xfrm>
            <a:off x="359400" y="927000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Distribution is separable in positions and momenta: since </a:t>
            </a:r>
            <a:endParaRPr/>
          </a:p>
        </p:txBody>
      </p:sp>
      <p:pic>
        <p:nvPicPr>
          <p:cNvPr id="446" name="Google Shape;446;p35" title="{&quot;red&quot;:0,&quot;green&quot;:0,&quot;blue&quot;:0,&quot;origURL&quot;:&quot;https://saxarona.github.io/mathjax-viewer/?input=%20%5Cmathcal%7BP%7D_%7B%5Ctext%7BNVT%7D%7D%20(%5C%7B%20%5Cmathbf%7Bq%7D_i%20%5C%7D%2C%20%5C%7B%20%5Cmathbf%7Bp%7D_i%20%5C%7D)%20%5Cpropto%20%5Cexp%5Cbig(%20-%5Cbeta%20U(%5C%7B%20%5Cmathbf%7Bq%7D_i%20%5C%7D)%5Cbig)%20%5Cexp%5Cbig(%20-%5Cbeta%20K(%5C%7B%20%5Cmathbf%7Bp%7D_i%20%5C%7D)%5Cbig)%20#0&quot;,&quot;size&quot;:15,&quot;width&quot;:607.7007874015748,&quot;height&quot;:83.5275590551181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725" y="1419925"/>
            <a:ext cx="4467797" cy="2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5" title="{&quot;red&quot;:0,&quot;green&quot;:0,&quot;blue&quot;:0,&quot;origURL&quot;:&quot;https://saxarona.github.io/mathjax-viewer/?input=%20H(%5CGamma)%20%3D%20U(%5C%7B%20%5Cmathbf%7Bq%7D_i%20%5C%7D)%20%2B%20K(%20%5C%7B%20%5Cmathbf%7Bp%7D_i%20%5C%7D)%5C%2C%2C#0&quot;,&quot;size&quot;:15,&quot;width&quot;:607.7007874015748,&quot;height&quot;:83.5275590551181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3517" y="1048611"/>
            <a:ext cx="2304287" cy="19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5"/>
          <p:cNvSpPr txBox="1"/>
          <p:nvPr/>
        </p:nvSpPr>
        <p:spPr>
          <a:xfrm>
            <a:off x="400050" y="1915075"/>
            <a:ext cx="805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Canonical distribution as a function of the kinetic energy only?</a:t>
            </a:r>
            <a:endParaRPr/>
          </a:p>
        </p:txBody>
      </p:sp>
      <p:sp>
        <p:nvSpPr>
          <p:cNvPr id="449" name="Google Shape;449;p35"/>
          <p:cNvSpPr txBox="1"/>
          <p:nvPr/>
        </p:nvSpPr>
        <p:spPr>
          <a:xfrm>
            <a:off x="1079225" y="2429300"/>
            <a:ext cx="750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Change of variable: </a:t>
            </a:r>
            <a:endParaRPr/>
          </a:p>
        </p:txBody>
      </p:sp>
      <p:pic>
        <p:nvPicPr>
          <p:cNvPr id="450" name="Google Shape;450;p35" title="{&quot;red&quot;:0,&quot;green&quot;:0,&quot;blue&quot;:0,&quot;origURL&quot;:&quot;https://saxarona.github.io/mathjax-viewer/?input=%20%5Cmathcal%7BP%7D_%7B%5Ctext%7BNVT%7D%7D(K)%20%3D%20%5Cint%20d%5CGamma%20%5Cdelta%5Cbig(%20K%20-%20K(%5CGamma)%20%5Cbig)%20%5Cmathcal%7BP%7D_%7B%5Ctext%7BNVT%7D%7D(%5CGamma)%20#0&quot;,&quot;size&quot;:15,&quot;width&quot;:562.1338582677165,&quot;height&quot;:50.90551181102362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9838" y="2429295"/>
            <a:ext cx="3206922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5" title="{&quot;red&quot;:0,&quot;green&quot;:0,&quot;blue&quot;:0,&quot;origURL&quot;:&quot;https://saxarona.github.io/mathjax-viewer/?input=%20%5Cmathcal%7BP%7D_%7B%5Ctext%7BNVT%7D%7D(K)%20%5Cpropto%20K%5E%7B%5Cfrac%7BN_f%7D%7B2%7D-1%7D%20%5Cexp(-%5Cbeta%20K)%20#0&quot;,&quot;size&quot;:15,&quot;width&quot;:236.2204724409449,&quot;height&quot;:69.0708661417322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9850" y="3303519"/>
            <a:ext cx="2435449" cy="287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2" name="Google Shape;452;p35"/>
          <p:cNvCxnSpPr/>
          <p:nvPr/>
        </p:nvCxnSpPr>
        <p:spPr>
          <a:xfrm>
            <a:off x="3426975" y="2799600"/>
            <a:ext cx="0" cy="4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3" name="Google Shape;453;p35"/>
          <p:cNvSpPr txBox="1"/>
          <p:nvPr/>
        </p:nvSpPr>
        <p:spPr>
          <a:xfrm>
            <a:off x="2929200" y="37441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where </a:t>
            </a:r>
            <a:endParaRPr/>
          </a:p>
        </p:txBody>
      </p:sp>
      <p:sp>
        <p:nvSpPr>
          <p:cNvPr id="454" name="Google Shape;454;p35"/>
          <p:cNvSpPr txBox="1"/>
          <p:nvPr/>
        </p:nvSpPr>
        <p:spPr>
          <a:xfrm>
            <a:off x="3466609" y="2770050"/>
            <a:ext cx="46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[...]</a:t>
            </a:r>
            <a:endParaRPr/>
          </a:p>
        </p:txBody>
      </p:sp>
      <p:sp>
        <p:nvSpPr>
          <p:cNvPr id="455" name="Google Shape;455;p35"/>
          <p:cNvSpPr txBox="1"/>
          <p:nvPr/>
        </p:nvSpPr>
        <p:spPr>
          <a:xfrm>
            <a:off x="2246200" y="4290200"/>
            <a:ext cx="226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number of momentum degrees of freedom</a:t>
            </a:r>
            <a:endParaRPr sz="1200"/>
          </a:p>
        </p:txBody>
      </p:sp>
      <p:sp>
        <p:nvSpPr>
          <p:cNvPr id="456" name="Google Shape;456;p35"/>
          <p:cNvSpPr txBox="1"/>
          <p:nvPr/>
        </p:nvSpPr>
        <p:spPr>
          <a:xfrm>
            <a:off x="4064825" y="4290200"/>
            <a:ext cx="153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momentum components</a:t>
            </a:r>
            <a:endParaRPr sz="1200"/>
          </a:p>
        </p:txBody>
      </p:sp>
      <p:sp>
        <p:nvSpPr>
          <p:cNvPr id="457" name="Google Shape;457;p35"/>
          <p:cNvSpPr txBox="1"/>
          <p:nvPr/>
        </p:nvSpPr>
        <p:spPr>
          <a:xfrm>
            <a:off x="5245425" y="4290200"/>
            <a:ext cx="184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number of constraints (e.g. rigid bonds, fixed angles)</a:t>
            </a:r>
            <a:endParaRPr sz="1200"/>
          </a:p>
        </p:txBody>
      </p:sp>
      <p:sp>
        <p:nvSpPr>
          <p:cNvPr id="458" name="Google Shape;458;p35"/>
          <p:cNvSpPr txBox="1"/>
          <p:nvPr/>
        </p:nvSpPr>
        <p:spPr>
          <a:xfrm>
            <a:off x="7150375" y="4266225"/>
            <a:ext cx="192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number of conservation rules (if no external field) </a:t>
            </a:r>
            <a:endParaRPr sz="1200"/>
          </a:p>
        </p:txBody>
      </p:sp>
      <p:pic>
        <p:nvPicPr>
          <p:cNvPr id="459" name="Google Shape;459;p35" title="{&quot;red&quot;:0,&quot;green&quot;:0,&quot;blue&quot;:0,&quot;origURL&quot;:&quot;https://saxarona.github.io/mathjax-viewer/?input=%20N_f%20%3D%203N%20-%20N_c%20-%203#0&quot;,&quot;size&quot;:15,&quot;width&quot;:236.2204724409449,&quot;height&quot;:32.71653543307087,&quot;slideId&quot;:&quot;g3f8954e4f3c_0_269&quot;,&quot;pageElementId&quot;:&quot;g3f8ad3e4761_2_2&quot;,&quot;spaceCount&quot;:32,&quot;spaceStart&quot;:0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5400" y="3888813"/>
            <a:ext cx="1716215" cy="20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35"/>
          <p:cNvCxnSpPr/>
          <p:nvPr/>
        </p:nvCxnSpPr>
        <p:spPr>
          <a:xfrm flipH="1">
            <a:off x="3396539" y="4094565"/>
            <a:ext cx="288300" cy="29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35"/>
          <p:cNvCxnSpPr/>
          <p:nvPr/>
        </p:nvCxnSpPr>
        <p:spPr>
          <a:xfrm>
            <a:off x="4319725" y="4100725"/>
            <a:ext cx="1167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35"/>
          <p:cNvCxnSpPr/>
          <p:nvPr/>
        </p:nvCxnSpPr>
        <p:spPr>
          <a:xfrm>
            <a:off x="4883450" y="4071575"/>
            <a:ext cx="447000" cy="3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" name="Google Shape;463;p35"/>
          <p:cNvCxnSpPr>
            <a:stCxn id="459" idx="3"/>
          </p:cNvCxnSpPr>
          <p:nvPr/>
        </p:nvCxnSpPr>
        <p:spPr>
          <a:xfrm>
            <a:off x="5381615" y="3990825"/>
            <a:ext cx="1824900" cy="3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4" name="Google Shape;464;p35"/>
          <p:cNvSpPr/>
          <p:nvPr/>
        </p:nvSpPr>
        <p:spPr>
          <a:xfrm>
            <a:off x="2849425" y="3279370"/>
            <a:ext cx="2646300" cy="41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5"/>
          <p:cNvSpPr txBox="1"/>
          <p:nvPr/>
        </p:nvSpPr>
        <p:spPr>
          <a:xfrm>
            <a:off x="5600225" y="3279213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rgbClr val="98C087"/>
                </a:solidFill>
              </a:rPr>
              <a:t>“Gamma distribution”</a:t>
            </a:r>
            <a:endParaRPr b="1">
              <a:solidFill>
                <a:srgbClr val="98C08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6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Deriving the Boltzmann distribution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6"/>
          <p:cNvSpPr txBox="1"/>
          <p:nvPr/>
        </p:nvSpPr>
        <p:spPr>
          <a:xfrm>
            <a:off x="359400" y="927000"/>
            <a:ext cx="82242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How to derive it?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it" sz="1500">
                <a:solidFill>
                  <a:schemeClr val="dk1"/>
                </a:solidFill>
              </a:rPr>
              <a:t>From </a:t>
            </a:r>
            <a:r>
              <a:rPr b="1" lang="it" sz="1500">
                <a:solidFill>
                  <a:schemeClr val="dk1"/>
                </a:solidFill>
              </a:rPr>
              <a:t>microcanonical ensemble</a:t>
            </a:r>
            <a:r>
              <a:rPr lang="it" sz="1500">
                <a:solidFill>
                  <a:schemeClr val="dk1"/>
                </a:solidFill>
              </a:rPr>
              <a:t>, splitting a single NVE system in two NVT systems (reservoir + system)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it" sz="1500" u="sng">
                <a:solidFill>
                  <a:schemeClr val="dk1"/>
                </a:solidFill>
              </a:rPr>
              <a:t>From an information-theoretic principle: </a:t>
            </a:r>
            <a:r>
              <a:rPr b="1" lang="it" sz="1500" u="sng">
                <a:solidFill>
                  <a:schemeClr val="dk1"/>
                </a:solidFill>
              </a:rPr>
              <a:t>Maximum Entropy (MaxEnt)</a:t>
            </a:r>
            <a:endParaRPr b="1" sz="1500" u="sng">
              <a:solidFill>
                <a:schemeClr val="dk1"/>
              </a:solidFill>
            </a:endParaRPr>
          </a:p>
        </p:txBody>
      </p:sp>
      <p:sp>
        <p:nvSpPr>
          <p:cNvPr id="473" name="Google Shape;473;p36"/>
          <p:cNvSpPr txBox="1"/>
          <p:nvPr/>
        </p:nvSpPr>
        <p:spPr>
          <a:xfrm>
            <a:off x="801223" y="2527662"/>
            <a:ext cx="770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For simplicity we will write it for a discrete distribution: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474" name="Google Shape;474;p36" title="{&quot;red&quot;:0,&quot;green&quot;:0,&quot;blue&quot;:0,&quot;origURL&quot;:&quot;https://saxarona.github.io/mathjax-viewer/?input=%20p(%5CGamma)%20%5Crightarrow%20p_i%20%3D%20p(%5CGamma_i)%20#0&quot;,&quot;size&quot;:15,&quot;width&quot;:591.7559055118111,&quot;height&quot;:53.62204724409449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398" y="3360064"/>
            <a:ext cx="1656207" cy="216027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6"/>
          <p:cNvSpPr txBox="1"/>
          <p:nvPr/>
        </p:nvSpPr>
        <p:spPr>
          <a:xfrm>
            <a:off x="3420700" y="2943150"/>
            <a:ext cx="49575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error of the approximation can be made arbitrarily small by taking a grid which is “fine enough”</a:t>
            </a:r>
            <a:endParaRPr/>
          </a:p>
        </p:txBody>
      </p:sp>
      <p:sp>
        <p:nvSpPr>
          <p:cNvPr id="476" name="Google Shape;476;p36"/>
          <p:cNvSpPr/>
          <p:nvPr/>
        </p:nvSpPr>
        <p:spPr>
          <a:xfrm>
            <a:off x="3147623" y="2943139"/>
            <a:ext cx="123000" cy="681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7" name="Google Shape;477;p36"/>
          <p:cNvCxnSpPr>
            <a:stCxn id="472" idx="2"/>
          </p:cNvCxnSpPr>
          <p:nvPr/>
        </p:nvCxnSpPr>
        <p:spPr>
          <a:xfrm>
            <a:off x="4471500" y="2139000"/>
            <a:ext cx="0" cy="39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78" name="Google Shape;478;p36" title="{&quot;red&quot;:0,&quot;green&quot;:0,&quot;blue&quot;:0,&quot;origURL&quot;:&quot;https://saxarona.github.io/mathjax-viewer/?input=%20%5CGamma%20%5Cin%20%5Cmathbb%7BR%7D%5E%7B6N%7D%20%5Crightarrow%20%5CGamma%20%5Cin%20%5C%7B%20%5CGamma_i%20%5C%7D%20#0&quot;,&quot;size&quot;:15,&quot;width&quot;:591.7559055118111,&quot;height&quot;:53.62204724409449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1398" y="3016415"/>
            <a:ext cx="1896237" cy="24003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6"/>
          <p:cNvSpPr txBox="1"/>
          <p:nvPr/>
        </p:nvSpPr>
        <p:spPr>
          <a:xfrm>
            <a:off x="801225" y="3732125"/>
            <a:ext cx="778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[Just a matter of convenience: same results can be obtained in the continuous case]</a:t>
            </a:r>
            <a:endParaRPr/>
          </a:p>
        </p:txBody>
      </p:sp>
      <p:sp>
        <p:nvSpPr>
          <p:cNvPr id="480" name="Google Shape;48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37" title="surpris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966" y="843244"/>
            <a:ext cx="2458512" cy="14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7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Deriving the Boltzmann distribution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7" name="Google Shape;487;p37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7"/>
          <p:cNvSpPr txBox="1"/>
          <p:nvPr/>
        </p:nvSpPr>
        <p:spPr>
          <a:xfrm>
            <a:off x="311700" y="921975"/>
            <a:ext cx="530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Definitions </a:t>
            </a:r>
            <a:r>
              <a:rPr lang="it" sz="1500">
                <a:solidFill>
                  <a:schemeClr val="dk1"/>
                </a:solidFill>
              </a:rPr>
              <a:t>(from Information Theory)</a:t>
            </a:r>
            <a:endParaRPr/>
          </a:p>
        </p:txBody>
      </p:sp>
      <p:sp>
        <p:nvSpPr>
          <p:cNvPr id="489" name="Google Shape;489;p37"/>
          <p:cNvSpPr txBox="1"/>
          <p:nvPr/>
        </p:nvSpPr>
        <p:spPr>
          <a:xfrm>
            <a:off x="311700" y="1337475"/>
            <a:ext cx="759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Surprisal (of an event): </a:t>
            </a:r>
            <a:r>
              <a:rPr i="1" lang="it" sz="1500">
                <a:solidFill>
                  <a:schemeClr val="dk1"/>
                </a:solidFill>
              </a:rPr>
              <a:t>“How unlikely is the configuration     ?”</a:t>
            </a:r>
            <a:endParaRPr i="1" sz="1500">
              <a:solidFill>
                <a:schemeClr val="dk1"/>
              </a:solidFill>
            </a:endParaRPr>
          </a:p>
        </p:txBody>
      </p:sp>
      <p:pic>
        <p:nvPicPr>
          <p:cNvPr id="490" name="Google Shape;490;p37" title="{&quot;red&quot;:0,&quot;green&quot;:0,&quot;blue&quot;:0,&quot;origURL&quot;:&quot;https://saxarona.github.io/mathjax-viewer/?input=%20S%5Bp%5D%20%3D%20%5Cmathbb%7BE%7D%5Cleft%5B%20s(%5CGamma)%20%5Cright%5D%20%3D%20-%5Csum_i%20p_i%20%5Clog%20p_i#0&quot;,&quot;size&quot;:15,&quot;width&quot;:563.1023622047244,&quot;height&quot;:32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575" y="2858475"/>
            <a:ext cx="2945501" cy="4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7" title="{&quot;red&quot;:0,&quot;green&quot;:0,&quot;blue&quot;:0,&quot;origURL&quot;:&quot;https://saxarona.github.io/mathjax-viewer/?input=%20s(%5CGamma_i)%20%3D%20-%5Clog(p_i)%20#0&quot;,&quot;size&quot;:15,&quot;width&quot;:236.2204724409449,&quot;height&quot;:32.71653543307087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8575" y="1880875"/>
            <a:ext cx="1560193" cy="21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7"/>
          <p:cNvSpPr txBox="1"/>
          <p:nvPr/>
        </p:nvSpPr>
        <p:spPr>
          <a:xfrm>
            <a:off x="311700" y="2313400"/>
            <a:ext cx="906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Shannon entropy (of the distribution): </a:t>
            </a:r>
            <a:r>
              <a:rPr i="1" lang="it" sz="1500">
                <a:solidFill>
                  <a:schemeClr val="dk1"/>
                </a:solidFill>
              </a:rPr>
              <a:t>“How unlikely is a generic configuration                 ?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493" name="Google Shape;493;p37" title="{&quot;red&quot;:0,&quot;green&quot;:0,&quot;blue&quot;:0,&quot;origURL&quot;:&quot;https://saxarona.github.io/mathjax-viewer/?input=%20p(%5CGamma)%20%5Crightarrow%20p_i%20%3D%20p(%5CGamma_i)%20#0&quot;,&quot;size&quot;:15,&quot;width&quot;:591.7559055118111,&quot;height&quot;:53.62204724409449}"/>
          <p:cNvPicPr preferRelativeResize="0"/>
          <p:nvPr/>
        </p:nvPicPr>
        <p:blipFill rotWithShape="1">
          <a:blip r:embed="rId6">
            <a:alphaModFix/>
          </a:blip>
          <a:srcRect b="-10" l="82585" r="5793" t="10"/>
          <a:stretch/>
        </p:blipFill>
        <p:spPr>
          <a:xfrm>
            <a:off x="5816208" y="1445495"/>
            <a:ext cx="192475" cy="2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7" title="{&quot;red&quot;:0,&quot;green&quot;:0,&quot;blue&quot;:0,&quot;origURL&quot;:&quot;https://saxarona.github.io/mathjax-viewer/?input=%20%5CGamma%20%5Cin%20%5Cmathbb%7BR%7D%5E%7B6N%7D%20%5Crightarrow%20%5CGamma%20%5Cin%20%5C%7B%20%5CGamma_i%20%5C%7D%20#0&quot;,&quot;size&quot;:15,&quot;width&quot;:591.7559055118111,&quot;height&quot;:53.62204724409449}"/>
          <p:cNvPicPr preferRelativeResize="0"/>
          <p:nvPr/>
        </p:nvPicPr>
        <p:blipFill rotWithShape="1">
          <a:blip r:embed="rId7">
            <a:alphaModFix/>
          </a:blip>
          <a:srcRect b="0" l="56563" r="0" t="0"/>
          <a:stretch/>
        </p:blipFill>
        <p:spPr>
          <a:xfrm>
            <a:off x="7700153" y="2398821"/>
            <a:ext cx="823650" cy="24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