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ontserrat SemiBold"/>
      <p:regular r:id="rId20"/>
      <p:bold r:id="rId21"/>
      <p:italic r:id="rId22"/>
      <p:boldItalic r:id="rId23"/>
    </p:embeddedFont>
    <p:embeddedFont>
      <p:font typeface="Montserrat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74">
          <p15:clr>
            <a:srgbClr val="747775"/>
          </p15:clr>
        </p15:guide>
        <p15:guide id="2" pos="272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74" orient="horz"/>
        <p:guide pos="2721"/>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SemiBold-regular.fntdata"/><Relationship Id="rId22" Type="http://schemas.openxmlformats.org/officeDocument/2006/relationships/font" Target="fonts/MontserratSemiBold-italic.fntdata"/><Relationship Id="rId21" Type="http://schemas.openxmlformats.org/officeDocument/2006/relationships/font" Target="fonts/MontserratSemiBold-bold.fntdata"/><Relationship Id="rId24" Type="http://schemas.openxmlformats.org/officeDocument/2006/relationships/font" Target="fonts/MontserratMedium-regular.fntdata"/><Relationship Id="rId23" Type="http://schemas.openxmlformats.org/officeDocument/2006/relationships/font" Target="fonts/Montserrat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Medium-italic.fntdata"/><Relationship Id="rId25" Type="http://schemas.openxmlformats.org/officeDocument/2006/relationships/font" Target="fonts/MontserratMedium-bold.fntdata"/><Relationship Id="rId27" Type="http://schemas.openxmlformats.org/officeDocument/2006/relationships/font" Target="fonts/Montserrat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404838b0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404838b0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a88f15a9a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a88f15a9a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fa88f15a9a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fa88f15a9a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a88f15a9a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fa88f15a9a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a88f15a9a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a88f15a9a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a8f63d662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a8f63d662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just">
              <a:lnSpc>
                <a:spcPct val="115000"/>
              </a:lnSpc>
              <a:spcBef>
                <a:spcPts val="1200"/>
              </a:spcBef>
              <a:spcAft>
                <a:spcPts val="0"/>
              </a:spcAft>
              <a:buClr>
                <a:schemeClr val="dk1"/>
              </a:buClr>
              <a:buSzPts val="1100"/>
              <a:buFont typeface="Arial"/>
              <a:buNone/>
            </a:pPr>
            <a:r>
              <a:rPr lang="it">
                <a:solidFill>
                  <a:schemeClr val="dk1"/>
                </a:solidFill>
              </a:rPr>
              <a:t>Imagine that we pick one point in space, r, somewhere around a molecule. We then ask: how much electronic charge is present in a very small region around that point?</a:t>
            </a:r>
            <a:endParaRPr>
              <a:solidFill>
                <a:schemeClr val="dk1"/>
              </a:solidFill>
            </a:endParaRPr>
          </a:p>
          <a:p>
            <a:pPr indent="0" lvl="0" marL="0" marR="381000" rtl="0" algn="just">
              <a:lnSpc>
                <a:spcPct val="115000"/>
              </a:lnSpc>
              <a:spcBef>
                <a:spcPts val="1200"/>
              </a:spcBef>
              <a:spcAft>
                <a:spcPts val="0"/>
              </a:spcAft>
              <a:buClr>
                <a:schemeClr val="dk1"/>
              </a:buClr>
              <a:buSzPts val="1100"/>
              <a:buFont typeface="Arial"/>
              <a:buNone/>
            </a:pPr>
            <a:r>
              <a:rPr lang="it">
                <a:solidFill>
                  <a:schemeClr val="dk1"/>
                </a:solidFill>
              </a:rPr>
              <a:t>The electron density ρ(r) gives us exactly that information. If we multiply it by a tiny volume element dV, we obtain the average number of electrons that we expect to find in that small region of space.</a:t>
            </a:r>
            <a:endParaRPr>
              <a:solidFill>
                <a:schemeClr val="dk1"/>
              </a:solidFill>
            </a:endParaRPr>
          </a:p>
          <a:p>
            <a:pPr indent="0" lvl="0" marL="0" marR="381000" rtl="0" algn="just">
              <a:lnSpc>
                <a:spcPct val="115000"/>
              </a:lnSpc>
              <a:spcBef>
                <a:spcPts val="1200"/>
              </a:spcBef>
              <a:spcAft>
                <a:spcPts val="0"/>
              </a:spcAft>
              <a:buClr>
                <a:schemeClr val="dk1"/>
              </a:buClr>
              <a:buSzPts val="1100"/>
              <a:buFont typeface="Arial"/>
              <a:buNone/>
            </a:pPr>
            <a:r>
              <a:rPr lang="it">
                <a:solidFill>
                  <a:schemeClr val="dk1"/>
                </a:solidFill>
              </a:rPr>
              <a:t>Now, where does this density come from? The full wavefunction depends on the coordinates of all the electrons at the same time. To obtain the density at our chosen point r, we fix one electron at that position and then integrate over all possible positions and spin states of the remaining electrons.</a:t>
            </a:r>
            <a:endParaRPr>
              <a:solidFill>
                <a:schemeClr val="dk1"/>
              </a:solidFill>
            </a:endParaRPr>
          </a:p>
          <a:p>
            <a:pPr indent="0" lvl="0" marL="0" marR="381000" rtl="0" algn="just">
              <a:lnSpc>
                <a:spcPct val="115000"/>
              </a:lnSpc>
              <a:spcBef>
                <a:spcPts val="1200"/>
              </a:spcBef>
              <a:spcAft>
                <a:spcPts val="0"/>
              </a:spcAft>
              <a:buClr>
                <a:schemeClr val="dk1"/>
              </a:buClr>
              <a:buSzPts val="1100"/>
              <a:buFont typeface="Arial"/>
              <a:buNone/>
            </a:pPr>
            <a:r>
              <a:rPr lang="it">
                <a:solidFill>
                  <a:schemeClr val="dk1"/>
                </a:solidFill>
              </a:rPr>
              <a:t>Because electrons are indistinguishable, it does not matter which electron we label as ‘electron 1’. Any of the N electrons could be the one found at r, and that is why the expression contains the factor N.</a:t>
            </a:r>
            <a:endParaRPr>
              <a:solidFill>
                <a:schemeClr val="dk1"/>
              </a:solidFill>
            </a:endParaRPr>
          </a:p>
          <a:p>
            <a:pPr indent="0" lvl="0" marL="0" marR="381000" rtl="0" algn="just">
              <a:lnSpc>
                <a:spcPct val="115000"/>
              </a:lnSpc>
              <a:spcBef>
                <a:spcPts val="1200"/>
              </a:spcBef>
              <a:spcAft>
                <a:spcPts val="0"/>
              </a:spcAft>
              <a:buClr>
                <a:schemeClr val="dk1"/>
              </a:buClr>
              <a:buSzPts val="1100"/>
              <a:buFont typeface="Arial"/>
              <a:buNone/>
            </a:pPr>
            <a:r>
              <a:rPr lang="it">
                <a:solidFill>
                  <a:schemeClr val="dk1"/>
                </a:solidFill>
              </a:rPr>
              <a:t>So after integrating out all the other electronic coordinates, what remains is a much simpler quantity: a function that depends only on position in ordinary three-dimensional space.</a:t>
            </a:r>
            <a:endParaRPr>
              <a:solidFill>
                <a:schemeClr val="dk1"/>
              </a:solidFill>
            </a:endParaRPr>
          </a:p>
          <a:p>
            <a:pPr indent="0" lvl="0" marL="0" marR="381000" rtl="0" algn="just">
              <a:lnSpc>
                <a:spcPct val="115000"/>
              </a:lnSpc>
              <a:spcBef>
                <a:spcPts val="1200"/>
              </a:spcBef>
              <a:spcAft>
                <a:spcPts val="0"/>
              </a:spcAft>
              <a:buClr>
                <a:schemeClr val="dk1"/>
              </a:buClr>
              <a:buSzPts val="1100"/>
              <a:buFont typeface="Arial"/>
              <a:buNone/>
            </a:pPr>
            <a:r>
              <a:rPr lang="it">
                <a:solidFill>
                  <a:schemeClr val="dk1"/>
                </a:solidFill>
              </a:rPr>
              <a:t>And if we repeat this idea at every point in space around the atoms of a molecule, we build up the full electron-density distribution. Regions close to nuclei usually have high electron density, while other regions have lower density.</a:t>
            </a:r>
            <a:endParaRPr>
              <a:solidFill>
                <a:schemeClr val="dk1"/>
              </a:solidFill>
            </a:endParaRPr>
          </a:p>
          <a:p>
            <a:pPr indent="0" lvl="0" marL="0" marR="381000" rtl="0" algn="just">
              <a:lnSpc>
                <a:spcPct val="115000"/>
              </a:lnSpc>
              <a:spcBef>
                <a:spcPts val="1200"/>
              </a:spcBef>
              <a:spcAft>
                <a:spcPts val="0"/>
              </a:spcAft>
              <a:buNone/>
            </a:pPr>
            <a:r>
              <a:rPr lang="it">
                <a:solidFill>
                  <a:schemeClr val="dk1"/>
                </a:solidFill>
              </a:rPr>
              <a:t>Finally, if we integrate the density over all space, we recover the total number of electrons, N.</a:t>
            </a:r>
            <a:endParaRPr>
              <a:solidFill>
                <a:schemeClr val="dk1"/>
              </a:solidFill>
            </a:endParaRPr>
          </a:p>
          <a:p>
            <a:pPr indent="0" lvl="0" marL="0" marR="381000" rtl="0" algn="just">
              <a:lnSpc>
                <a:spcPct val="115000"/>
              </a:lnSpc>
              <a:spcBef>
                <a:spcPts val="1200"/>
              </a:spcBef>
              <a:spcAft>
                <a:spcPts val="1200"/>
              </a:spcAft>
              <a:buNone/>
            </a:pPr>
            <a:r>
              <a:rPr lang="it">
                <a:solidFill>
                  <a:schemeClr val="dk1"/>
                </a:solidFill>
              </a:rPr>
              <a:t>So the electron density is much simpler than the many-electron wavefunction, but still contains a physically meaningful picture of how the electrons are distributed around the nuclei.</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a88f15a9a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a88f15a9a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t>We just saw one of the most important quantities in DFT, the electron density. Let's now look at the second important object: the functional.</a:t>
            </a:r>
            <a:endParaRPr/>
          </a:p>
          <a:p>
            <a:pPr indent="0" lvl="0" marL="0" rtl="0" algn="l">
              <a:lnSpc>
                <a:spcPct val="115000"/>
              </a:lnSpc>
              <a:spcBef>
                <a:spcPts val="1200"/>
              </a:spcBef>
              <a:spcAft>
                <a:spcPts val="0"/>
              </a:spcAft>
              <a:buClr>
                <a:schemeClr val="dk1"/>
              </a:buClr>
              <a:buSzPts val="1100"/>
              <a:buFont typeface="Arial"/>
              <a:buNone/>
            </a:pPr>
            <a:r>
              <a:rPr lang="it"/>
              <a:t>A functional is a mathematical object that takes a function as input and returns a real number.</a:t>
            </a:r>
            <a:endParaRPr/>
          </a:p>
          <a:p>
            <a:pPr indent="0" lvl="0" marL="0" rtl="0" algn="l">
              <a:lnSpc>
                <a:spcPct val="115000"/>
              </a:lnSpc>
              <a:spcBef>
                <a:spcPts val="1200"/>
              </a:spcBef>
              <a:spcAft>
                <a:spcPts val="0"/>
              </a:spcAft>
              <a:buClr>
                <a:schemeClr val="dk1"/>
              </a:buClr>
              <a:buSzPts val="1100"/>
              <a:buFont typeface="Arial"/>
              <a:buNone/>
            </a:pPr>
            <a:r>
              <a:rPr lang="it"/>
              <a:t>Just to distinguish the two: a function takes a scalar as input and returns a scalar — so x, a scalar, maps into f(x). A functional instead takes a function and returns a number — here f (function) maps into F[f] (number). We write ℝ as the codomain because in DFT the functionals we care about — the energy and its pieces — are all real-valued.</a:t>
            </a:r>
            <a:endParaRPr/>
          </a:p>
          <a:p>
            <a:pPr indent="0" lvl="0" marL="0" rtl="0" algn="l">
              <a:lnSpc>
                <a:spcPct val="115000"/>
              </a:lnSpc>
              <a:spcBef>
                <a:spcPts val="1200"/>
              </a:spcBef>
              <a:spcAft>
                <a:spcPts val="0"/>
              </a:spcAft>
              <a:buClr>
                <a:schemeClr val="dk1"/>
              </a:buClr>
              <a:buSzPts val="1100"/>
              <a:buFont typeface="Arial"/>
              <a:buNone/>
            </a:pPr>
            <a:r>
              <a:rPr lang="it"/>
              <a:t>In DFT, our function of interest is the electron density ρ(r), and the total energy is the functional. So E[ρ] (E evaluated at </a:t>
            </a:r>
            <a:r>
              <a:rPr lang="it">
                <a:solidFill>
                  <a:schemeClr val="dk1"/>
                </a:solidFill>
              </a:rPr>
              <a:t>ρ</a:t>
            </a:r>
            <a:r>
              <a:rPr lang="it"/>
              <a:t>) takes the density as input and returns the total energy, a number.</a:t>
            </a:r>
            <a:endParaRPr/>
          </a:p>
          <a:p>
            <a:pPr indent="0" lvl="0" marL="0" rtl="0" algn="l">
              <a:lnSpc>
                <a:spcPct val="115000"/>
              </a:lnSpc>
              <a:spcBef>
                <a:spcPts val="1200"/>
              </a:spcBef>
              <a:spcAft>
                <a:spcPts val="1200"/>
              </a:spcAft>
              <a:buNone/>
            </a:pPr>
            <a:r>
              <a:rPr lang="it"/>
              <a:t>But first of all: how do we know that the ground-state energy is determined by the density alone? This is what the Hohenberg–Kohn theorems answer.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fa88f15a9a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fa88f15a9a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HK theorems limitations: they work only with </a:t>
            </a:r>
            <a:r>
              <a:rPr lang="it">
                <a:solidFill>
                  <a:schemeClr val="dk1"/>
                </a:solidFill>
              </a:rPr>
              <a:t>non-degenerate ground-states and V-representable densities.</a:t>
            </a:r>
            <a:br>
              <a:rPr lang="it">
                <a:solidFill>
                  <a:schemeClr val="dk1"/>
                </a:solidFill>
              </a:rPr>
            </a:br>
            <a:br>
              <a:rPr lang="it">
                <a:solidFill>
                  <a:schemeClr val="dk1"/>
                </a:solidFill>
              </a:rPr>
            </a:br>
            <a:r>
              <a:rPr lang="it">
                <a:solidFill>
                  <a:schemeClr val="dk1"/>
                </a:solidFill>
              </a:rPr>
              <a:t>HK theo_1: “given V_ext you get a unique ρ_GS, and given ρ_GS you can recover V_ext uniquely." The forward direction is trivial (solve the Schrödinger equation, take the density); the non-trivial part that HK-I actually proves is the inverse.</a:t>
            </a:r>
            <a:br>
              <a:rPr lang="it">
                <a:solidFill>
                  <a:schemeClr val="dk1"/>
                </a:solidFill>
              </a:rPr>
            </a:br>
            <a:br>
              <a:rPr lang="it">
                <a:solidFill>
                  <a:schemeClr val="dk1"/>
                </a:solidFill>
              </a:rPr>
            </a:br>
            <a:r>
              <a:rPr lang="it">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Before saying a few words on these theorems, a bit of historical context.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Hohenberg and Kohn presented their two theorems, which are the foundation of DFT, in 1964. Kohn later won the Nobel prize in chemistry — in 1998, shared with John Pople — for the development of density functional theory. Some important additional work was done more than a decade later by Levy and Lieb, who introduced the constrained-search formulation of DFT. This put the theory on firmer mathematical ground and extended it beyond some of the assumptions of the original HK theorems.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I won't go into the proofs, but I want to give you a few essential points.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The first HK theorem proves the one-to-one correspondence between the ground-state density and the external potential. In other words, if you know the ground-state density everywhere, you can in principle recover the external potential that produced it. And since the external potential determines the full Hamiltonian, and the Hamiltonian determines everything about the system, this means that the ground-state density alone determines all the ground-state properties — including the total energy. This is the theorem that tells us we're allowed to use the density as our fundamental variable.</a:t>
            </a:r>
            <a:endParaRPr>
              <a:solidFill>
                <a:schemeClr val="dk1"/>
              </a:solidFill>
            </a:endParaRPr>
          </a:p>
          <a:p>
            <a:pPr indent="0" lvl="0" marL="0" rtl="0" algn="l">
              <a:lnSpc>
                <a:spcPct val="115000"/>
              </a:lnSpc>
              <a:spcBef>
                <a:spcPts val="1200"/>
              </a:spcBef>
              <a:spcAft>
                <a:spcPts val="1200"/>
              </a:spcAft>
              <a:buNone/>
            </a:pPr>
            <a:r>
              <a:rPr lang="it">
                <a:solidFill>
                  <a:schemeClr val="dk1"/>
                </a:solidFill>
              </a:rPr>
              <a:t>The second HK theorem establishes that the GS energy can be written as a universal energy functional of the density — universal meaning it doesn't depend on the specific system — and that this functional obeys a variational principle. This means that the energy functional evaluated at any trial density is greater than or equal to the true ground-state energy, and that the energy functional evaluated at the ground-state density is exactly equal to the ground-state energy. </a:t>
            </a:r>
            <a:br>
              <a:rPr lang="it">
                <a:solidFill>
                  <a:schemeClr val="dk1"/>
                </a:solidFill>
              </a:rPr>
            </a:br>
            <a:br>
              <a:rPr lang="it">
                <a:solidFill>
                  <a:schemeClr val="dk1"/>
                </a:solidFill>
              </a:rPr>
            </a:br>
            <a:r>
              <a:rPr lang="it">
                <a:solidFill>
                  <a:schemeClr val="dk1"/>
                </a:solidFill>
              </a:rPr>
              <a:t>So in principle, we can find the ground state by minimizing E[ρ] over all admissible densities: the density that minimizes the functional </a:t>
            </a:r>
            <a:r>
              <a:rPr i="1" lang="it">
                <a:solidFill>
                  <a:schemeClr val="dk1"/>
                </a:solidFill>
              </a:rPr>
              <a:t>is</a:t>
            </a:r>
            <a:r>
              <a:rPr lang="it">
                <a:solidFill>
                  <a:schemeClr val="dk1"/>
                </a:solidFill>
              </a:rPr>
              <a:t> the true ground-state density, and the value of the functional at that minimum </a:t>
            </a:r>
            <a:r>
              <a:rPr i="1" lang="it">
                <a:solidFill>
                  <a:schemeClr val="dk1"/>
                </a:solidFill>
              </a:rPr>
              <a:t>is</a:t>
            </a:r>
            <a:r>
              <a:rPr lang="it">
                <a:solidFill>
                  <a:schemeClr val="dk1"/>
                </a:solidFill>
              </a:rPr>
              <a:t> the true ground-state energy.</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a88f15a9a_1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a88f15a9a_1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
                <a:solidFill>
                  <a:schemeClr val="dk1"/>
                </a:solidFill>
              </a:rPr>
              <a:t>Now let's look at what the energy functional actually contains. It splits into two pieces: F[ρ], which we'll come to on the next slide, and the integral of V_ext times ρ, which describes the interaction of the electrons with the external potential.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This second piece is the </a:t>
            </a:r>
            <a:r>
              <a:rPr i="1" lang="it">
                <a:solidFill>
                  <a:schemeClr val="dk1"/>
                </a:solidFill>
              </a:rPr>
              <a:t>system-dependent</a:t>
            </a:r>
            <a:r>
              <a:rPr lang="it">
                <a:solidFill>
                  <a:schemeClr val="dk1"/>
                </a:solidFill>
              </a:rPr>
              <a:t> part of the energy: it's what tells us we're looking at hydrogen versus benzene versus bulk silicon. In principle, V_ext can be any external potential the electrons feel — an applied electric field, for instance. In practice, though, for molecules and materials the dominant contribution comes from the attraction between the electrons and the nuclei — the nuclei being treated as external classical charges thanks to the Born–Oppenheimer approximation you saw in the previous lecture. So V_ext takes the familiar Coulomb form: a sum over nuclei K, each with charge Z_K located at position R_K.</a:t>
            </a:r>
            <a:endParaRPr>
              <a:solidFill>
                <a:schemeClr val="dk1"/>
              </a:solidFill>
            </a:endParaRPr>
          </a:p>
          <a:p>
            <a:pPr indent="0" lvl="0" marL="0" rtl="0" algn="l">
              <a:lnSpc>
                <a:spcPct val="115000"/>
              </a:lnSpc>
              <a:spcBef>
                <a:spcPts val="1200"/>
              </a:spcBef>
              <a:spcAft>
                <a:spcPts val="1200"/>
              </a:spcAft>
              <a:buNone/>
            </a:pPr>
            <a:r>
              <a:rPr lang="it">
                <a:solidFill>
                  <a:schemeClr val="dk1"/>
                </a:solidFill>
              </a:rPr>
              <a:t>The nice thing about this term is that we know it completely. We know where the nuclei are, we know their charges, so once we have the density, this integral is straightforward to compute. All the difficulty of DFT sits in the </a:t>
            </a:r>
            <a:r>
              <a:rPr i="1" lang="it">
                <a:solidFill>
                  <a:schemeClr val="dk1"/>
                </a:solidFill>
              </a:rPr>
              <a:t>other</a:t>
            </a:r>
            <a:r>
              <a:rPr lang="it">
                <a:solidFill>
                  <a:schemeClr val="dk1"/>
                </a:solidFill>
              </a:rPr>
              <a:t> term, F[ρ] — which is what we'll look at next.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fb350c59f0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fb350c59f0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rPr>
              <a:t>Now let's look at what the energy functional actually contains. It splits into two pieces: F[ρ], which we'll come to on the next slide, and the integral of V_ext times ρ, which describes the interaction of the electrons with the external potential.</a:t>
            </a:r>
            <a:endParaRPr>
              <a:solidFill>
                <a:schemeClr val="dk1"/>
              </a:solidFill>
            </a:endParaRPr>
          </a:p>
          <a:p>
            <a:pPr indent="0" lvl="0" marL="0" rtl="0" algn="l">
              <a:lnSpc>
                <a:spcPct val="115000"/>
              </a:lnSpc>
              <a:spcBef>
                <a:spcPts val="1200"/>
              </a:spcBef>
              <a:spcAft>
                <a:spcPts val="0"/>
              </a:spcAft>
              <a:buNone/>
            </a:pPr>
            <a:r>
              <a:rPr lang="it">
                <a:solidFill>
                  <a:schemeClr val="dk1"/>
                </a:solidFill>
              </a:rPr>
              <a:t>This second piece is the </a:t>
            </a:r>
            <a:r>
              <a:rPr i="1" lang="it">
                <a:solidFill>
                  <a:schemeClr val="dk1"/>
                </a:solidFill>
              </a:rPr>
              <a:t>system-dependent</a:t>
            </a:r>
            <a:r>
              <a:rPr lang="it">
                <a:solidFill>
                  <a:schemeClr val="dk1"/>
                </a:solidFill>
              </a:rPr>
              <a:t> part of the energy: it's what tells us we're looking at hydrogen versus benzene versus bulk silicon. In principle, V_ext can be any external potential the electrons feel — an applied electric field, for instance. In practice, though, for molecules and materials the dominant contribution comes from the attraction between the electrons and the nuclei — the nuclei being treated as external classical charges thanks to the Born–Oppenheimer approximation you saw in the previous lecture. So V_ext takes the familiar Coulomb form: a sum over nuclei K, each with charge Z_K located at position R_K.</a:t>
            </a:r>
            <a:endParaRPr>
              <a:solidFill>
                <a:schemeClr val="dk1"/>
              </a:solidFill>
            </a:endParaRPr>
          </a:p>
          <a:p>
            <a:pPr indent="0" lvl="0" marL="0" rtl="0" algn="l">
              <a:lnSpc>
                <a:spcPct val="115000"/>
              </a:lnSpc>
              <a:spcBef>
                <a:spcPts val="1200"/>
              </a:spcBef>
              <a:spcAft>
                <a:spcPts val="1200"/>
              </a:spcAft>
              <a:buNone/>
            </a:pPr>
            <a:r>
              <a:rPr lang="it">
                <a:solidFill>
                  <a:schemeClr val="dk1"/>
                </a:solidFill>
              </a:rPr>
              <a:t>The nice thing about this term is that we know it completely. We know where the nuclei are, we know their charges, so once we have the density, this integral is straightforward to compute. All the difficulty of DFT sits in the </a:t>
            </a:r>
            <a:r>
              <a:rPr i="1" lang="it">
                <a:solidFill>
                  <a:schemeClr val="dk1"/>
                </a:solidFill>
              </a:rPr>
              <a:t>other</a:t>
            </a:r>
            <a:r>
              <a:rPr lang="it">
                <a:solidFill>
                  <a:schemeClr val="dk1"/>
                </a:solidFill>
              </a:rPr>
              <a:t> term, F[ρ] — which is what we'll look at next.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fa88f15a9a_1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fa88f15a9a_1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fa88f15a9a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fa88f15a9a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fa88f15a9a_1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fa88f15a9a_1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it" sz="3500">
                <a:latin typeface="Montserrat SemiBold"/>
                <a:ea typeface="Montserrat SemiBold"/>
                <a:cs typeface="Montserrat SemiBold"/>
                <a:sym typeface="Montserrat SemiBold"/>
              </a:rPr>
              <a:t>Density Functional Theory:</a:t>
            </a:r>
            <a:endParaRPr sz="3500">
              <a:latin typeface="Montserrat SemiBold"/>
              <a:ea typeface="Montserrat SemiBold"/>
              <a:cs typeface="Montserrat SemiBold"/>
              <a:sym typeface="Montserrat SemiBold"/>
            </a:endParaRPr>
          </a:p>
          <a:p>
            <a:pPr indent="0" lvl="0" marL="0" rtl="0" algn="ctr">
              <a:spcBef>
                <a:spcPts val="0"/>
              </a:spcBef>
              <a:spcAft>
                <a:spcPts val="0"/>
              </a:spcAft>
              <a:buNone/>
            </a:pPr>
            <a:r>
              <a:rPr lang="it" sz="2500">
                <a:latin typeface="Montserrat SemiBold"/>
                <a:ea typeface="Montserrat SemiBold"/>
                <a:cs typeface="Montserrat SemiBold"/>
                <a:sym typeface="Montserrat SemiBold"/>
              </a:rPr>
              <a:t>Treatment of the Electronic Structure</a:t>
            </a:r>
            <a:endParaRPr sz="2500">
              <a:latin typeface="Montserrat SemiBold"/>
              <a:ea typeface="Montserrat SemiBold"/>
              <a:cs typeface="Montserrat SemiBold"/>
              <a:sym typeface="Montserrat SemiBold"/>
            </a:endParaRPr>
          </a:p>
        </p:txBody>
      </p:sp>
      <p:sp>
        <p:nvSpPr>
          <p:cNvPr id="55" name="Google Shape;55;p13"/>
          <p:cNvSpPr txBox="1"/>
          <p:nvPr>
            <p:ph idx="1" type="subTitle"/>
          </p:nvPr>
        </p:nvSpPr>
        <p:spPr>
          <a:xfrm>
            <a:off x="311700" y="29313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latin typeface="Montserrat Medium"/>
                <a:ea typeface="Montserrat Medium"/>
                <a:cs typeface="Montserrat Medium"/>
                <a:sym typeface="Montserrat Medium"/>
              </a:rPr>
              <a:t>PWF </a:t>
            </a:r>
            <a:r>
              <a:rPr lang="it" sz="1600">
                <a:latin typeface="Montserrat Medium"/>
                <a:ea typeface="Montserrat Medium"/>
                <a:cs typeface="Montserrat Medium"/>
                <a:sym typeface="Montserrat Medium"/>
              </a:rPr>
              <a:t>Summer school on Theoretical and Computational Biophysics</a:t>
            </a:r>
            <a:endParaRPr sz="1600">
              <a:latin typeface="Montserrat Medium"/>
              <a:ea typeface="Montserrat Medium"/>
              <a:cs typeface="Montserrat Medium"/>
              <a:sym typeface="Montserrat Medium"/>
            </a:endParaRPr>
          </a:p>
          <a:p>
            <a:pPr indent="0" lvl="0" marL="0" rtl="0" algn="ctr">
              <a:spcBef>
                <a:spcPts val="0"/>
              </a:spcBef>
              <a:spcAft>
                <a:spcPts val="0"/>
              </a:spcAft>
              <a:buNone/>
            </a:pPr>
            <a:r>
              <a:t/>
            </a:r>
            <a:endParaRPr sz="1800"/>
          </a:p>
        </p:txBody>
      </p:sp>
      <p:sp>
        <p:nvSpPr>
          <p:cNvPr id="56" name="Google Shape;56;p13"/>
          <p:cNvSpPr/>
          <p:nvPr/>
        </p:nvSpPr>
        <p:spPr>
          <a:xfrm>
            <a:off x="0" y="0"/>
            <a:ext cx="427500" cy="5143500"/>
          </a:xfrm>
          <a:prstGeom prst="rect">
            <a:avLst/>
          </a:prstGeom>
          <a:gradFill>
            <a:gsLst>
              <a:gs pos="0">
                <a:srgbClr val="DCECD5"/>
              </a:gs>
              <a:gs pos="100000">
                <a:srgbClr val="92BC81"/>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bl" dir="5400000" dist="19050">
              <a:srgbClr val="93C47D">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 name="Google Shape;57;p13"/>
          <p:cNvSpPr txBox="1"/>
          <p:nvPr/>
        </p:nvSpPr>
        <p:spPr>
          <a:xfrm>
            <a:off x="3187850" y="43506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dk2"/>
                </a:solidFill>
              </a:rPr>
              <a:t>Day 4/5</a:t>
            </a:r>
            <a:endParaRPr sz="1500">
              <a:solidFill>
                <a:schemeClr val="dk2"/>
              </a:solidFill>
            </a:endParaRPr>
          </a:p>
        </p:txBody>
      </p:sp>
      <p:sp>
        <p:nvSpPr>
          <p:cNvPr id="58" name="Google Shape;58;p13"/>
          <p:cNvSpPr txBox="1"/>
          <p:nvPr>
            <p:ph idx="1" type="subTitle"/>
          </p:nvPr>
        </p:nvSpPr>
        <p:spPr>
          <a:xfrm>
            <a:off x="2588150" y="3723900"/>
            <a:ext cx="41994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600">
                <a:latin typeface="Montserrat Medium"/>
                <a:ea typeface="Montserrat Medium"/>
                <a:cs typeface="Montserrat Medium"/>
                <a:sym typeface="Montserrat Medium"/>
              </a:rPr>
              <a:t>University of Colombo</a:t>
            </a:r>
            <a:endParaRPr sz="1600"/>
          </a:p>
        </p:txBody>
      </p:sp>
      <p:pic>
        <p:nvPicPr>
          <p:cNvPr descr="ICTP logo" id="59" name="Google Shape;59;p13"/>
          <p:cNvPicPr preferRelativeResize="0"/>
          <p:nvPr/>
        </p:nvPicPr>
        <p:blipFill>
          <a:blip r:embed="rId3">
            <a:alphaModFix/>
          </a:blip>
          <a:stretch>
            <a:fillRect/>
          </a:stretch>
        </p:blipFill>
        <p:spPr>
          <a:xfrm>
            <a:off x="790925" y="217625"/>
            <a:ext cx="2481185" cy="792600"/>
          </a:xfrm>
          <a:prstGeom prst="rect">
            <a:avLst/>
          </a:prstGeom>
          <a:noFill/>
          <a:ln>
            <a:noFill/>
          </a:ln>
        </p:spPr>
      </p:pic>
      <p:sp>
        <p:nvSpPr>
          <p:cNvPr id="60" name="Google Shape;60;p13"/>
          <p:cNvSpPr/>
          <p:nvPr/>
        </p:nvSpPr>
        <p:spPr>
          <a:xfrm>
            <a:off x="1795925" y="2719325"/>
            <a:ext cx="5965200" cy="777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descr="Visual Identity | University of Colombo, Sri Lanka" id="61" name="Google Shape;61;p13"/>
          <p:cNvPicPr preferRelativeResize="0"/>
          <p:nvPr/>
        </p:nvPicPr>
        <p:blipFill>
          <a:blip r:embed="rId4">
            <a:alphaModFix/>
          </a:blip>
          <a:stretch>
            <a:fillRect/>
          </a:stretch>
        </p:blipFill>
        <p:spPr>
          <a:xfrm>
            <a:off x="6187850" y="217625"/>
            <a:ext cx="2657909" cy="792600"/>
          </a:xfrm>
          <a:prstGeom prst="rect">
            <a:avLst/>
          </a:prstGeom>
          <a:noFill/>
          <a:ln>
            <a:noFill/>
          </a:ln>
        </p:spPr>
      </p:pic>
      <p:sp>
        <p:nvSpPr>
          <p:cNvPr id="62" name="Google Shape;62;p13"/>
          <p:cNvSpPr txBox="1"/>
          <p:nvPr/>
        </p:nvSpPr>
        <p:spPr>
          <a:xfrm>
            <a:off x="7139750" y="4506125"/>
            <a:ext cx="15561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it" sz="1500" u="none" cap="none" strike="noStrike">
                <a:solidFill>
                  <a:srgbClr val="595959"/>
                </a:solidFill>
                <a:latin typeface="Arial"/>
                <a:ea typeface="Arial"/>
                <a:cs typeface="Arial"/>
                <a:sym typeface="Arial"/>
              </a:rPr>
              <a:t>Dr. Marta Monti</a:t>
            </a:r>
            <a:endParaRPr b="0" i="0" sz="1500" u="none" cap="none" strike="noStrike">
              <a:solidFill>
                <a:srgbClr val="595959"/>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is DFT?</a:t>
            </a:r>
            <a:endParaRPr sz="2500">
              <a:latin typeface="Montserrat SemiBold"/>
              <a:ea typeface="Montserrat SemiBold"/>
              <a:cs typeface="Montserrat SemiBold"/>
              <a:sym typeface="Montserrat SemiBold"/>
            </a:endParaRPr>
          </a:p>
        </p:txBody>
      </p:sp>
      <p:sp>
        <p:nvSpPr>
          <p:cNvPr id="68" name="Google Shape;68;p1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4"/>
          <p:cNvSpPr txBox="1"/>
          <p:nvPr>
            <p:ph idx="4294967295" type="ctrTitle"/>
          </p:nvPr>
        </p:nvSpPr>
        <p:spPr>
          <a:xfrm>
            <a:off x="3381600" y="1427550"/>
            <a:ext cx="5450700" cy="1274400"/>
          </a:xfrm>
          <a:prstGeom prst="rect">
            <a:avLst/>
          </a:prstGeom>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rPr lang="it" sz="1600"/>
              <a:t>Density functional theory (DFT) is a quantum-mechanical method used to describe the (ground-state) </a:t>
            </a:r>
            <a:r>
              <a:rPr b="1" lang="it" sz="1600"/>
              <a:t>electronic structure of many-body systems</a:t>
            </a:r>
            <a:r>
              <a:rPr lang="it" sz="1600"/>
              <a:t> as atoms, molecules, or solids.</a:t>
            </a:r>
            <a:endParaRPr sz="1600"/>
          </a:p>
        </p:txBody>
      </p:sp>
      <p:sp>
        <p:nvSpPr>
          <p:cNvPr id="70" name="Google Shape;7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71" name="Google Shape;71;p14"/>
          <p:cNvPicPr preferRelativeResize="0"/>
          <p:nvPr/>
        </p:nvPicPr>
        <p:blipFill rotWithShape="1">
          <a:blip r:embed="rId3">
            <a:alphaModFix/>
          </a:blip>
          <a:srcRect b="0" l="2818" r="55612" t="0"/>
          <a:stretch/>
        </p:blipFill>
        <p:spPr>
          <a:xfrm>
            <a:off x="311700" y="951050"/>
            <a:ext cx="2931574" cy="3949626"/>
          </a:xfrm>
          <a:prstGeom prst="rect">
            <a:avLst/>
          </a:prstGeom>
          <a:noFill/>
          <a:ln>
            <a:noFill/>
          </a:ln>
        </p:spPr>
      </p:pic>
      <p:sp>
        <p:nvSpPr>
          <p:cNvPr id="72" name="Google Shape;72;p14"/>
          <p:cNvSpPr txBox="1"/>
          <p:nvPr>
            <p:ph idx="4294967295" type="ctrTitle"/>
          </p:nvPr>
        </p:nvSpPr>
        <p:spPr>
          <a:xfrm>
            <a:off x="3381600" y="3087025"/>
            <a:ext cx="5450700" cy="982200"/>
          </a:xfrm>
          <a:prstGeom prst="rect">
            <a:avLst/>
          </a:prstGeom>
        </p:spPr>
        <p:txBody>
          <a:bodyPr anchorCtr="0" anchor="t" bIns="91425" lIns="91425" spcFirstLastPara="1" rIns="91425" wrap="square" tIns="91425">
            <a:normAutofit/>
          </a:bodyPr>
          <a:lstStyle/>
          <a:p>
            <a:pPr indent="-323850" lvl="0" marL="457200" rtl="0" algn="just">
              <a:lnSpc>
                <a:spcPct val="115000"/>
              </a:lnSpc>
              <a:spcBef>
                <a:spcPts val="0"/>
              </a:spcBef>
              <a:spcAft>
                <a:spcPts val="0"/>
              </a:spcAft>
              <a:buSzPts val="1500"/>
              <a:buChar char="●"/>
            </a:pPr>
            <a:r>
              <a:rPr lang="it" sz="1500"/>
              <a:t>The central quantity in DFT is the </a:t>
            </a:r>
            <a:r>
              <a:rPr b="1" lang="it" sz="1500"/>
              <a:t>electron density </a:t>
            </a:r>
            <a:r>
              <a:rPr lang="it" sz="1500"/>
              <a:t>ρ(r)</a:t>
            </a:r>
            <a:endParaRPr sz="1500"/>
          </a:p>
          <a:p>
            <a:pPr indent="-323850" lvl="0" marL="457200" rtl="0" algn="just">
              <a:lnSpc>
                <a:spcPct val="115000"/>
              </a:lnSpc>
              <a:spcBef>
                <a:spcPts val="0"/>
              </a:spcBef>
              <a:spcAft>
                <a:spcPts val="0"/>
              </a:spcAft>
              <a:buSzPts val="1500"/>
              <a:buChar char="●"/>
            </a:pPr>
            <a:r>
              <a:rPr lang="it" sz="1500"/>
              <a:t>From the electronic structure we can determine the </a:t>
            </a:r>
            <a:r>
              <a:rPr b="1" lang="it" sz="1500"/>
              <a:t>energy of the system</a:t>
            </a:r>
            <a:r>
              <a:rPr lang="it" sz="1500"/>
              <a:t> and many other properties.</a:t>
            </a:r>
            <a:endParaRPr sz="15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can we learn from DFT?</a:t>
            </a:r>
            <a:endParaRPr sz="2500">
              <a:latin typeface="Montserrat SemiBold"/>
              <a:ea typeface="Montserrat SemiBold"/>
              <a:cs typeface="Montserrat SemiBold"/>
              <a:sym typeface="Montserrat SemiBold"/>
            </a:endParaRPr>
          </a:p>
        </p:txBody>
      </p:sp>
      <p:sp>
        <p:nvSpPr>
          <p:cNvPr id="78" name="Google Shape;78;p1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5"/>
          <p:cNvSpPr txBox="1"/>
          <p:nvPr>
            <p:ph idx="4294967295" type="ctrTitle"/>
          </p:nvPr>
        </p:nvSpPr>
        <p:spPr>
          <a:xfrm>
            <a:off x="491700" y="912260"/>
            <a:ext cx="8160600" cy="393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540"/>
              <a:t>DFT is widely used in chemistry, biophysics, materials science, and machine learning.</a:t>
            </a:r>
            <a:endParaRPr sz="1540"/>
          </a:p>
        </p:txBody>
      </p:sp>
      <p:sp>
        <p:nvSpPr>
          <p:cNvPr id="80" name="Google Shape;8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81" name="Google Shape;81;p15"/>
          <p:cNvSpPr txBox="1"/>
          <p:nvPr/>
        </p:nvSpPr>
        <p:spPr>
          <a:xfrm>
            <a:off x="251363" y="2111550"/>
            <a:ext cx="4345500" cy="2008800"/>
          </a:xfrm>
          <a:prstGeom prst="rect">
            <a:avLst/>
          </a:prstGeom>
          <a:noFill/>
          <a:ln>
            <a:noFill/>
          </a:ln>
        </p:spPr>
        <p:txBody>
          <a:bodyPr anchorCtr="0" anchor="t" bIns="91425" lIns="91425" spcFirstLastPara="1" rIns="91425" wrap="square" tIns="91425">
            <a:spAutoFit/>
          </a:bodyPr>
          <a:lstStyle/>
          <a:p>
            <a:pPr indent="-323850" lvl="0" marL="457200" rtl="0" algn="l">
              <a:lnSpc>
                <a:spcPct val="115000"/>
              </a:lnSpc>
              <a:spcBef>
                <a:spcPts val="0"/>
              </a:spcBef>
              <a:spcAft>
                <a:spcPts val="0"/>
              </a:spcAft>
              <a:buClr>
                <a:schemeClr val="dk1"/>
              </a:buClr>
              <a:buSzPts val="1500"/>
              <a:buChar char="●"/>
            </a:pPr>
            <a:r>
              <a:rPr lang="it" sz="1500">
                <a:solidFill>
                  <a:schemeClr val="dk1"/>
                </a:solidFill>
              </a:rPr>
              <a:t>Optimized molecular structures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it" sz="1500">
                <a:solidFill>
                  <a:schemeClr val="dk1"/>
                </a:solidFill>
              </a:rPr>
              <a:t>Total energies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it" sz="1500">
                <a:solidFill>
                  <a:schemeClr val="dk1"/>
                </a:solidFill>
              </a:rPr>
              <a:t>Forces on the nuclei</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it" sz="1500">
                <a:solidFill>
                  <a:schemeClr val="dk1"/>
                </a:solidFill>
              </a:rPr>
              <a:t>Reaction energies and activation barriers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it" sz="1500">
                <a:solidFill>
                  <a:schemeClr val="dk1"/>
                </a:solidFill>
              </a:rPr>
              <a:t>Electron density and charge distribution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it" sz="1500">
                <a:solidFill>
                  <a:schemeClr val="dk1"/>
                </a:solidFill>
              </a:rPr>
              <a:t>Electronic structure (orbitals, energy levels)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it" sz="1500">
                <a:solidFill>
                  <a:schemeClr val="dk1"/>
                </a:solidFill>
              </a:rPr>
              <a:t>Vibrational properties and spectra</a:t>
            </a:r>
            <a:endParaRPr sz="1500">
              <a:solidFill>
                <a:schemeClr val="dk1"/>
              </a:solidFill>
            </a:endParaRPr>
          </a:p>
        </p:txBody>
      </p:sp>
      <p:pic>
        <p:nvPicPr>
          <p:cNvPr id="82" name="Google Shape;82;p15"/>
          <p:cNvPicPr preferRelativeResize="0"/>
          <p:nvPr/>
        </p:nvPicPr>
        <p:blipFill>
          <a:blip r:embed="rId3">
            <a:alphaModFix/>
          </a:blip>
          <a:stretch>
            <a:fillRect/>
          </a:stretch>
        </p:blipFill>
        <p:spPr>
          <a:xfrm>
            <a:off x="4745613" y="1532375"/>
            <a:ext cx="4147026" cy="2919931"/>
          </a:xfrm>
          <a:prstGeom prst="rect">
            <a:avLst/>
          </a:prstGeom>
          <a:noFill/>
          <a:ln cap="flat" cmpd="sng" w="9525">
            <a:solidFill>
              <a:schemeClr val="dk2"/>
            </a:solidFill>
            <a:prstDash val="solid"/>
            <a:round/>
            <a:headEnd len="sm" w="sm" type="none"/>
            <a:tailEnd len="sm" w="sm" type="none"/>
          </a:ln>
        </p:spPr>
      </p:pic>
      <p:sp>
        <p:nvSpPr>
          <p:cNvPr id="83" name="Google Shape;83;p15"/>
          <p:cNvSpPr txBox="1"/>
          <p:nvPr>
            <p:ph idx="4294967295" type="ctrTitle"/>
          </p:nvPr>
        </p:nvSpPr>
        <p:spPr>
          <a:xfrm>
            <a:off x="579413" y="1671118"/>
            <a:ext cx="3689400" cy="3936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540"/>
              <a:t>A DFT calculation can provide us with:</a:t>
            </a:r>
            <a:endParaRPr sz="1540"/>
          </a:p>
        </p:txBody>
      </p:sp>
      <p:sp>
        <p:nvSpPr>
          <p:cNvPr id="84" name="Google Shape;84;p15"/>
          <p:cNvSpPr/>
          <p:nvPr/>
        </p:nvSpPr>
        <p:spPr>
          <a:xfrm>
            <a:off x="287863" y="1674788"/>
            <a:ext cx="4308900" cy="2638800"/>
          </a:xfrm>
          <a:prstGeom prst="roundRect">
            <a:avLst>
              <a:gd fmla="val 12427" name="adj"/>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The quantum-mechanical problem</a:t>
            </a:r>
            <a:endParaRPr sz="2500">
              <a:latin typeface="Montserrat SemiBold"/>
              <a:ea typeface="Montserrat SemiBold"/>
              <a:cs typeface="Montserrat SemiBold"/>
              <a:sym typeface="Montserrat SemiBold"/>
            </a:endParaRPr>
          </a:p>
        </p:txBody>
      </p:sp>
      <p:sp>
        <p:nvSpPr>
          <p:cNvPr id="90" name="Google Shape;90;p1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 name="Google Shape;91;p16"/>
          <p:cNvSpPr txBox="1"/>
          <p:nvPr>
            <p:ph idx="4294967295" type="ctrTitle"/>
          </p:nvPr>
        </p:nvSpPr>
        <p:spPr>
          <a:xfrm>
            <a:off x="290400" y="1073167"/>
            <a:ext cx="8563200" cy="7212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640"/>
              <a:t>In principle, by solving the </a:t>
            </a:r>
            <a:r>
              <a:rPr b="1" lang="it" sz="1640"/>
              <a:t>Schrödinger equation</a:t>
            </a:r>
            <a:r>
              <a:rPr lang="it" sz="1640"/>
              <a:t> we can obtain the </a:t>
            </a:r>
            <a:r>
              <a:rPr b="1" lang="it" sz="1640"/>
              <a:t>energy</a:t>
            </a:r>
            <a:r>
              <a:rPr lang="it" sz="1640"/>
              <a:t> and </a:t>
            </a:r>
            <a:r>
              <a:rPr b="1" lang="it" sz="1640"/>
              <a:t>wavefunction</a:t>
            </a:r>
            <a:r>
              <a:rPr lang="it" sz="1640"/>
              <a:t> of a quantum system:</a:t>
            </a:r>
            <a:endParaRPr sz="1640"/>
          </a:p>
        </p:txBody>
      </p:sp>
      <p:sp>
        <p:nvSpPr>
          <p:cNvPr id="92" name="Google Shape;9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93" name="Google Shape;93;p16" title="Schro_eq.png"/>
          <p:cNvPicPr preferRelativeResize="0"/>
          <p:nvPr/>
        </p:nvPicPr>
        <p:blipFill rotWithShape="1">
          <a:blip r:embed="rId3">
            <a:alphaModFix/>
          </a:blip>
          <a:srcRect b="8226" l="23044" r="23077" t="17264"/>
          <a:stretch/>
        </p:blipFill>
        <p:spPr>
          <a:xfrm>
            <a:off x="3501812" y="1826129"/>
            <a:ext cx="2104508" cy="572700"/>
          </a:xfrm>
          <a:prstGeom prst="rect">
            <a:avLst/>
          </a:prstGeom>
          <a:noFill/>
          <a:ln>
            <a:noFill/>
          </a:ln>
        </p:spPr>
      </p:pic>
      <p:sp>
        <p:nvSpPr>
          <p:cNvPr id="94" name="Google Shape;94;p16"/>
          <p:cNvSpPr txBox="1"/>
          <p:nvPr>
            <p:ph idx="4294967295" type="ctrTitle"/>
          </p:nvPr>
        </p:nvSpPr>
        <p:spPr>
          <a:xfrm>
            <a:off x="941225" y="2512679"/>
            <a:ext cx="2859300" cy="638100"/>
          </a:xfrm>
          <a:prstGeom prst="rect">
            <a:avLst/>
          </a:prstGeom>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440"/>
              <a:t>Hamiltonian operator,  containing the different energy contributions</a:t>
            </a:r>
            <a:endParaRPr sz="1440"/>
          </a:p>
        </p:txBody>
      </p:sp>
      <p:sp>
        <p:nvSpPr>
          <p:cNvPr id="95" name="Google Shape;95;p16"/>
          <p:cNvSpPr txBox="1"/>
          <p:nvPr>
            <p:ph idx="4294967295" type="ctrTitle"/>
          </p:nvPr>
        </p:nvSpPr>
        <p:spPr>
          <a:xfrm>
            <a:off x="4116425" y="2634929"/>
            <a:ext cx="2444700" cy="393600"/>
          </a:xfrm>
          <a:prstGeom prst="rect">
            <a:avLst/>
          </a:prstGeom>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440"/>
              <a:t>Wavefunction of the system</a:t>
            </a:r>
            <a:endParaRPr sz="1440"/>
          </a:p>
        </p:txBody>
      </p:sp>
      <p:cxnSp>
        <p:nvCxnSpPr>
          <p:cNvPr id="96" name="Google Shape;96;p16"/>
          <p:cNvCxnSpPr/>
          <p:nvPr/>
        </p:nvCxnSpPr>
        <p:spPr>
          <a:xfrm>
            <a:off x="3492282" y="2345279"/>
            <a:ext cx="360000" cy="3600"/>
          </a:xfrm>
          <a:prstGeom prst="straightConnector1">
            <a:avLst/>
          </a:prstGeom>
          <a:noFill/>
          <a:ln cap="flat" cmpd="sng" w="19050">
            <a:solidFill>
              <a:srgbClr val="0000FF"/>
            </a:solidFill>
            <a:prstDash val="solid"/>
            <a:round/>
            <a:headEnd len="med" w="med" type="none"/>
            <a:tailEnd len="med" w="med" type="none"/>
          </a:ln>
        </p:spPr>
      </p:cxnSp>
      <p:cxnSp>
        <p:nvCxnSpPr>
          <p:cNvPr id="97" name="Google Shape;97;p16"/>
          <p:cNvCxnSpPr/>
          <p:nvPr/>
        </p:nvCxnSpPr>
        <p:spPr>
          <a:xfrm>
            <a:off x="3911382" y="2345279"/>
            <a:ext cx="360000" cy="3600"/>
          </a:xfrm>
          <a:prstGeom prst="straightConnector1">
            <a:avLst/>
          </a:prstGeom>
          <a:noFill/>
          <a:ln cap="flat" cmpd="sng" w="19050">
            <a:solidFill>
              <a:srgbClr val="FF0000"/>
            </a:solidFill>
            <a:prstDash val="solid"/>
            <a:round/>
            <a:headEnd len="med" w="med" type="none"/>
            <a:tailEnd len="med" w="med" type="none"/>
          </a:ln>
        </p:spPr>
      </p:cxnSp>
      <p:cxnSp>
        <p:nvCxnSpPr>
          <p:cNvPr id="98" name="Google Shape;98;p16"/>
          <p:cNvCxnSpPr/>
          <p:nvPr/>
        </p:nvCxnSpPr>
        <p:spPr>
          <a:xfrm>
            <a:off x="4859168" y="2345279"/>
            <a:ext cx="360000" cy="3600"/>
          </a:xfrm>
          <a:prstGeom prst="straightConnector1">
            <a:avLst/>
          </a:prstGeom>
          <a:noFill/>
          <a:ln cap="flat" cmpd="sng" w="19050">
            <a:solidFill>
              <a:srgbClr val="38761D"/>
            </a:solidFill>
            <a:prstDash val="solid"/>
            <a:round/>
            <a:headEnd len="med" w="med" type="none"/>
            <a:tailEnd len="med" w="med" type="none"/>
          </a:ln>
        </p:spPr>
      </p:cxnSp>
      <p:sp>
        <p:nvSpPr>
          <p:cNvPr id="99" name="Google Shape;99;p16"/>
          <p:cNvSpPr txBox="1"/>
          <p:nvPr>
            <p:ph idx="4294967295" type="ctrTitle"/>
          </p:nvPr>
        </p:nvSpPr>
        <p:spPr>
          <a:xfrm>
            <a:off x="6877025" y="2634929"/>
            <a:ext cx="1227000" cy="393600"/>
          </a:xfrm>
          <a:prstGeom prst="rect">
            <a:avLst/>
          </a:prstGeom>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440"/>
              <a:t>Total energy</a:t>
            </a:r>
            <a:endParaRPr sz="1440"/>
          </a:p>
        </p:txBody>
      </p:sp>
      <p:sp>
        <p:nvSpPr>
          <p:cNvPr id="100" name="Google Shape;100;p16"/>
          <p:cNvSpPr txBox="1"/>
          <p:nvPr>
            <p:ph idx="4294967295" type="ctrTitle"/>
          </p:nvPr>
        </p:nvSpPr>
        <p:spPr>
          <a:xfrm>
            <a:off x="290400" y="3699742"/>
            <a:ext cx="8563200" cy="7212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640"/>
              <a:t>For an </a:t>
            </a:r>
            <a:r>
              <a:rPr i="1" lang="it" sz="1640"/>
              <a:t>N</a:t>
            </a:r>
            <a:r>
              <a:rPr lang="it" sz="1640"/>
              <a:t>-electron system, however, solving the Schrödinger equation exactly becomes </a:t>
            </a:r>
            <a:r>
              <a:rPr b="1" lang="it" sz="1640"/>
              <a:t>extremely difficult</a:t>
            </a:r>
            <a:endParaRPr b="1" sz="164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7"/>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The quantum-mechanical problem</a:t>
            </a:r>
            <a:endParaRPr sz="2500">
              <a:latin typeface="Montserrat SemiBold"/>
              <a:ea typeface="Montserrat SemiBold"/>
              <a:cs typeface="Montserrat SemiBold"/>
              <a:sym typeface="Montserrat SemiBold"/>
            </a:endParaRPr>
          </a:p>
        </p:txBody>
      </p:sp>
      <p:sp>
        <p:nvSpPr>
          <p:cNvPr id="106" name="Google Shape;106;p1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 name="Google Shape;107;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08" name="Google Shape;108;p17" title="psi_funct.png"/>
          <p:cNvPicPr preferRelativeResize="0"/>
          <p:nvPr/>
        </p:nvPicPr>
        <p:blipFill>
          <a:blip r:embed="rId3">
            <a:alphaModFix/>
          </a:blip>
          <a:stretch>
            <a:fillRect/>
          </a:stretch>
        </p:blipFill>
        <p:spPr>
          <a:xfrm>
            <a:off x="1021425" y="1504970"/>
            <a:ext cx="3678577" cy="638425"/>
          </a:xfrm>
          <a:prstGeom prst="rect">
            <a:avLst/>
          </a:prstGeom>
          <a:noFill/>
          <a:ln>
            <a:noFill/>
          </a:ln>
        </p:spPr>
      </p:pic>
      <p:pic>
        <p:nvPicPr>
          <p:cNvPr id="109" name="Google Shape;109;p17" title="Xi_coord.png"/>
          <p:cNvPicPr preferRelativeResize="0"/>
          <p:nvPr/>
        </p:nvPicPr>
        <p:blipFill>
          <a:blip r:embed="rId4">
            <a:alphaModFix/>
          </a:blip>
          <a:stretch>
            <a:fillRect/>
          </a:stretch>
        </p:blipFill>
        <p:spPr>
          <a:xfrm>
            <a:off x="4890739" y="1537258"/>
            <a:ext cx="3477704" cy="638425"/>
          </a:xfrm>
          <a:prstGeom prst="rect">
            <a:avLst/>
          </a:prstGeom>
          <a:noFill/>
          <a:ln>
            <a:noFill/>
          </a:ln>
        </p:spPr>
      </p:pic>
      <p:sp>
        <p:nvSpPr>
          <p:cNvPr id="110" name="Google Shape;110;p17"/>
          <p:cNvSpPr txBox="1"/>
          <p:nvPr>
            <p:ph idx="4294967295" type="ctrTitle"/>
          </p:nvPr>
        </p:nvSpPr>
        <p:spPr>
          <a:xfrm>
            <a:off x="1869750" y="874888"/>
            <a:ext cx="5404500" cy="393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640"/>
              <a:t>The</a:t>
            </a:r>
            <a:r>
              <a:rPr lang="it" sz="1640"/>
              <a:t> </a:t>
            </a:r>
            <a:r>
              <a:rPr i="1" lang="it" sz="1640"/>
              <a:t>N</a:t>
            </a:r>
            <a:r>
              <a:rPr lang="it" sz="1640"/>
              <a:t>-electron system is described by the wavefunction:</a:t>
            </a:r>
            <a:endParaRPr b="1" sz="1640"/>
          </a:p>
        </p:txBody>
      </p:sp>
      <p:cxnSp>
        <p:nvCxnSpPr>
          <p:cNvPr id="111" name="Google Shape;111;p17"/>
          <p:cNvCxnSpPr/>
          <p:nvPr/>
        </p:nvCxnSpPr>
        <p:spPr>
          <a:xfrm>
            <a:off x="6167037" y="2061595"/>
            <a:ext cx="1372200" cy="0"/>
          </a:xfrm>
          <a:prstGeom prst="straightConnector1">
            <a:avLst/>
          </a:prstGeom>
          <a:noFill/>
          <a:ln cap="flat" cmpd="sng" w="19050">
            <a:solidFill>
              <a:srgbClr val="FF0000"/>
            </a:solidFill>
            <a:prstDash val="solid"/>
            <a:round/>
            <a:headEnd len="med" w="med" type="none"/>
            <a:tailEnd len="med" w="med" type="none"/>
          </a:ln>
        </p:spPr>
      </p:cxnSp>
      <p:sp>
        <p:nvSpPr>
          <p:cNvPr id="112" name="Google Shape;112;p17"/>
          <p:cNvSpPr txBox="1"/>
          <p:nvPr>
            <p:ph idx="4294967295" type="ctrTitle"/>
          </p:nvPr>
        </p:nvSpPr>
        <p:spPr>
          <a:xfrm>
            <a:off x="5211450" y="2450087"/>
            <a:ext cx="2062800" cy="393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500"/>
              <a:t>Cartesian coordinates</a:t>
            </a:r>
            <a:endParaRPr b="1" sz="1500"/>
          </a:p>
        </p:txBody>
      </p:sp>
      <p:cxnSp>
        <p:nvCxnSpPr>
          <p:cNvPr id="113" name="Google Shape;113;p17"/>
          <p:cNvCxnSpPr/>
          <p:nvPr/>
        </p:nvCxnSpPr>
        <p:spPr>
          <a:xfrm flipH="1">
            <a:off x="6559692" y="2167615"/>
            <a:ext cx="139800" cy="273300"/>
          </a:xfrm>
          <a:prstGeom prst="straightConnector1">
            <a:avLst/>
          </a:prstGeom>
          <a:noFill/>
          <a:ln cap="flat" cmpd="sng" w="19050">
            <a:solidFill>
              <a:schemeClr val="dk1"/>
            </a:solidFill>
            <a:prstDash val="solid"/>
            <a:round/>
            <a:headEnd len="med" w="med" type="none"/>
            <a:tailEnd len="med" w="med" type="triangle"/>
          </a:ln>
        </p:spPr>
      </p:cxnSp>
      <p:cxnSp>
        <p:nvCxnSpPr>
          <p:cNvPr id="114" name="Google Shape;114;p17"/>
          <p:cNvCxnSpPr/>
          <p:nvPr/>
        </p:nvCxnSpPr>
        <p:spPr>
          <a:xfrm>
            <a:off x="7633918" y="2061445"/>
            <a:ext cx="686100" cy="300"/>
          </a:xfrm>
          <a:prstGeom prst="straightConnector1">
            <a:avLst/>
          </a:prstGeom>
          <a:noFill/>
          <a:ln cap="flat" cmpd="sng" w="19050">
            <a:solidFill>
              <a:srgbClr val="0000FF"/>
            </a:solidFill>
            <a:prstDash val="solid"/>
            <a:round/>
            <a:headEnd len="med" w="med" type="none"/>
            <a:tailEnd len="med" w="med" type="none"/>
          </a:ln>
        </p:spPr>
      </p:cxnSp>
      <p:cxnSp>
        <p:nvCxnSpPr>
          <p:cNvPr id="115" name="Google Shape;115;p17"/>
          <p:cNvCxnSpPr/>
          <p:nvPr/>
        </p:nvCxnSpPr>
        <p:spPr>
          <a:xfrm flipH="1">
            <a:off x="7976217" y="2159403"/>
            <a:ext cx="1500" cy="316800"/>
          </a:xfrm>
          <a:prstGeom prst="straightConnector1">
            <a:avLst/>
          </a:prstGeom>
          <a:noFill/>
          <a:ln cap="flat" cmpd="sng" w="19050">
            <a:solidFill>
              <a:schemeClr val="dk1"/>
            </a:solidFill>
            <a:prstDash val="solid"/>
            <a:round/>
            <a:headEnd len="med" w="med" type="none"/>
            <a:tailEnd len="med" w="med" type="triangle"/>
          </a:ln>
        </p:spPr>
      </p:cxnSp>
      <p:sp>
        <p:nvSpPr>
          <p:cNvPr id="116" name="Google Shape;116;p17"/>
          <p:cNvSpPr txBox="1"/>
          <p:nvPr>
            <p:ph idx="4294967295" type="ctrTitle"/>
          </p:nvPr>
        </p:nvSpPr>
        <p:spPr>
          <a:xfrm>
            <a:off x="7395219" y="2450095"/>
            <a:ext cx="1195800" cy="393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500"/>
              <a:t>Spin</a:t>
            </a:r>
            <a:r>
              <a:rPr lang="it" sz="1500"/>
              <a:t> coord.</a:t>
            </a:r>
            <a:endParaRPr b="1" sz="1500"/>
          </a:p>
        </p:txBody>
      </p:sp>
      <p:sp>
        <p:nvSpPr>
          <p:cNvPr id="117" name="Google Shape;117;p17"/>
          <p:cNvSpPr txBox="1"/>
          <p:nvPr>
            <p:ph idx="4294967295" type="ctrTitle"/>
          </p:nvPr>
        </p:nvSpPr>
        <p:spPr>
          <a:xfrm>
            <a:off x="491550" y="3118095"/>
            <a:ext cx="8160900" cy="393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540"/>
              <a:t>The </a:t>
            </a:r>
            <a:r>
              <a:rPr lang="it" sz="1540"/>
              <a:t>many-electron wavefunction </a:t>
            </a:r>
            <a:r>
              <a:rPr lang="it" sz="1540"/>
              <a:t>depends on the spatial and spin coordinates of </a:t>
            </a:r>
            <a:r>
              <a:rPr i="1" lang="it" sz="1540"/>
              <a:t>N</a:t>
            </a:r>
            <a:r>
              <a:rPr lang="it" sz="1540"/>
              <a:t> electrons</a:t>
            </a:r>
            <a:endParaRPr b="1" sz="1540"/>
          </a:p>
        </p:txBody>
      </p:sp>
      <p:cxnSp>
        <p:nvCxnSpPr>
          <p:cNvPr id="118" name="Google Shape;118;p17"/>
          <p:cNvCxnSpPr/>
          <p:nvPr/>
        </p:nvCxnSpPr>
        <p:spPr>
          <a:xfrm>
            <a:off x="4577156" y="3527839"/>
            <a:ext cx="0" cy="470400"/>
          </a:xfrm>
          <a:prstGeom prst="straightConnector1">
            <a:avLst/>
          </a:prstGeom>
          <a:noFill/>
          <a:ln cap="flat" cmpd="sng" w="19050">
            <a:solidFill>
              <a:schemeClr val="dk1"/>
            </a:solidFill>
            <a:prstDash val="solid"/>
            <a:round/>
            <a:headEnd len="med" w="med" type="none"/>
            <a:tailEnd len="med" w="med" type="triangle"/>
          </a:ln>
        </p:spPr>
      </p:cxnSp>
      <p:sp>
        <p:nvSpPr>
          <p:cNvPr id="119" name="Google Shape;119;p17"/>
          <p:cNvSpPr txBox="1"/>
          <p:nvPr>
            <p:ph idx="4294967295" type="ctrTitle"/>
          </p:nvPr>
        </p:nvSpPr>
        <p:spPr>
          <a:xfrm>
            <a:off x="2193900" y="4014395"/>
            <a:ext cx="4756200" cy="3936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540"/>
              <a:t>Problem with 3</a:t>
            </a:r>
            <a:r>
              <a:rPr i="1" lang="it" sz="1540"/>
              <a:t>N</a:t>
            </a:r>
            <a:r>
              <a:rPr lang="it" sz="1540"/>
              <a:t> spatial variables + </a:t>
            </a:r>
            <a:r>
              <a:rPr i="1" lang="it" sz="1540"/>
              <a:t>N</a:t>
            </a:r>
            <a:r>
              <a:rPr lang="it" sz="1540"/>
              <a:t> spin variables</a:t>
            </a:r>
            <a:endParaRPr b="1" sz="154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From the wavefunction to the electron density</a:t>
            </a:r>
            <a:endParaRPr sz="2500">
              <a:latin typeface="Montserrat SemiBold"/>
              <a:ea typeface="Montserrat SemiBold"/>
              <a:cs typeface="Montserrat SemiBold"/>
              <a:sym typeface="Montserrat SemiBold"/>
            </a:endParaRPr>
          </a:p>
        </p:txBody>
      </p:sp>
      <p:sp>
        <p:nvSpPr>
          <p:cNvPr id="125" name="Google Shape;125;p1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27" name="Google Shape;127;p18"/>
          <p:cNvSpPr txBox="1"/>
          <p:nvPr>
            <p:ph idx="4294967295" type="ctrTitle"/>
          </p:nvPr>
        </p:nvSpPr>
        <p:spPr>
          <a:xfrm>
            <a:off x="1417050" y="874900"/>
            <a:ext cx="6309900" cy="458700"/>
          </a:xfrm>
          <a:prstGeom prst="rect">
            <a:avLst/>
          </a:prstGeom>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640"/>
              <a:t>In DFT, the N-electron system is described by the electron density:</a:t>
            </a:r>
            <a:endParaRPr b="1" sz="1640"/>
          </a:p>
        </p:txBody>
      </p:sp>
      <p:pic>
        <p:nvPicPr>
          <p:cNvPr id="128" name="Google Shape;128;p18" title="density.png"/>
          <p:cNvPicPr preferRelativeResize="0"/>
          <p:nvPr/>
        </p:nvPicPr>
        <p:blipFill rotWithShape="1">
          <a:blip r:embed="rId3">
            <a:alphaModFix/>
          </a:blip>
          <a:srcRect b="17647" l="16129" r="18255" t="10056"/>
          <a:stretch/>
        </p:blipFill>
        <p:spPr>
          <a:xfrm>
            <a:off x="2933175" y="1532102"/>
            <a:ext cx="1015459" cy="572700"/>
          </a:xfrm>
          <a:prstGeom prst="rect">
            <a:avLst/>
          </a:prstGeom>
          <a:noFill/>
          <a:ln>
            <a:noFill/>
          </a:ln>
        </p:spPr>
      </p:pic>
      <p:pic>
        <p:nvPicPr>
          <p:cNvPr id="129" name="Google Shape;129;p18" title="coord.png"/>
          <p:cNvPicPr preferRelativeResize="0"/>
          <p:nvPr/>
        </p:nvPicPr>
        <p:blipFill rotWithShape="1">
          <a:blip r:embed="rId4">
            <a:alphaModFix/>
          </a:blip>
          <a:srcRect b="22270" l="13828" r="14487" t="7785"/>
          <a:stretch/>
        </p:blipFill>
        <p:spPr>
          <a:xfrm>
            <a:off x="4308448" y="1621652"/>
            <a:ext cx="1902378" cy="393600"/>
          </a:xfrm>
          <a:prstGeom prst="rect">
            <a:avLst/>
          </a:prstGeom>
          <a:noFill/>
          <a:ln>
            <a:noFill/>
          </a:ln>
        </p:spPr>
      </p:pic>
      <p:cxnSp>
        <p:nvCxnSpPr>
          <p:cNvPr id="130" name="Google Shape;130;p18"/>
          <p:cNvCxnSpPr/>
          <p:nvPr/>
        </p:nvCxnSpPr>
        <p:spPr>
          <a:xfrm>
            <a:off x="5032296" y="2111383"/>
            <a:ext cx="1162200" cy="7500"/>
          </a:xfrm>
          <a:prstGeom prst="straightConnector1">
            <a:avLst/>
          </a:prstGeom>
          <a:noFill/>
          <a:ln cap="flat" cmpd="sng" w="19050">
            <a:solidFill>
              <a:srgbClr val="FF0000"/>
            </a:solidFill>
            <a:prstDash val="solid"/>
            <a:round/>
            <a:headEnd len="med" w="med" type="none"/>
            <a:tailEnd len="med" w="med" type="none"/>
          </a:ln>
        </p:spPr>
      </p:cxnSp>
      <p:sp>
        <p:nvSpPr>
          <p:cNvPr id="131" name="Google Shape;131;p18"/>
          <p:cNvSpPr txBox="1"/>
          <p:nvPr>
            <p:ph idx="4294967295" type="ctrTitle"/>
          </p:nvPr>
        </p:nvSpPr>
        <p:spPr>
          <a:xfrm>
            <a:off x="2197950" y="2762975"/>
            <a:ext cx="4748100" cy="4587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500"/>
              <a:t>which depends only on the </a:t>
            </a:r>
            <a:r>
              <a:rPr b="1" lang="it" sz="1500"/>
              <a:t>three</a:t>
            </a:r>
            <a:r>
              <a:rPr lang="it" sz="1500"/>
              <a:t> spatial coordinates</a:t>
            </a:r>
            <a:endParaRPr b="1" sz="1500"/>
          </a:p>
        </p:txBody>
      </p:sp>
      <p:cxnSp>
        <p:nvCxnSpPr>
          <p:cNvPr id="132" name="Google Shape;132;p18"/>
          <p:cNvCxnSpPr/>
          <p:nvPr/>
        </p:nvCxnSpPr>
        <p:spPr>
          <a:xfrm flipH="1">
            <a:off x="5275292" y="2230180"/>
            <a:ext cx="338100" cy="421500"/>
          </a:xfrm>
          <a:prstGeom prst="straightConnector1">
            <a:avLst/>
          </a:prstGeom>
          <a:noFill/>
          <a:ln cap="flat" cmpd="sng" w="19050">
            <a:solidFill>
              <a:schemeClr val="dk1"/>
            </a:solidFill>
            <a:prstDash val="solid"/>
            <a:round/>
            <a:headEnd len="med" w="med" type="none"/>
            <a:tailEnd len="med" w="med" type="triangle"/>
          </a:ln>
        </p:spPr>
      </p:cxnSp>
      <p:sp>
        <p:nvSpPr>
          <p:cNvPr id="133" name="Google Shape;133;p18"/>
          <p:cNvSpPr/>
          <p:nvPr/>
        </p:nvSpPr>
        <p:spPr>
          <a:xfrm>
            <a:off x="1537447" y="3620725"/>
            <a:ext cx="1871700" cy="722700"/>
          </a:xfrm>
          <a:prstGeom prst="roundRect">
            <a:avLst>
              <a:gd fmla="val 16667" name="adj"/>
            </a:avLst>
          </a:prstGeom>
          <a:solidFill>
            <a:srgbClr val="E6B8AF">
              <a:alpha val="25910"/>
            </a:srgbClr>
          </a:solidFill>
          <a:ln cap="flat" cmpd="sng" w="9525">
            <a:solidFill>
              <a:srgbClr val="CC4125"/>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From 3</a:t>
            </a:r>
            <a:r>
              <a:rPr b="1" i="1" lang="it" sz="1600"/>
              <a:t>N</a:t>
            </a:r>
            <a:r>
              <a:rPr b="1" lang="it" sz="1600"/>
              <a:t> spatial variables</a:t>
            </a:r>
            <a:endParaRPr/>
          </a:p>
        </p:txBody>
      </p:sp>
      <p:cxnSp>
        <p:nvCxnSpPr>
          <p:cNvPr id="134" name="Google Shape;134;p18"/>
          <p:cNvCxnSpPr/>
          <p:nvPr/>
        </p:nvCxnSpPr>
        <p:spPr>
          <a:xfrm rot="10800000">
            <a:off x="4593306" y="3746864"/>
            <a:ext cx="0" cy="470400"/>
          </a:xfrm>
          <a:prstGeom prst="straightConnector1">
            <a:avLst/>
          </a:prstGeom>
          <a:noFill/>
          <a:ln cap="flat" cmpd="sng" w="19050">
            <a:solidFill>
              <a:schemeClr val="dk1"/>
            </a:solidFill>
            <a:prstDash val="solid"/>
            <a:round/>
            <a:headEnd len="med" w="med" type="none"/>
            <a:tailEnd len="med" w="med" type="triangle"/>
          </a:ln>
        </p:spPr>
      </p:cxnSp>
      <p:sp>
        <p:nvSpPr>
          <p:cNvPr id="135" name="Google Shape;135;p18"/>
          <p:cNvSpPr/>
          <p:nvPr/>
        </p:nvSpPr>
        <p:spPr>
          <a:xfrm>
            <a:off x="5777447" y="3620725"/>
            <a:ext cx="1871700" cy="722700"/>
          </a:xfrm>
          <a:prstGeom prst="roundRect">
            <a:avLst>
              <a:gd fmla="val 16667" name="adj"/>
            </a:avLst>
          </a:prstGeom>
          <a:solidFill>
            <a:srgbClr val="B6D7A8">
              <a:alpha val="30000"/>
            </a:srgbClr>
          </a:solidFill>
          <a:ln cap="flat" cmpd="sng" w="9525">
            <a:solidFill>
              <a:srgbClr val="38761D"/>
            </a:solidFill>
            <a:prstDash val="solid"/>
            <a:round/>
            <a:headEnd len="sm" w="sm" type="none"/>
            <a:tailEnd len="sm" w="sm" type="none"/>
          </a:ln>
          <a:effectLst>
            <a:outerShdw blurRad="57150" rotWithShape="0" algn="bl" dir="5400000" dist="19050">
              <a:srgbClr val="000000">
                <a:alpha val="1000"/>
              </a:srgbClr>
            </a:outerShdw>
          </a:effectLst>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it" sz="1600"/>
              <a:t>To</a:t>
            </a:r>
            <a:r>
              <a:rPr b="1" lang="it" sz="1600"/>
              <a:t> 3 spatial variables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9"/>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is the electron density?</a:t>
            </a:r>
            <a:endParaRPr sz="2500">
              <a:latin typeface="Montserrat SemiBold"/>
              <a:ea typeface="Montserrat SemiBold"/>
              <a:cs typeface="Montserrat SemiBold"/>
              <a:sym typeface="Montserrat SemiBold"/>
            </a:endParaRPr>
          </a:p>
        </p:txBody>
      </p:sp>
      <p:sp>
        <p:nvSpPr>
          <p:cNvPr id="141" name="Google Shape;141;p19"/>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2" name="Google Shape;14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43" name="Google Shape;143;p19"/>
          <p:cNvSpPr txBox="1"/>
          <p:nvPr>
            <p:ph idx="4294967295" type="ctrTitle"/>
          </p:nvPr>
        </p:nvSpPr>
        <p:spPr>
          <a:xfrm>
            <a:off x="311700" y="797850"/>
            <a:ext cx="8563200" cy="7626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600"/>
              <a:t>The electron density describes the probability of finding electrons in an </a:t>
            </a:r>
            <a:r>
              <a:rPr lang="it" sz="1600">
                <a:solidFill>
                  <a:srgbClr val="FF0000"/>
                </a:solidFill>
              </a:rPr>
              <a:t>infinitesimal region of space</a:t>
            </a:r>
            <a:r>
              <a:rPr lang="it" sz="1600"/>
              <a:t> around a given point </a:t>
            </a:r>
            <a:r>
              <a:rPr b="1" lang="it" sz="1600"/>
              <a:t>r</a:t>
            </a:r>
            <a:r>
              <a:rPr lang="it" sz="1600"/>
              <a:t>:</a:t>
            </a:r>
            <a:endParaRPr sz="1600"/>
          </a:p>
        </p:txBody>
      </p:sp>
      <p:pic>
        <p:nvPicPr>
          <p:cNvPr id="144" name="Google Shape;144;p19" title="density_4.png"/>
          <p:cNvPicPr preferRelativeResize="0"/>
          <p:nvPr/>
        </p:nvPicPr>
        <p:blipFill rotWithShape="1">
          <a:blip r:embed="rId3">
            <a:alphaModFix/>
          </a:blip>
          <a:srcRect b="13913" l="24810" r="25540" t="5617"/>
          <a:stretch/>
        </p:blipFill>
        <p:spPr>
          <a:xfrm>
            <a:off x="4022900" y="1397475"/>
            <a:ext cx="1098199" cy="400200"/>
          </a:xfrm>
          <a:prstGeom prst="rect">
            <a:avLst/>
          </a:prstGeom>
          <a:noFill/>
          <a:ln>
            <a:noFill/>
          </a:ln>
        </p:spPr>
      </p:pic>
      <p:cxnSp>
        <p:nvCxnSpPr>
          <p:cNvPr id="145" name="Google Shape;145;p19"/>
          <p:cNvCxnSpPr/>
          <p:nvPr/>
        </p:nvCxnSpPr>
        <p:spPr>
          <a:xfrm flipH="1" rot="10800000">
            <a:off x="4637093" y="1748436"/>
            <a:ext cx="470400" cy="2100"/>
          </a:xfrm>
          <a:prstGeom prst="straightConnector1">
            <a:avLst/>
          </a:prstGeom>
          <a:noFill/>
          <a:ln cap="flat" cmpd="sng" w="19050">
            <a:solidFill>
              <a:srgbClr val="FF0000"/>
            </a:solidFill>
            <a:prstDash val="solid"/>
            <a:round/>
            <a:headEnd len="med" w="med" type="none"/>
            <a:tailEnd len="med" w="med" type="none"/>
          </a:ln>
        </p:spPr>
      </p:cxnSp>
      <p:pic>
        <p:nvPicPr>
          <p:cNvPr id="146" name="Google Shape;146;p19" title="density_2.png"/>
          <p:cNvPicPr preferRelativeResize="0"/>
          <p:nvPr/>
        </p:nvPicPr>
        <p:blipFill rotWithShape="1">
          <a:blip r:embed="rId4">
            <a:alphaModFix/>
          </a:blip>
          <a:srcRect b="42321" l="0" r="0" t="33857"/>
          <a:stretch/>
        </p:blipFill>
        <p:spPr>
          <a:xfrm>
            <a:off x="1548450" y="1905345"/>
            <a:ext cx="6230753" cy="1060349"/>
          </a:xfrm>
          <a:prstGeom prst="rect">
            <a:avLst/>
          </a:prstGeom>
          <a:noFill/>
          <a:ln>
            <a:noFill/>
          </a:ln>
        </p:spPr>
      </p:pic>
      <p:cxnSp>
        <p:nvCxnSpPr>
          <p:cNvPr id="147" name="Google Shape;147;p19"/>
          <p:cNvCxnSpPr/>
          <p:nvPr/>
        </p:nvCxnSpPr>
        <p:spPr>
          <a:xfrm flipH="1">
            <a:off x="2195867" y="2548024"/>
            <a:ext cx="338100" cy="421500"/>
          </a:xfrm>
          <a:prstGeom prst="straightConnector1">
            <a:avLst/>
          </a:prstGeom>
          <a:noFill/>
          <a:ln cap="flat" cmpd="sng" w="19050">
            <a:solidFill>
              <a:schemeClr val="dk1"/>
            </a:solidFill>
            <a:prstDash val="solid"/>
            <a:round/>
            <a:headEnd len="med" w="med" type="none"/>
            <a:tailEnd len="med" w="med" type="triangle"/>
          </a:ln>
        </p:spPr>
      </p:cxnSp>
      <p:sp>
        <p:nvSpPr>
          <p:cNvPr id="148" name="Google Shape;148;p19"/>
          <p:cNvSpPr txBox="1"/>
          <p:nvPr/>
        </p:nvSpPr>
        <p:spPr>
          <a:xfrm>
            <a:off x="311700" y="2946125"/>
            <a:ext cx="33417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t"/>
              <a:t>electrons are </a:t>
            </a:r>
            <a:r>
              <a:rPr b="1" lang="it"/>
              <a:t>indistinguishable</a:t>
            </a:r>
            <a:r>
              <a:rPr lang="it"/>
              <a:t>: </a:t>
            </a:r>
            <a:endParaRPr/>
          </a:p>
          <a:p>
            <a:pPr indent="0" lvl="0" marL="0" rtl="0" algn="just">
              <a:spcBef>
                <a:spcPts val="0"/>
              </a:spcBef>
              <a:spcAft>
                <a:spcPts val="0"/>
              </a:spcAft>
              <a:buNone/>
            </a:pPr>
            <a:r>
              <a:rPr i="1" lang="it"/>
              <a:t>N</a:t>
            </a:r>
            <a:r>
              <a:rPr lang="it"/>
              <a:t> </a:t>
            </a:r>
            <a:r>
              <a:rPr lang="it"/>
              <a:t>accounts for the possibility of finding any electron at</a:t>
            </a:r>
            <a:r>
              <a:rPr lang="it"/>
              <a:t> </a:t>
            </a:r>
            <a:r>
              <a:rPr b="1" lang="it"/>
              <a:t>r</a:t>
            </a:r>
            <a:endParaRPr b="1"/>
          </a:p>
        </p:txBody>
      </p:sp>
      <p:cxnSp>
        <p:nvCxnSpPr>
          <p:cNvPr id="149" name="Google Shape;149;p19"/>
          <p:cNvCxnSpPr/>
          <p:nvPr/>
        </p:nvCxnSpPr>
        <p:spPr>
          <a:xfrm>
            <a:off x="4955367" y="2545790"/>
            <a:ext cx="329100" cy="400200"/>
          </a:xfrm>
          <a:prstGeom prst="straightConnector1">
            <a:avLst/>
          </a:prstGeom>
          <a:noFill/>
          <a:ln cap="flat" cmpd="sng" w="19050">
            <a:solidFill>
              <a:schemeClr val="dk1"/>
            </a:solidFill>
            <a:prstDash val="solid"/>
            <a:round/>
            <a:headEnd len="med" w="med" type="none"/>
            <a:tailEnd len="med" w="med" type="triangle"/>
          </a:ln>
        </p:spPr>
      </p:cxnSp>
      <p:sp>
        <p:nvSpPr>
          <p:cNvPr id="150" name="Google Shape;150;p19"/>
          <p:cNvSpPr/>
          <p:nvPr/>
        </p:nvSpPr>
        <p:spPr>
          <a:xfrm>
            <a:off x="2533970" y="2090156"/>
            <a:ext cx="3291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9"/>
          <p:cNvSpPr txBox="1"/>
          <p:nvPr/>
        </p:nvSpPr>
        <p:spPr>
          <a:xfrm>
            <a:off x="4593275" y="2925965"/>
            <a:ext cx="4147200" cy="831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it"/>
              <a:t>integration over the spatial coordinates and summation over the spin coordinates of the remaining </a:t>
            </a:r>
            <a:r>
              <a:rPr i="1" lang="it"/>
              <a:t>N</a:t>
            </a:r>
            <a:r>
              <a:rPr lang="it"/>
              <a:t>-1 electrons</a:t>
            </a:r>
            <a:endParaRPr b="1"/>
          </a:p>
        </p:txBody>
      </p:sp>
      <p:sp>
        <p:nvSpPr>
          <p:cNvPr id="152" name="Google Shape;152;p19"/>
          <p:cNvSpPr txBox="1"/>
          <p:nvPr/>
        </p:nvSpPr>
        <p:spPr>
          <a:xfrm>
            <a:off x="848850" y="3876921"/>
            <a:ext cx="7446300" cy="415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500"/>
              <a:t>By integrating the density over all space, we obtain the total number of electrons:</a:t>
            </a:r>
            <a:endParaRPr sz="1500"/>
          </a:p>
        </p:txBody>
      </p:sp>
      <p:pic>
        <p:nvPicPr>
          <p:cNvPr id="153" name="Google Shape;153;p19" title="density_3.png"/>
          <p:cNvPicPr preferRelativeResize="0"/>
          <p:nvPr/>
        </p:nvPicPr>
        <p:blipFill rotWithShape="1">
          <a:blip r:embed="rId5">
            <a:alphaModFix/>
          </a:blip>
          <a:srcRect b="48197" l="39562" r="0" t="34052"/>
          <a:stretch/>
        </p:blipFill>
        <p:spPr>
          <a:xfrm>
            <a:off x="3653425" y="4239790"/>
            <a:ext cx="1837147" cy="7625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0"/>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What is a functional?</a:t>
            </a:r>
            <a:endParaRPr sz="2500">
              <a:latin typeface="Montserrat SemiBold"/>
              <a:ea typeface="Montserrat SemiBold"/>
              <a:cs typeface="Montserrat SemiBold"/>
              <a:sym typeface="Montserrat SemiBold"/>
            </a:endParaRPr>
          </a:p>
        </p:txBody>
      </p:sp>
      <p:sp>
        <p:nvSpPr>
          <p:cNvPr id="159" name="Google Shape;159;p2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61" name="Google Shape;161;p20"/>
          <p:cNvSpPr txBox="1"/>
          <p:nvPr>
            <p:ph idx="4294967295" type="ctrTitle"/>
          </p:nvPr>
        </p:nvSpPr>
        <p:spPr>
          <a:xfrm>
            <a:off x="324000" y="795800"/>
            <a:ext cx="8563200" cy="7626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600"/>
              <a:t>Fundamental object of DFT → </a:t>
            </a:r>
            <a:r>
              <a:rPr b="1" lang="it" sz="1600"/>
              <a:t>functional</a:t>
            </a:r>
            <a:r>
              <a:rPr lang="it" sz="1600"/>
              <a:t>, </a:t>
            </a:r>
            <a:r>
              <a:rPr i="1" lang="it" sz="1600"/>
              <a:t>F</a:t>
            </a:r>
            <a:r>
              <a:rPr lang="it" sz="1600"/>
              <a:t>.</a:t>
            </a:r>
            <a:endParaRPr sz="1600"/>
          </a:p>
          <a:p>
            <a:pPr indent="0" lvl="0" marL="0" rtl="0" algn="just">
              <a:lnSpc>
                <a:spcPct val="115000"/>
              </a:lnSpc>
              <a:spcBef>
                <a:spcPts val="0"/>
              </a:spcBef>
              <a:spcAft>
                <a:spcPts val="0"/>
              </a:spcAft>
              <a:buSzPts val="990"/>
              <a:buNone/>
            </a:pPr>
            <a:r>
              <a:rPr lang="it" sz="1600"/>
              <a:t>A functional is a mathematical object that takes a function as input and returns a scalar:</a:t>
            </a:r>
            <a:endParaRPr sz="1600"/>
          </a:p>
        </p:txBody>
      </p:sp>
      <p:sp>
        <p:nvSpPr>
          <p:cNvPr id="162" name="Google Shape;162;p20"/>
          <p:cNvSpPr txBox="1"/>
          <p:nvPr>
            <p:ph idx="4294967295" type="ctrTitle"/>
          </p:nvPr>
        </p:nvSpPr>
        <p:spPr>
          <a:xfrm>
            <a:off x="5772379" y="1724465"/>
            <a:ext cx="1152300" cy="3936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500"/>
              <a:t>function</a:t>
            </a:r>
            <a:endParaRPr sz="1500"/>
          </a:p>
        </p:txBody>
      </p:sp>
      <p:sp>
        <p:nvSpPr>
          <p:cNvPr id="163" name="Google Shape;163;p20"/>
          <p:cNvSpPr txBox="1"/>
          <p:nvPr>
            <p:ph idx="4294967295" type="ctrTitle"/>
          </p:nvPr>
        </p:nvSpPr>
        <p:spPr>
          <a:xfrm>
            <a:off x="5772366" y="2374952"/>
            <a:ext cx="1152300" cy="3936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500"/>
              <a:t>functional</a:t>
            </a:r>
            <a:endParaRPr sz="1500"/>
          </a:p>
        </p:txBody>
      </p:sp>
      <p:sp>
        <p:nvSpPr>
          <p:cNvPr id="164" name="Google Shape;164;p20"/>
          <p:cNvSpPr txBox="1"/>
          <p:nvPr>
            <p:ph idx="4294967295" type="ctrTitle"/>
          </p:nvPr>
        </p:nvSpPr>
        <p:spPr>
          <a:xfrm>
            <a:off x="497700" y="3247675"/>
            <a:ext cx="8148600" cy="3936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990"/>
              <a:buNone/>
            </a:pPr>
            <a:r>
              <a:rPr lang="it" sz="1600"/>
              <a:t>In DFT, the relevant </a:t>
            </a:r>
            <a:r>
              <a:rPr lang="it" sz="1600">
                <a:solidFill>
                  <a:srgbClr val="38761D"/>
                </a:solidFill>
              </a:rPr>
              <a:t>function</a:t>
            </a:r>
            <a:r>
              <a:rPr lang="it" sz="1600"/>
              <a:t> is the electron density and the total energy is the </a:t>
            </a:r>
            <a:r>
              <a:rPr lang="it" sz="1600">
                <a:solidFill>
                  <a:srgbClr val="1155CC"/>
                </a:solidFill>
              </a:rPr>
              <a:t>functional</a:t>
            </a:r>
            <a:r>
              <a:rPr lang="it" sz="1600"/>
              <a:t>:</a:t>
            </a:r>
            <a:endParaRPr sz="1600"/>
          </a:p>
        </p:txBody>
      </p:sp>
      <p:pic>
        <p:nvPicPr>
          <p:cNvPr id="165" name="Google Shape;165;p20" title="density_4.png"/>
          <p:cNvPicPr preferRelativeResize="0"/>
          <p:nvPr/>
        </p:nvPicPr>
        <p:blipFill rotWithShape="1">
          <a:blip r:embed="rId3">
            <a:alphaModFix/>
          </a:blip>
          <a:srcRect b="13913" l="24810" r="45452" t="5617"/>
          <a:stretch/>
        </p:blipFill>
        <p:spPr>
          <a:xfrm>
            <a:off x="4264400" y="3699735"/>
            <a:ext cx="657775" cy="400200"/>
          </a:xfrm>
          <a:prstGeom prst="rect">
            <a:avLst/>
          </a:prstGeom>
          <a:noFill/>
          <a:ln cap="flat" cmpd="sng" w="9525">
            <a:solidFill>
              <a:srgbClr val="38761D"/>
            </a:solidFill>
            <a:prstDash val="solid"/>
            <a:round/>
            <a:headEnd len="sm" w="sm" type="none"/>
            <a:tailEnd len="sm" w="sm" type="none"/>
          </a:ln>
        </p:spPr>
      </p:pic>
      <p:pic>
        <p:nvPicPr>
          <p:cNvPr id="166" name="Google Shape;166;p20" title="energy_func_1.png"/>
          <p:cNvPicPr preferRelativeResize="0"/>
          <p:nvPr/>
        </p:nvPicPr>
        <p:blipFill rotWithShape="1">
          <a:blip r:embed="rId4">
            <a:alphaModFix/>
          </a:blip>
          <a:srcRect b="19377" l="14569" r="16155" t="9123"/>
          <a:stretch/>
        </p:blipFill>
        <p:spPr>
          <a:xfrm>
            <a:off x="4243125" y="4234675"/>
            <a:ext cx="725487" cy="400200"/>
          </a:xfrm>
          <a:prstGeom prst="rect">
            <a:avLst/>
          </a:prstGeom>
          <a:noFill/>
          <a:ln cap="flat" cmpd="sng" w="9525">
            <a:solidFill>
              <a:srgbClr val="1155CC"/>
            </a:solidFill>
            <a:prstDash val="solid"/>
            <a:round/>
            <a:headEnd len="sm" w="sm" type="none"/>
            <a:tailEnd len="sm" w="sm" type="none"/>
          </a:ln>
        </p:spPr>
      </p:pic>
      <p:pic>
        <p:nvPicPr>
          <p:cNvPr id="167" name="Google Shape;167;p20" title="function.png"/>
          <p:cNvPicPr preferRelativeResize="0"/>
          <p:nvPr/>
        </p:nvPicPr>
        <p:blipFill>
          <a:blip r:embed="rId5">
            <a:alphaModFix/>
          </a:blip>
          <a:stretch>
            <a:fillRect/>
          </a:stretch>
        </p:blipFill>
        <p:spPr>
          <a:xfrm>
            <a:off x="2687100" y="1729250"/>
            <a:ext cx="3085280" cy="572700"/>
          </a:xfrm>
          <a:prstGeom prst="rect">
            <a:avLst/>
          </a:prstGeom>
          <a:noFill/>
          <a:ln>
            <a:noFill/>
          </a:ln>
        </p:spPr>
      </p:pic>
      <p:pic>
        <p:nvPicPr>
          <p:cNvPr id="168" name="Google Shape;168;p20" title="functional.png"/>
          <p:cNvPicPr preferRelativeResize="0"/>
          <p:nvPr/>
        </p:nvPicPr>
        <p:blipFill>
          <a:blip r:embed="rId6">
            <a:alphaModFix/>
          </a:blip>
          <a:stretch>
            <a:fillRect/>
          </a:stretch>
        </p:blipFill>
        <p:spPr>
          <a:xfrm>
            <a:off x="2687100" y="2383915"/>
            <a:ext cx="3183506" cy="5979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1"/>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Hohenberg-Kohn theorems</a:t>
            </a:r>
            <a:endParaRPr sz="2500">
              <a:latin typeface="Montserrat SemiBold"/>
              <a:ea typeface="Montserrat SemiBold"/>
              <a:cs typeface="Montserrat SemiBold"/>
              <a:sym typeface="Montserrat SemiBold"/>
            </a:endParaRPr>
          </a:p>
        </p:txBody>
      </p:sp>
      <p:sp>
        <p:nvSpPr>
          <p:cNvPr id="174" name="Google Shape;174;p21"/>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
        <p:nvSpPr>
          <p:cNvPr id="176" name="Google Shape;176;p21"/>
          <p:cNvSpPr txBox="1"/>
          <p:nvPr>
            <p:ph idx="4294967295" type="ctrTitle"/>
          </p:nvPr>
        </p:nvSpPr>
        <p:spPr>
          <a:xfrm>
            <a:off x="190650" y="777050"/>
            <a:ext cx="8762700" cy="15828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600"/>
              <a:t>A bit of historical context:</a:t>
            </a:r>
            <a:endParaRPr sz="1600"/>
          </a:p>
          <a:p>
            <a:pPr indent="-323850" lvl="0" marL="457200" rtl="0" algn="just">
              <a:lnSpc>
                <a:spcPct val="115000"/>
              </a:lnSpc>
              <a:spcBef>
                <a:spcPts val="0"/>
              </a:spcBef>
              <a:spcAft>
                <a:spcPts val="0"/>
              </a:spcAft>
              <a:buSzPts val="1500"/>
              <a:buChar char="●"/>
            </a:pPr>
            <a:r>
              <a:rPr lang="it" sz="1500"/>
              <a:t>DFT is based on the two theorems proposed by Hohenberg and Kohn (HK) in 1964 (Phys. Rev., 136, 1964)</a:t>
            </a:r>
            <a:endParaRPr sz="1500"/>
          </a:p>
          <a:p>
            <a:pPr indent="-323850" lvl="0" marL="457200" rtl="0" algn="just">
              <a:lnSpc>
                <a:spcPct val="115000"/>
              </a:lnSpc>
              <a:spcBef>
                <a:spcPts val="0"/>
              </a:spcBef>
              <a:spcAft>
                <a:spcPts val="0"/>
              </a:spcAft>
              <a:buSzPts val="1500"/>
              <a:buChar char="●"/>
            </a:pPr>
            <a:r>
              <a:rPr lang="it" sz="1500"/>
              <a:t>Some of the limitations of the HK theorems were overcome by the constrained-search formulation introduced by Levy and Lieb (PNAS, 76, 1979; Int. J. Quantum. Chem., 24, 1983)</a:t>
            </a:r>
            <a:endParaRPr sz="1500"/>
          </a:p>
        </p:txBody>
      </p:sp>
      <p:sp>
        <p:nvSpPr>
          <p:cNvPr id="177" name="Google Shape;177;p21"/>
          <p:cNvSpPr txBox="1"/>
          <p:nvPr>
            <p:ph idx="4294967295" type="ctrTitle"/>
          </p:nvPr>
        </p:nvSpPr>
        <p:spPr>
          <a:xfrm>
            <a:off x="290404" y="2385198"/>
            <a:ext cx="8563200" cy="6699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it" sz="1600"/>
              <a:t>First HK theorem</a:t>
            </a:r>
            <a:r>
              <a:rPr lang="it" sz="1600"/>
              <a:t> → it proves that there is a one-to-one correspondence between the ground-state (GS) density and the external potential:</a:t>
            </a:r>
            <a:endParaRPr sz="1600"/>
          </a:p>
        </p:txBody>
      </p:sp>
      <p:pic>
        <p:nvPicPr>
          <p:cNvPr id="178" name="Google Shape;178;p21" title="HK_theo_1.png"/>
          <p:cNvPicPr preferRelativeResize="0"/>
          <p:nvPr/>
        </p:nvPicPr>
        <p:blipFill rotWithShape="1">
          <a:blip r:embed="rId3">
            <a:alphaModFix/>
          </a:blip>
          <a:srcRect b="14770" l="21556" r="23170" t="12545"/>
          <a:stretch/>
        </p:blipFill>
        <p:spPr>
          <a:xfrm>
            <a:off x="3714250" y="3092863"/>
            <a:ext cx="1715504" cy="393600"/>
          </a:xfrm>
          <a:prstGeom prst="rect">
            <a:avLst/>
          </a:prstGeom>
          <a:noFill/>
          <a:ln>
            <a:noFill/>
          </a:ln>
        </p:spPr>
      </p:pic>
      <p:sp>
        <p:nvSpPr>
          <p:cNvPr id="179" name="Google Shape;179;p21"/>
          <p:cNvSpPr txBox="1"/>
          <p:nvPr>
            <p:ph idx="4294967295" type="ctrTitle"/>
          </p:nvPr>
        </p:nvSpPr>
        <p:spPr>
          <a:xfrm>
            <a:off x="290392" y="3524223"/>
            <a:ext cx="8563200" cy="6699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it" sz="1600"/>
              <a:t>Second</a:t>
            </a:r>
            <a:r>
              <a:rPr b="1" lang="it" sz="1600"/>
              <a:t> HK theorem</a:t>
            </a:r>
            <a:r>
              <a:rPr lang="it" sz="1600"/>
              <a:t> → it </a:t>
            </a:r>
            <a:r>
              <a:rPr lang="it" sz="1600"/>
              <a:t>establishes that the GS energy can be written as a universal functional of the density, obeying a variational principle:</a:t>
            </a:r>
            <a:endParaRPr sz="1600"/>
          </a:p>
        </p:txBody>
      </p:sp>
      <p:pic>
        <p:nvPicPr>
          <p:cNvPr id="180" name="Google Shape;180;p21"/>
          <p:cNvPicPr preferRelativeResize="0"/>
          <p:nvPr/>
        </p:nvPicPr>
        <p:blipFill>
          <a:blip r:embed="rId4">
            <a:alphaModFix/>
          </a:blip>
          <a:stretch>
            <a:fillRect/>
          </a:stretch>
        </p:blipFill>
        <p:spPr>
          <a:xfrm>
            <a:off x="3630200" y="4219475"/>
            <a:ext cx="1926200" cy="821125"/>
          </a:xfrm>
          <a:prstGeom prst="rect">
            <a:avLst/>
          </a:prstGeom>
          <a:noFill/>
          <a:ln>
            <a:noFill/>
          </a:ln>
        </p:spPr>
      </p:pic>
      <p:cxnSp>
        <p:nvCxnSpPr>
          <p:cNvPr id="181" name="Google Shape;181;p21"/>
          <p:cNvCxnSpPr/>
          <p:nvPr/>
        </p:nvCxnSpPr>
        <p:spPr>
          <a:xfrm>
            <a:off x="255000" y="2347425"/>
            <a:ext cx="8634000" cy="0"/>
          </a:xfrm>
          <a:prstGeom prst="straightConnector1">
            <a:avLst/>
          </a:prstGeom>
          <a:noFill/>
          <a:ln cap="flat" cmpd="sng" w="19050">
            <a:solidFill>
              <a:schemeClr val="dk2"/>
            </a:solidFill>
            <a:prstDash val="dash"/>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The energy functional</a:t>
            </a:r>
            <a:endParaRPr sz="2500">
              <a:latin typeface="Montserrat SemiBold"/>
              <a:ea typeface="Montserrat SemiBold"/>
              <a:cs typeface="Montserrat SemiBold"/>
              <a:sym typeface="Montserrat SemiBold"/>
            </a:endParaRPr>
          </a:p>
        </p:txBody>
      </p:sp>
      <p:sp>
        <p:nvSpPr>
          <p:cNvPr id="187" name="Google Shape;187;p2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189" name="Google Shape;189;p22"/>
          <p:cNvPicPr preferRelativeResize="0"/>
          <p:nvPr/>
        </p:nvPicPr>
        <p:blipFill rotWithShape="1">
          <a:blip r:embed="rId3">
            <a:alphaModFix/>
          </a:blip>
          <a:srcRect b="47765" l="0" r="0" t="32944"/>
          <a:stretch/>
        </p:blipFill>
        <p:spPr>
          <a:xfrm>
            <a:off x="2408902" y="1290534"/>
            <a:ext cx="4326176" cy="887501"/>
          </a:xfrm>
          <a:prstGeom prst="rect">
            <a:avLst/>
          </a:prstGeom>
          <a:noFill/>
          <a:ln>
            <a:noFill/>
          </a:ln>
        </p:spPr>
      </p:pic>
      <p:sp>
        <p:nvSpPr>
          <p:cNvPr id="190" name="Google Shape;190;p22"/>
          <p:cNvSpPr txBox="1"/>
          <p:nvPr>
            <p:ph idx="4294967295" type="ctrTitle"/>
          </p:nvPr>
        </p:nvSpPr>
        <p:spPr>
          <a:xfrm>
            <a:off x="1964988" y="860036"/>
            <a:ext cx="5214000" cy="3936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600"/>
              <a:t>The energy functional contains two main quantities:</a:t>
            </a:r>
            <a:endParaRPr sz="1600"/>
          </a:p>
        </p:txBody>
      </p:sp>
      <p:cxnSp>
        <p:nvCxnSpPr>
          <p:cNvPr id="191" name="Google Shape;191;p22"/>
          <p:cNvCxnSpPr/>
          <p:nvPr/>
        </p:nvCxnSpPr>
        <p:spPr>
          <a:xfrm flipH="1" rot="10800000">
            <a:off x="4450565" y="2162672"/>
            <a:ext cx="2284500" cy="2700"/>
          </a:xfrm>
          <a:prstGeom prst="straightConnector1">
            <a:avLst/>
          </a:prstGeom>
          <a:noFill/>
          <a:ln cap="flat" cmpd="sng" w="19050">
            <a:solidFill>
              <a:srgbClr val="FF0000"/>
            </a:solidFill>
            <a:prstDash val="solid"/>
            <a:round/>
            <a:headEnd len="med" w="med" type="none"/>
            <a:tailEnd len="med" w="med" type="none"/>
          </a:ln>
        </p:spPr>
      </p:cxnSp>
      <p:cxnSp>
        <p:nvCxnSpPr>
          <p:cNvPr id="192" name="Google Shape;192;p22"/>
          <p:cNvCxnSpPr/>
          <p:nvPr/>
        </p:nvCxnSpPr>
        <p:spPr>
          <a:xfrm flipH="1">
            <a:off x="5366342" y="2284052"/>
            <a:ext cx="216300" cy="436800"/>
          </a:xfrm>
          <a:prstGeom prst="straightConnector1">
            <a:avLst/>
          </a:prstGeom>
          <a:noFill/>
          <a:ln cap="flat" cmpd="sng" w="19050">
            <a:solidFill>
              <a:schemeClr val="dk1"/>
            </a:solidFill>
            <a:prstDash val="solid"/>
            <a:round/>
            <a:headEnd len="med" w="med" type="none"/>
            <a:tailEnd len="med" w="med" type="triangle"/>
          </a:ln>
        </p:spPr>
      </p:cxnSp>
      <p:sp>
        <p:nvSpPr>
          <p:cNvPr id="193" name="Google Shape;193;p22"/>
          <p:cNvSpPr txBox="1"/>
          <p:nvPr>
            <p:ph idx="4294967295" type="ctrTitle"/>
          </p:nvPr>
        </p:nvSpPr>
        <p:spPr>
          <a:xfrm>
            <a:off x="1153650" y="2762725"/>
            <a:ext cx="6836700" cy="7464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t>In principle: </a:t>
            </a:r>
            <a:r>
              <a:rPr i="1" lang="it" sz="1500"/>
              <a:t>V</a:t>
            </a:r>
            <a:r>
              <a:rPr baseline="-25000" i="1" lang="it" sz="1500"/>
              <a:t>ext</a:t>
            </a:r>
            <a:r>
              <a:rPr lang="it" sz="1500"/>
              <a:t> can include any external potential acting on the electrons</a:t>
            </a:r>
            <a:endParaRPr sz="1500"/>
          </a:p>
          <a:p>
            <a:pPr indent="0" lvl="0" marL="0" rtl="0" algn="just">
              <a:lnSpc>
                <a:spcPct val="115000"/>
              </a:lnSpc>
              <a:spcBef>
                <a:spcPts val="0"/>
              </a:spcBef>
              <a:spcAft>
                <a:spcPts val="0"/>
              </a:spcAft>
              <a:buNone/>
            </a:pPr>
            <a:r>
              <a:rPr lang="it" sz="1500"/>
              <a:t>In practice: the nuclear attraction dominates and </a:t>
            </a:r>
            <a:r>
              <a:rPr i="1" lang="it" sz="1500"/>
              <a:t>V</a:t>
            </a:r>
            <a:r>
              <a:rPr baseline="-25000" i="1" lang="it" sz="1500"/>
              <a:t>ext</a:t>
            </a:r>
            <a:r>
              <a:rPr lang="it" sz="1500"/>
              <a:t> takes the following form:</a:t>
            </a:r>
            <a:endParaRPr sz="1500"/>
          </a:p>
        </p:txBody>
      </p:sp>
      <p:pic>
        <p:nvPicPr>
          <p:cNvPr id="194" name="Google Shape;194;p22"/>
          <p:cNvPicPr preferRelativeResize="0"/>
          <p:nvPr/>
        </p:nvPicPr>
        <p:blipFill rotWithShape="1">
          <a:blip r:embed="rId4">
            <a:alphaModFix/>
          </a:blip>
          <a:srcRect b="43321" l="11287" r="9787" t="29200"/>
          <a:stretch/>
        </p:blipFill>
        <p:spPr>
          <a:xfrm>
            <a:off x="1699137" y="3530062"/>
            <a:ext cx="3035775" cy="991774"/>
          </a:xfrm>
          <a:prstGeom prst="rect">
            <a:avLst/>
          </a:prstGeom>
          <a:noFill/>
          <a:ln>
            <a:noFill/>
          </a:ln>
        </p:spPr>
      </p:pic>
      <p:sp>
        <p:nvSpPr>
          <p:cNvPr id="195" name="Google Shape;195;p22"/>
          <p:cNvSpPr txBox="1"/>
          <p:nvPr>
            <p:ph idx="4294967295" type="ctrTitle"/>
          </p:nvPr>
        </p:nvSpPr>
        <p:spPr>
          <a:xfrm>
            <a:off x="1435788" y="4542775"/>
            <a:ext cx="6272400" cy="4368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t>Once we have ρ, </a:t>
            </a:r>
            <a:r>
              <a:rPr i="1" lang="it" sz="1500"/>
              <a:t>V</a:t>
            </a:r>
            <a:r>
              <a:rPr baseline="-25000" i="1" lang="it" sz="1500"/>
              <a:t>ext</a:t>
            </a:r>
            <a:r>
              <a:rPr i="1" lang="it" sz="1500"/>
              <a:t> </a:t>
            </a:r>
            <a:r>
              <a:rPr lang="it" sz="1500"/>
              <a:t>is straightforward to compute (we know </a:t>
            </a:r>
            <a:r>
              <a:rPr i="1" lang="it" sz="1500"/>
              <a:t>Z</a:t>
            </a:r>
            <a:r>
              <a:rPr baseline="-25000" i="1" lang="it" sz="1500"/>
              <a:t>K</a:t>
            </a:r>
            <a:r>
              <a:rPr lang="it" sz="1500"/>
              <a:t> and </a:t>
            </a:r>
            <a:r>
              <a:rPr b="1" lang="it" sz="1500"/>
              <a:t>R</a:t>
            </a:r>
            <a:r>
              <a:rPr baseline="-25000" lang="it" sz="1500"/>
              <a:t>K</a:t>
            </a:r>
            <a:r>
              <a:rPr lang="it" sz="1500"/>
              <a:t>)</a:t>
            </a:r>
            <a:r>
              <a:rPr lang="it" sz="1500"/>
              <a:t> </a:t>
            </a:r>
            <a:endParaRPr sz="1500"/>
          </a:p>
        </p:txBody>
      </p:sp>
      <p:cxnSp>
        <p:nvCxnSpPr>
          <p:cNvPr id="196" name="Google Shape;196;p22"/>
          <p:cNvCxnSpPr/>
          <p:nvPr/>
        </p:nvCxnSpPr>
        <p:spPr>
          <a:xfrm>
            <a:off x="4857779" y="4025952"/>
            <a:ext cx="522300" cy="0"/>
          </a:xfrm>
          <a:prstGeom prst="straightConnector1">
            <a:avLst/>
          </a:prstGeom>
          <a:noFill/>
          <a:ln cap="flat" cmpd="sng" w="19050">
            <a:solidFill>
              <a:schemeClr val="dk1"/>
            </a:solidFill>
            <a:prstDash val="solid"/>
            <a:round/>
            <a:headEnd len="med" w="med" type="none"/>
            <a:tailEnd len="med" w="med" type="triangle"/>
          </a:ln>
        </p:spPr>
      </p:cxnSp>
      <p:sp>
        <p:nvSpPr>
          <p:cNvPr id="197" name="Google Shape;197;p22"/>
          <p:cNvSpPr txBox="1"/>
          <p:nvPr>
            <p:ph idx="4294967295" type="ctrTitle"/>
          </p:nvPr>
        </p:nvSpPr>
        <p:spPr>
          <a:xfrm>
            <a:off x="5502963" y="3786613"/>
            <a:ext cx="1941900" cy="4368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t>Coulomb attraction</a:t>
            </a:r>
            <a:endParaRPr b="1"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3"/>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The energy functional</a:t>
            </a:r>
            <a:endParaRPr sz="2500">
              <a:latin typeface="Montserrat SemiBold"/>
              <a:ea typeface="Montserrat SemiBold"/>
              <a:cs typeface="Montserrat SemiBold"/>
              <a:sym typeface="Montserrat SemiBold"/>
            </a:endParaRPr>
          </a:p>
        </p:txBody>
      </p:sp>
      <p:sp>
        <p:nvSpPr>
          <p:cNvPr id="203" name="Google Shape;203;p23"/>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4" name="Google Shape;20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pic>
        <p:nvPicPr>
          <p:cNvPr id="205" name="Google Shape;205;p23"/>
          <p:cNvPicPr preferRelativeResize="0"/>
          <p:nvPr/>
        </p:nvPicPr>
        <p:blipFill rotWithShape="1">
          <a:blip r:embed="rId3">
            <a:alphaModFix/>
          </a:blip>
          <a:srcRect b="47765" l="0" r="0" t="32944"/>
          <a:stretch/>
        </p:blipFill>
        <p:spPr>
          <a:xfrm>
            <a:off x="2408902" y="1290534"/>
            <a:ext cx="4326176" cy="887501"/>
          </a:xfrm>
          <a:prstGeom prst="rect">
            <a:avLst/>
          </a:prstGeom>
          <a:noFill/>
          <a:ln>
            <a:noFill/>
          </a:ln>
        </p:spPr>
      </p:pic>
      <p:sp>
        <p:nvSpPr>
          <p:cNvPr id="206" name="Google Shape;206;p23"/>
          <p:cNvSpPr txBox="1"/>
          <p:nvPr>
            <p:ph idx="4294967295" type="ctrTitle"/>
          </p:nvPr>
        </p:nvSpPr>
        <p:spPr>
          <a:xfrm>
            <a:off x="1964988" y="860036"/>
            <a:ext cx="5214000" cy="3936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600"/>
              <a:t>The energy functional contains two main quantities:</a:t>
            </a:r>
            <a:endParaRPr sz="1600"/>
          </a:p>
        </p:txBody>
      </p:sp>
      <p:cxnSp>
        <p:nvCxnSpPr>
          <p:cNvPr id="207" name="Google Shape;207;p23"/>
          <p:cNvCxnSpPr/>
          <p:nvPr/>
        </p:nvCxnSpPr>
        <p:spPr>
          <a:xfrm flipH="1" rot="10800000">
            <a:off x="4450565" y="2162672"/>
            <a:ext cx="2284500" cy="2700"/>
          </a:xfrm>
          <a:prstGeom prst="straightConnector1">
            <a:avLst/>
          </a:prstGeom>
          <a:noFill/>
          <a:ln cap="flat" cmpd="sng" w="19050">
            <a:solidFill>
              <a:srgbClr val="FF0000"/>
            </a:solidFill>
            <a:prstDash val="solid"/>
            <a:round/>
            <a:headEnd len="med" w="med" type="none"/>
            <a:tailEnd len="med" w="med" type="none"/>
          </a:ln>
        </p:spPr>
      </p:cxnSp>
      <p:cxnSp>
        <p:nvCxnSpPr>
          <p:cNvPr id="208" name="Google Shape;208;p23"/>
          <p:cNvCxnSpPr/>
          <p:nvPr/>
        </p:nvCxnSpPr>
        <p:spPr>
          <a:xfrm flipH="1">
            <a:off x="5366342" y="2284052"/>
            <a:ext cx="216300" cy="436800"/>
          </a:xfrm>
          <a:prstGeom prst="straightConnector1">
            <a:avLst/>
          </a:prstGeom>
          <a:noFill/>
          <a:ln cap="flat" cmpd="sng" w="19050">
            <a:solidFill>
              <a:schemeClr val="dk1"/>
            </a:solidFill>
            <a:prstDash val="solid"/>
            <a:round/>
            <a:headEnd len="med" w="med" type="none"/>
            <a:tailEnd len="med" w="med" type="triangle"/>
          </a:ln>
        </p:spPr>
      </p:cxnSp>
      <p:sp>
        <p:nvSpPr>
          <p:cNvPr id="209" name="Google Shape;209;p23"/>
          <p:cNvSpPr txBox="1"/>
          <p:nvPr>
            <p:ph idx="4294967295" type="ctrTitle"/>
          </p:nvPr>
        </p:nvSpPr>
        <p:spPr>
          <a:xfrm>
            <a:off x="1153650" y="2762725"/>
            <a:ext cx="6836700" cy="7464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t>In principle: </a:t>
            </a:r>
            <a:r>
              <a:rPr i="1" lang="it" sz="1500"/>
              <a:t>V</a:t>
            </a:r>
            <a:r>
              <a:rPr baseline="-25000" i="1" lang="it" sz="1500"/>
              <a:t>ext</a:t>
            </a:r>
            <a:r>
              <a:rPr lang="it" sz="1500"/>
              <a:t> can include any external potential acting on the electrons</a:t>
            </a:r>
            <a:endParaRPr sz="1500"/>
          </a:p>
          <a:p>
            <a:pPr indent="0" lvl="0" marL="0" rtl="0" algn="just">
              <a:lnSpc>
                <a:spcPct val="115000"/>
              </a:lnSpc>
              <a:spcBef>
                <a:spcPts val="0"/>
              </a:spcBef>
              <a:spcAft>
                <a:spcPts val="0"/>
              </a:spcAft>
              <a:buNone/>
            </a:pPr>
            <a:r>
              <a:rPr lang="it" sz="1500"/>
              <a:t>In practice: the nuclear attraction dominates and </a:t>
            </a:r>
            <a:r>
              <a:rPr i="1" lang="it" sz="1500"/>
              <a:t>V</a:t>
            </a:r>
            <a:r>
              <a:rPr baseline="-25000" i="1" lang="it" sz="1500"/>
              <a:t>ext</a:t>
            </a:r>
            <a:r>
              <a:rPr lang="it" sz="1500"/>
              <a:t> takes the following form:</a:t>
            </a:r>
            <a:endParaRPr sz="1500"/>
          </a:p>
        </p:txBody>
      </p:sp>
      <p:pic>
        <p:nvPicPr>
          <p:cNvPr id="210" name="Google Shape;210;p23"/>
          <p:cNvPicPr preferRelativeResize="0"/>
          <p:nvPr/>
        </p:nvPicPr>
        <p:blipFill rotWithShape="1">
          <a:blip r:embed="rId4">
            <a:alphaModFix/>
          </a:blip>
          <a:srcRect b="43321" l="11287" r="9787" t="29200"/>
          <a:stretch/>
        </p:blipFill>
        <p:spPr>
          <a:xfrm>
            <a:off x="1699137" y="3530062"/>
            <a:ext cx="3035775" cy="991774"/>
          </a:xfrm>
          <a:prstGeom prst="rect">
            <a:avLst/>
          </a:prstGeom>
          <a:noFill/>
          <a:ln>
            <a:noFill/>
          </a:ln>
        </p:spPr>
      </p:pic>
      <p:sp>
        <p:nvSpPr>
          <p:cNvPr id="211" name="Google Shape;211;p23"/>
          <p:cNvSpPr txBox="1"/>
          <p:nvPr>
            <p:ph idx="4294967295" type="ctrTitle"/>
          </p:nvPr>
        </p:nvSpPr>
        <p:spPr>
          <a:xfrm>
            <a:off x="1435788" y="4542775"/>
            <a:ext cx="6272400" cy="436800"/>
          </a:xfrm>
          <a:prstGeom prst="rect">
            <a:avLst/>
          </a:prstGeom>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lang="it" sz="1500"/>
              <a:t>Once we have ρ, </a:t>
            </a:r>
            <a:r>
              <a:rPr i="1" lang="it" sz="1500"/>
              <a:t>V</a:t>
            </a:r>
            <a:r>
              <a:rPr baseline="-25000" i="1" lang="it" sz="1500"/>
              <a:t>ext</a:t>
            </a:r>
            <a:r>
              <a:rPr i="1" lang="it" sz="1500"/>
              <a:t> </a:t>
            </a:r>
            <a:r>
              <a:rPr lang="it" sz="1500"/>
              <a:t>is straightforward to compute (we know </a:t>
            </a:r>
            <a:r>
              <a:rPr i="1" lang="it" sz="1500"/>
              <a:t>Z</a:t>
            </a:r>
            <a:r>
              <a:rPr baseline="-25000" i="1" lang="it" sz="1500"/>
              <a:t>K</a:t>
            </a:r>
            <a:r>
              <a:rPr lang="it" sz="1500"/>
              <a:t> and </a:t>
            </a:r>
            <a:r>
              <a:rPr b="1" lang="it" sz="1500"/>
              <a:t>R</a:t>
            </a:r>
            <a:r>
              <a:rPr baseline="-25000" lang="it" sz="1500"/>
              <a:t>K</a:t>
            </a:r>
            <a:r>
              <a:rPr lang="it" sz="1500"/>
              <a:t>) </a:t>
            </a:r>
            <a:endParaRPr sz="1500"/>
          </a:p>
        </p:txBody>
      </p:sp>
      <p:cxnSp>
        <p:nvCxnSpPr>
          <p:cNvPr id="212" name="Google Shape;212;p23"/>
          <p:cNvCxnSpPr/>
          <p:nvPr/>
        </p:nvCxnSpPr>
        <p:spPr>
          <a:xfrm>
            <a:off x="4857779" y="4025952"/>
            <a:ext cx="522300" cy="0"/>
          </a:xfrm>
          <a:prstGeom prst="straightConnector1">
            <a:avLst/>
          </a:prstGeom>
          <a:noFill/>
          <a:ln cap="flat" cmpd="sng" w="19050">
            <a:solidFill>
              <a:schemeClr val="dk1"/>
            </a:solidFill>
            <a:prstDash val="solid"/>
            <a:round/>
            <a:headEnd len="med" w="med" type="none"/>
            <a:tailEnd len="med" w="med" type="triangle"/>
          </a:ln>
        </p:spPr>
      </p:cxnSp>
      <p:sp>
        <p:nvSpPr>
          <p:cNvPr id="213" name="Google Shape;213;p23"/>
          <p:cNvSpPr txBox="1"/>
          <p:nvPr>
            <p:ph idx="4294967295" type="ctrTitle"/>
          </p:nvPr>
        </p:nvSpPr>
        <p:spPr>
          <a:xfrm>
            <a:off x="5502963" y="3786613"/>
            <a:ext cx="1941900" cy="436800"/>
          </a:xfrm>
          <a:prstGeom prst="rect">
            <a:avLst/>
          </a:prstGeom>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1500"/>
              <a:t>Coulomb attraction</a:t>
            </a:r>
            <a:endParaRPr b="1"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4"/>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The Kohn-Sham approach</a:t>
            </a:r>
            <a:endParaRPr sz="2500">
              <a:latin typeface="Montserrat SemiBold"/>
              <a:ea typeface="Montserrat SemiBold"/>
              <a:cs typeface="Montserrat SemiBold"/>
              <a:sym typeface="Montserrat SemiBold"/>
            </a:endParaRPr>
          </a:p>
        </p:txBody>
      </p:sp>
      <p:sp>
        <p:nvSpPr>
          <p:cNvPr id="219" name="Google Shape;219;p2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0" name="Google Shape;220;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5"/>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The exchange-correlation functional</a:t>
            </a:r>
            <a:endParaRPr sz="2500">
              <a:latin typeface="Montserrat SemiBold"/>
              <a:ea typeface="Montserrat SemiBold"/>
              <a:cs typeface="Montserrat SemiBold"/>
              <a:sym typeface="Montserrat SemiBold"/>
            </a:endParaRPr>
          </a:p>
        </p:txBody>
      </p:sp>
      <p:sp>
        <p:nvSpPr>
          <p:cNvPr id="226" name="Google Shape;226;p2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7" name="Google Shape;227;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6"/>
          <p:cNvSpPr txBox="1"/>
          <p:nvPr>
            <p:ph type="title"/>
          </p:nvPr>
        </p:nvSpPr>
        <p:spPr>
          <a:xfrm>
            <a:off x="311700" y="146450"/>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2500">
                <a:latin typeface="Montserrat SemiBold"/>
                <a:ea typeface="Montserrat SemiBold"/>
                <a:cs typeface="Montserrat SemiBold"/>
                <a:sym typeface="Montserrat SemiBold"/>
              </a:rPr>
              <a:t>Practical implementation (SCF)</a:t>
            </a:r>
            <a:endParaRPr sz="2500">
              <a:latin typeface="Montserrat SemiBold"/>
              <a:ea typeface="Montserrat SemiBold"/>
              <a:cs typeface="Montserrat SemiBold"/>
              <a:sym typeface="Montserrat SemiBold"/>
            </a:endParaRPr>
          </a:p>
        </p:txBody>
      </p:sp>
      <p:sp>
        <p:nvSpPr>
          <p:cNvPr id="233" name="Google Shape;233;p2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4" name="Google Shape;23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