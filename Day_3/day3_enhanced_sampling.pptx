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Montserrat SemiBold"/>
      <p:regular r:id="rId25"/>
      <p:bold r:id="rId26"/>
      <p:italic r:id="rId27"/>
      <p:boldItalic r:id="rId28"/>
    </p:embeddedFont>
    <p:embeddedFont>
      <p:font typeface="Montserrat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bold.fntdata"/><Relationship Id="rId25" Type="http://schemas.openxmlformats.org/officeDocument/2006/relationships/font" Target="fonts/MontserratSemiBold-regular.fntdata"/><Relationship Id="rId28" Type="http://schemas.openxmlformats.org/officeDocument/2006/relationships/font" Target="fonts/MontserratSemiBold-boldItalic.fntdata"/><Relationship Id="rId27" Type="http://schemas.openxmlformats.org/officeDocument/2006/relationships/font" Target="fonts/MontserratSemiBol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italic.fntdata"/><Relationship Id="rId30" Type="http://schemas.openxmlformats.org/officeDocument/2006/relationships/font" Target="fonts/MontserratMedium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MontserratMedium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86edadab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86edadab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a44b1185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a44b1185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a44b1185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a44b1185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a44b1185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a44b1185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a6f0469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a6f0469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a6f04693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a6f04693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a6f046932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a6f04693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a6f04693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fa6f04693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a6f046932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a6f046932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fa6f046932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fa6f046932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a6f046932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a6f046932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a6f046932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a6f046932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a6f046932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a6f046932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a6f046932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fa6f046932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a6f046932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fa6f046932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a6f046932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fa6f046932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a6f046932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fa6f046932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a6f046932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a6f046932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0000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7.jp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61.png"/><Relationship Id="rId5" Type="http://schemas.openxmlformats.org/officeDocument/2006/relationships/image" Target="../media/image12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Relationship Id="rId8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2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3.png"/><Relationship Id="rId9" Type="http://schemas.openxmlformats.org/officeDocument/2006/relationships/image" Target="../media/image36.png"/><Relationship Id="rId5" Type="http://schemas.openxmlformats.org/officeDocument/2006/relationships/image" Target="../media/image24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Relationship Id="rId5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7.jpg"/><Relationship Id="rId5" Type="http://schemas.openxmlformats.org/officeDocument/2006/relationships/image" Target="../media/image3.png"/><Relationship Id="rId6" Type="http://schemas.openxmlformats.org/officeDocument/2006/relationships/image" Target="../media/image2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jpg"/></Relationships>
</file>

<file path=ppt/slides/_rels/slide12.xml.rels><?xml version="1.0" encoding="UTF-8" standalone="yes"?><Relationships xmlns="http://schemas.openxmlformats.org/package/2006/relationships"><Relationship Id="rId10" Type="http://schemas.openxmlformats.org/officeDocument/2006/relationships/image" Target="../media/image51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Relationship Id="rId9" Type="http://schemas.openxmlformats.org/officeDocument/2006/relationships/image" Target="../media/image39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7.png"/><Relationship Id="rId8" Type="http://schemas.openxmlformats.org/officeDocument/2006/relationships/image" Target="../media/image3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60.png"/><Relationship Id="rId5" Type="http://schemas.openxmlformats.org/officeDocument/2006/relationships/image" Target="../media/image59.png"/><Relationship Id="rId6" Type="http://schemas.openxmlformats.org/officeDocument/2006/relationships/image" Target="../media/image32.png"/><Relationship Id="rId7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1.png"/><Relationship Id="rId7" Type="http://schemas.openxmlformats.org/officeDocument/2006/relationships/image" Target="../media/image4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6.png"/><Relationship Id="rId4" Type="http://schemas.openxmlformats.org/officeDocument/2006/relationships/image" Target="../media/image44.png"/><Relationship Id="rId5" Type="http://schemas.openxmlformats.org/officeDocument/2006/relationships/image" Target="../media/image47.png"/><Relationship Id="rId6" Type="http://schemas.openxmlformats.org/officeDocument/2006/relationships/image" Target="../media/image49.png"/><Relationship Id="rId7" Type="http://schemas.openxmlformats.org/officeDocument/2006/relationships/image" Target="../media/image35.png"/><Relationship Id="rId8" Type="http://schemas.openxmlformats.org/officeDocument/2006/relationships/image" Target="../media/image5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2.png"/><Relationship Id="rId8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ctrTitle"/>
          </p:nvPr>
        </p:nvSpPr>
        <p:spPr>
          <a:xfrm>
            <a:off x="1597300" y="1118775"/>
            <a:ext cx="6686100" cy="16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>
                <a:latin typeface="Montserrat SemiBold"/>
                <a:ea typeface="Montserrat SemiBold"/>
                <a:cs typeface="Montserrat SemiBold"/>
                <a:sym typeface="Montserrat SemiBold"/>
              </a:rPr>
              <a:t>Enhanced sampling techniques</a:t>
            </a:r>
            <a:endParaRPr sz="30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2931300"/>
            <a:ext cx="8520600" cy="7080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Montserrat Medium"/>
                <a:ea typeface="Montserrat Medium"/>
                <a:cs typeface="Montserrat Medium"/>
                <a:sym typeface="Montserrat Medium"/>
              </a:rPr>
              <a:t>PWF </a:t>
            </a:r>
            <a:r>
              <a:rPr lang="it" sz="1600">
                <a:latin typeface="Montserrat Medium"/>
                <a:ea typeface="Montserrat Medium"/>
                <a:cs typeface="Montserrat Medium"/>
                <a:sym typeface="Montserrat Medium"/>
              </a:rPr>
              <a:t>Summer school on Theoretical and Computational Biophysics</a:t>
            </a:r>
            <a:endParaRPr sz="160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" name="Google Shape;58;p14"/>
          <p:cNvSpPr/>
          <p:nvPr/>
        </p:nvSpPr>
        <p:spPr>
          <a:xfrm>
            <a:off x="0" y="0"/>
            <a:ext cx="427500" cy="5143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93C47D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/>
        </p:nvSpPr>
        <p:spPr>
          <a:xfrm>
            <a:off x="3187850" y="4350625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</a:rPr>
              <a:t>Day 3/5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2588150" y="3723900"/>
            <a:ext cx="4199400" cy="431100"/>
          </a:xfrm>
          <a:prstGeom prst="rect">
            <a:avLst/>
          </a:prstGeom>
        </p:spPr>
        <p:txBody>
          <a:bodyPr anchorCtr="0" anchor="t" bIns="91425" lIns="90000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latin typeface="Montserrat Medium"/>
                <a:ea typeface="Montserrat Medium"/>
                <a:cs typeface="Montserrat Medium"/>
                <a:sym typeface="Montserrat Medium"/>
              </a:rPr>
              <a:t>University of Colombo</a:t>
            </a:r>
            <a:endParaRPr sz="1600"/>
          </a:p>
        </p:txBody>
      </p:sp>
      <p:pic>
        <p:nvPicPr>
          <p:cNvPr descr="ICTP logo"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925" y="217625"/>
            <a:ext cx="2481185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1628425" y="2719325"/>
            <a:ext cx="6846000" cy="798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Visual Identity | University of Colombo, Sri Lanka"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7850" y="217625"/>
            <a:ext cx="2657909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6187850" y="4350625"/>
            <a:ext cx="2335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2"/>
                </a:solidFill>
              </a:rPr>
              <a:t>Dr. Vittorio Del Tatto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Ensemble averages 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335625" y="1206400"/>
            <a:ext cx="822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Ensemble averages: </a:t>
            </a:r>
            <a:r>
              <a:rPr lang="it" sz="1500">
                <a:solidFill>
                  <a:schemeClr val="dk1"/>
                </a:solidFill>
              </a:rPr>
              <a:t>given microscopic observable </a:t>
            </a:r>
            <a:r>
              <a:rPr i="1" lang="it" sz="1500">
                <a:solidFill>
                  <a:schemeClr val="dk1"/>
                </a:solidFill>
              </a:rPr>
              <a:t>O</a:t>
            </a:r>
            <a:r>
              <a:rPr lang="it" sz="1500">
                <a:solidFill>
                  <a:schemeClr val="dk1"/>
                </a:solidFill>
              </a:rPr>
              <a:t>(𝛤), its expected value is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35625" y="2152300"/>
            <a:ext cx="822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it" sz="1500">
                <a:solidFill>
                  <a:schemeClr val="dk1"/>
                </a:solidFill>
              </a:rPr>
              <a:t>Ergodicity: </a:t>
            </a:r>
            <a:r>
              <a:rPr lang="it" sz="1500">
                <a:solidFill>
                  <a:schemeClr val="dk1"/>
                </a:solidFill>
              </a:rPr>
              <a:t>if </a:t>
            </a:r>
            <a:r>
              <a:rPr lang="it" sz="1500">
                <a:solidFill>
                  <a:schemeClr val="dk1"/>
                </a:solidFill>
              </a:rPr>
              <a:t>𝛤(t) denotes a </a:t>
            </a:r>
            <a:r>
              <a:rPr b="1" lang="it" sz="1500">
                <a:solidFill>
                  <a:schemeClr val="dk1"/>
                </a:solidFill>
              </a:rPr>
              <a:t>single trajectory </a:t>
            </a:r>
            <a:r>
              <a:rPr lang="it" sz="1500">
                <a:solidFill>
                  <a:schemeClr val="dk1"/>
                </a:solidFill>
              </a:rPr>
              <a:t>starting from 𝛤(0),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74" name="Google Shape;74;p15" title="{&quot;red&quot;:0,&quot;green&quot;:0,&quot;blue&quot;:0,&quot;origURL&quot;:&quot;https://saxarona.github.io/mathjax-viewer/?input=%5Clim_%7BT%5Crightarrow%20%2B%20%5Cinfty%7D%20%5Cfrac%7B1%7D%7BT%7D%20%5Cint_0%5ET%20dt%20O(%5CGamma(t))%20%3D%20%5Clangle%20O%5Crangle#0&quot;,&quot;size&quot;:15,&quot;width&quot;:236.2204724409449,&quot;height&quot;:95.4330708661417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1612" y="2597450"/>
            <a:ext cx="2715826" cy="5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821776" y="3167725"/>
            <a:ext cx="8029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If the system is ergodic, ensemble averages (across different realizations) are equivalent to time averages (on a single realization)!</a:t>
            </a:r>
            <a:endParaRPr/>
          </a:p>
        </p:txBody>
      </p:sp>
      <p:pic>
        <p:nvPicPr>
          <p:cNvPr id="76" name="Google Shape;76;p15" title="{&quot;red&quot;:0,&quot;green&quot;:0,&quot;blue&quot;:0,&quot;origURL&quot;:&quot;https://saxarona.github.io/mathjax-viewer/?input=%20%5Clangle%20O%20%5Crangle%20%3D%20%5Cint%20d%5CGamma%20O(%5CGamma)%20%5Cmathcal%7BP%7D(%5CGamma)%20#0&quot;,&quot;size&quot;:15,&quot;width&quot;:535.488188976378,&quot;height&quot;:32.716535433070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7288" y="1635550"/>
            <a:ext cx="1992249" cy="468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Ensemble averages 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311700" y="896237"/>
            <a:ext cx="7737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In practice, when can we reliably estimate averages from a </a:t>
            </a:r>
            <a:r>
              <a:rPr b="1" lang="it" sz="1500">
                <a:solidFill>
                  <a:schemeClr val="dk1"/>
                </a:solidFill>
              </a:rPr>
              <a:t>finite trajectory</a:t>
            </a:r>
            <a:r>
              <a:rPr lang="it" sz="1500">
                <a:solidFill>
                  <a:schemeClr val="dk1"/>
                </a:solidFill>
              </a:rPr>
              <a:t>?</a:t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1401550" y="1217112"/>
            <a:ext cx="748703" cy="393602"/>
          </a:xfrm>
          <a:custGeom>
            <a:rect b="b" l="l" r="r" t="t"/>
            <a:pathLst>
              <a:path extrusionOk="0" h="13381" w="25425">
                <a:moveTo>
                  <a:pt x="0" y="0"/>
                </a:moveTo>
                <a:cubicBezTo>
                  <a:pt x="1617" y="1952"/>
                  <a:pt x="5465" y="9479"/>
                  <a:pt x="9702" y="11709"/>
                </a:cubicBezTo>
                <a:cubicBezTo>
                  <a:pt x="13940" y="13939"/>
                  <a:pt x="22805" y="13102"/>
                  <a:pt x="25425" y="1338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6" name="Google Shape;86;p16"/>
          <p:cNvSpPr txBox="1"/>
          <p:nvPr/>
        </p:nvSpPr>
        <p:spPr>
          <a:xfrm>
            <a:off x="2150250" y="1398037"/>
            <a:ext cx="653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when the samples           (i = 1,..,N) faithfully represent the distribution</a:t>
            </a:r>
            <a:endParaRPr/>
          </a:p>
        </p:txBody>
      </p:sp>
      <p:pic>
        <p:nvPicPr>
          <p:cNvPr id="87" name="Google Shape;87;p16" title="{&quot;red&quot;:0,&quot;green&quot;:0,&quot;blue&quot;:0,&quot;origURL&quot;:&quot;https://saxarona.github.io/mathjax-viewer/?input=%20%5Clangle%20O%20%5Crangle%20%3D%20%5Cint%20d%5CGamma%20O(%5CGamma)%20%5Cmathcal%7BP%7D(%5CGamma)%20#0&quot;,&quot;size&quot;:15,&quot;width&quot;:535.488188976378,&quot;height&quot;:32.71653543307087}"/>
          <p:cNvPicPr preferRelativeResize="0"/>
          <p:nvPr/>
        </p:nvPicPr>
        <p:blipFill rotWithShape="1">
          <a:blip r:embed="rId3">
            <a:alphaModFix/>
          </a:blip>
          <a:srcRect b="0" l="76913" r="0" t="0"/>
          <a:stretch/>
        </p:blipFill>
        <p:spPr>
          <a:xfrm>
            <a:off x="8151859" y="1378787"/>
            <a:ext cx="459951" cy="468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1&quot;,&quot;aid&quot;:null,&quot;code&quot;:&quot;$$\\{\\Gamma_{i}\\}$$&quot;,&quot;type&quot;:&quot;$$&quot;,&quot;backgroundColorModified&quot;:false,&quot;font&quot;:{&quot;color&quot;:&quot;#000000&quot;,&quot;family&quot;:&quot;Arial&quot;,&quot;size&quot;:14},&quot;ts&quot;:1788790454662,&quot;cs&quot;:&quot;Xb6FamzjNFZb41QTbozEdA==&quot;,&quot;size&quot;:{&quot;width&quot;:41.48028976377955,&quot;height&quot;:22.75591627296586}}"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6266" y="1504429"/>
            <a:ext cx="395100" cy="2167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311700" y="1933962"/>
            <a:ext cx="790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 sz="1500">
                <a:solidFill>
                  <a:schemeClr val="dk1"/>
                </a:solidFill>
              </a:rPr>
              <a:t>This typically occurs when the distribution           is “simple” enough</a:t>
            </a:r>
            <a:endParaRPr/>
          </a:p>
        </p:txBody>
      </p:sp>
      <p:pic>
        <p:nvPicPr>
          <p:cNvPr id="90" name="Google Shape;90;p16" title="{&quot;red&quot;:0,&quot;green&quot;:0,&quot;blue&quot;:0,&quot;origURL&quot;:&quot;https://saxarona.github.io/mathjax-viewer/?input=%20%5Clangle%20O%20%5Crangle%20%3D%20%5Cint%20d%5CGamma%20O(%5CGamma)%20%5Cmathcal%7BP%7D(%5CGamma)%20#0&quot;,&quot;size&quot;:15,&quot;width&quot;:535.488188976378,&quot;height&quot;:32.71653543307087}"/>
          <p:cNvPicPr preferRelativeResize="0"/>
          <p:nvPr/>
        </p:nvPicPr>
        <p:blipFill rotWithShape="1">
          <a:blip r:embed="rId3">
            <a:alphaModFix/>
          </a:blip>
          <a:srcRect b="22319" l="76913" r="0" t="15907"/>
          <a:stretch/>
        </p:blipFill>
        <p:spPr>
          <a:xfrm>
            <a:off x="4408525" y="1997137"/>
            <a:ext cx="459951" cy="28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title="Gemini_Generated_Image_drjkn7drjkn7drjk.jpeg"/>
          <p:cNvPicPr preferRelativeResize="0"/>
          <p:nvPr/>
        </p:nvPicPr>
        <p:blipFill rotWithShape="1">
          <a:blip r:embed="rId5">
            <a:alphaModFix/>
          </a:blip>
          <a:srcRect b="18269" l="7383" r="49292" t="19949"/>
          <a:stretch/>
        </p:blipFill>
        <p:spPr>
          <a:xfrm>
            <a:off x="2221475" y="2518504"/>
            <a:ext cx="2421475" cy="188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 title="Gemini_Generated_Image_drjkn7drjkn7drjk.jpeg"/>
          <p:cNvPicPr preferRelativeResize="0"/>
          <p:nvPr/>
        </p:nvPicPr>
        <p:blipFill rotWithShape="1">
          <a:blip r:embed="rId5">
            <a:alphaModFix/>
          </a:blip>
          <a:srcRect b="18269" l="56674" r="0" t="19949"/>
          <a:stretch/>
        </p:blipFill>
        <p:spPr>
          <a:xfrm>
            <a:off x="5471625" y="2518504"/>
            <a:ext cx="2421475" cy="188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 title="{&quot;red&quot;:0,&quot;green&quot;:0,&quot;blue&quot;:0,&quot;origURL&quot;:&quot;https://saxarona.github.io/mathjax-viewer/?input=%20%5Clangle%20O%20%5Crangle%20%3D%20%5Cint%20d%5CGamma%20O(%5CGamma)%20%5Cmathcal%7BP%7D(%5CGamma)%20#0&quot;,&quot;size&quot;:15,&quot;width&quot;:535.488188976378,&quot;height&quot;:32.71653543307087}"/>
          <p:cNvPicPr preferRelativeResize="0"/>
          <p:nvPr/>
        </p:nvPicPr>
        <p:blipFill rotWithShape="1">
          <a:blip r:embed="rId3">
            <a:alphaModFix/>
          </a:blip>
          <a:srcRect b="22319" l="76913" r="0" t="15907"/>
          <a:stretch/>
        </p:blipFill>
        <p:spPr>
          <a:xfrm>
            <a:off x="5047282" y="3322104"/>
            <a:ext cx="395101" cy="248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{&quot;red&quot;:0,&quot;green&quot;:0,&quot;blue&quot;:0,&quot;origURL&quot;:&quot;https://saxarona.github.io/mathjax-viewer/?input=%20%5Clangle%20O%20%5Crangle%20%3D%20%5Cint%20d%5CGamma%20O(%5CGamma)%20%5Cmathcal%7BP%7D(%5CGamma)%20#0&quot;,&quot;size&quot;:15,&quot;width&quot;:535.488188976378,&quot;height&quot;:32.71653543307087}"/>
          <p:cNvPicPr preferRelativeResize="0"/>
          <p:nvPr/>
        </p:nvPicPr>
        <p:blipFill rotWithShape="1">
          <a:blip r:embed="rId3">
            <a:alphaModFix/>
          </a:blip>
          <a:srcRect b="22319" l="76913" r="0" t="15907"/>
          <a:stretch/>
        </p:blipFill>
        <p:spPr>
          <a:xfrm>
            <a:off x="1797132" y="3322104"/>
            <a:ext cx="395101" cy="248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 title="Gemini_Generated_Image_drjkn7drjkn7drjk.jpeg"/>
          <p:cNvPicPr preferRelativeResize="0"/>
          <p:nvPr/>
        </p:nvPicPr>
        <p:blipFill rotWithShape="1">
          <a:blip r:embed="rId5">
            <a:alphaModFix/>
          </a:blip>
          <a:srcRect b="0" l="7383" r="49292" t="90515"/>
          <a:stretch/>
        </p:blipFill>
        <p:spPr>
          <a:xfrm>
            <a:off x="2221475" y="4606355"/>
            <a:ext cx="2421475" cy="28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6" title="Gemini_Generated_Image_drjkn7drjkn7drjk.jpeg"/>
          <p:cNvPicPr preferRelativeResize="0"/>
          <p:nvPr/>
        </p:nvPicPr>
        <p:blipFill rotWithShape="1">
          <a:blip r:embed="rId5">
            <a:alphaModFix/>
          </a:blip>
          <a:srcRect b="0" l="56674" r="0" t="90515"/>
          <a:stretch/>
        </p:blipFill>
        <p:spPr>
          <a:xfrm>
            <a:off x="5471638" y="4606355"/>
            <a:ext cx="2421475" cy="28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ColorModified&quot;:false,&quot;backgroundColor&quot;:&quot;#FFFFFF&quot;,&quot;aid&quot;:null,&quot;id&quot;:&quot;2&quot;,&quot;code&quot;:&quot;$$\\Gamma$$&quot;,&quot;type&quot;:&quot;$$&quot;,&quot;font&quot;:{&quot;family&quot;:&quot;Arial&quot;,&quot;color&quot;:&quot;#000000&quot;,&quot;size&quot;:12},&quot;backgroundColorModified&quot;:false,&quot;ts&quot;:1788792199048,&quot;cs&quot;:&quot;DGgE9ydL9zDX4ySrUf8OTA==&quot;,&quot;size&quot;:{&quot;width&quot;:10.666666666666666,&quot;height&quot;:12.833333333333334}}" id="97" name="Google Shape;9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02000" y="4443054"/>
            <a:ext cx="101600" cy="122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ColorModified&quot;:false,&quot;backgroundColor&quot;:&quot;#FFFFFF&quot;,&quot;aid&quot;:null,&quot;id&quot;:&quot;2&quot;,&quot;code&quot;:&quot;$$\\Gamma$$&quot;,&quot;type&quot;:&quot;$$&quot;,&quot;font&quot;:{&quot;family&quot;:&quot;Arial&quot;,&quot;color&quot;:&quot;#000000&quot;,&quot;size&quot;:12},&quot;backgroundColorModified&quot;:false,&quot;ts&quot;:1788792199048,&quot;cs&quot;:&quot;DGgE9ydL9zDX4ySrUf8OTA==&quot;,&quot;size&quot;:{&quot;width&quot;:10.666666666666666,&quot;height&quot;:12.833333333333334}}" id="98" name="Google Shape;9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31563" y="4443054"/>
            <a:ext cx="101600" cy="122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/>
        </p:nvSpPr>
        <p:spPr>
          <a:xfrm>
            <a:off x="6881967" y="35119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(spread of           )</a:t>
            </a:r>
            <a:endParaRPr/>
          </a:p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Ensemble averages 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311700" y="896225"/>
            <a:ext cx="8657100" cy="6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/>
              <a:t>Let’s suppose that            is “simple </a:t>
            </a:r>
            <a:r>
              <a:rPr lang="it"/>
              <a:t>enough</a:t>
            </a:r>
            <a:r>
              <a:rPr lang="it"/>
              <a:t>” (or that the trajectory is “long enough” to explore all modes) </a:t>
            </a:r>
            <a:endParaRPr/>
          </a:p>
        </p:txBody>
      </p:sp>
      <p:pic>
        <p:nvPicPr>
          <p:cNvPr id="108" name="Google Shape;108;p17" title="{&quot;red&quot;:0,&quot;green&quot;:0,&quot;blue&quot;:0,&quot;origURL&quot;:&quot;https://saxarona.github.io/mathjax-viewer/?input=%20%5Clangle%20O%20%5Crangle%20%3D%20%5Cint%20d%5CGamma%20O(%5CGamma)%20%5Cmathcal%7BP%7D(%5CGamma)%20#0&quot;,&quot;size&quot;:15,&quot;width&quot;:535.488188976378,&quot;height&quot;:32.71653543307087}"/>
          <p:cNvPicPr preferRelativeResize="0"/>
          <p:nvPr/>
        </p:nvPicPr>
        <p:blipFill rotWithShape="1">
          <a:blip r:embed="rId3">
            <a:alphaModFix/>
          </a:blip>
          <a:srcRect b="22319" l="76913" r="0" t="15907"/>
          <a:stretch/>
        </p:blipFill>
        <p:spPr>
          <a:xfrm>
            <a:off x="2355358" y="959412"/>
            <a:ext cx="459951" cy="28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ColorModified&quot;:false,&quot;type&quot;:&quot;$$&quot;,&quot;id&quot;:&quot;3&quot;,&quot;backgroundColorModified&quot;:false,&quot;font&quot;:{&quot;size&quot;:13.5,&quot;family&quot;:&quot;Arial&quot;,&quot;color&quot;:&quot;#000000&quot;},&quot;code&quot;:&quot;$$\\big\\langle O\\big\\rangle \\simeq\\,\\frac{1}{N}\\sum_{i=1}^{N}O_{i\\,}$$&quot;,&quot;backgroundColor&quot;:&quot;#FFFFFF&quot;,&quot;aid&quot;:null,&quot;ts&quot;:1788792562280,&quot;cs&quot;:&quot;UcUOXelCDMlp90MyylDoig==&quot;,&quot;size&quot;:{&quot;width&quot;:159.10083464566932,&quot;height&quot;:60.12596535433073}}" id="109" name="Google Shape;10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0775" y="2502650"/>
            <a:ext cx="1515435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/>
          <p:nvPr/>
        </p:nvSpPr>
        <p:spPr>
          <a:xfrm>
            <a:off x="311700" y="1616037"/>
            <a:ext cx="865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/>
              <a:t>      can be simply estimated from an average along the trajectory:</a:t>
            </a:r>
            <a:endParaRPr/>
          </a:p>
        </p:txBody>
      </p:sp>
      <p:pic>
        <p:nvPicPr>
          <p:cNvPr descr="{&quot;fontColorModified&quot;:false,&quot;type&quot;:&quot;$$&quot;,&quot;id&quot;:&quot;3&quot;,&quot;backgroundColorModified&quot;:false,&quot;font&quot;:{&quot;size&quot;:8,&quot;family&quot;:&quot;Arial&quot;,&quot;color&quot;:&quot;#000000&quot;},&quot;code&quot;:&quot;$$\\big\\langle O\\big\\rangle \\simeq\\,\\frac{1}{N}\\sum_{i=1}^{N}O_{i\\,}$$&quot;,&quot;backgroundColor&quot;:&quot;#FFFFFF&quot;,&quot;aid&quot;:null,&quot;ts&quot;:1788792592186,&quot;cs&quot;:&quot;gAfVA+W7olv/aetBWuth1Q==&quot;,&quot;size&quot;:{&quot;width&quot;:37.04720472440945,&quot;height&quot;:36.674554330708624}}" id="111" name="Google Shape;111;p17"/>
          <p:cNvPicPr preferRelativeResize="0"/>
          <p:nvPr/>
        </p:nvPicPr>
        <p:blipFill rotWithShape="1">
          <a:blip r:embed="rId4">
            <a:alphaModFix/>
          </a:blip>
          <a:srcRect b="20020" l="0" r="76714" t="18983"/>
          <a:stretch/>
        </p:blipFill>
        <p:spPr>
          <a:xfrm>
            <a:off x="751150" y="1649125"/>
            <a:ext cx="352875" cy="349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" name="Google Shape;112;p17"/>
          <p:cNvCxnSpPr>
            <a:endCxn id="113" idx="1"/>
          </p:cNvCxnSpPr>
          <p:nvPr/>
        </p:nvCxnSpPr>
        <p:spPr>
          <a:xfrm flipH="1" rot="10800000">
            <a:off x="4582500" y="2198550"/>
            <a:ext cx="353700" cy="26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17"/>
          <p:cNvSpPr txBox="1"/>
          <p:nvPr/>
        </p:nvSpPr>
        <p:spPr>
          <a:xfrm>
            <a:off x="4936200" y="1998450"/>
            <a:ext cx="354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Total number of steps in the trajectory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4662475" y="3229500"/>
            <a:ext cx="354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Step index</a:t>
            </a:r>
            <a:endParaRPr/>
          </a:p>
        </p:txBody>
      </p:sp>
      <p:cxnSp>
        <p:nvCxnSpPr>
          <p:cNvPr id="115" name="Google Shape;115;p17"/>
          <p:cNvCxnSpPr/>
          <p:nvPr/>
        </p:nvCxnSpPr>
        <p:spPr>
          <a:xfrm>
            <a:off x="4457075" y="3115800"/>
            <a:ext cx="367800" cy="21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7"/>
          <p:cNvCxnSpPr>
            <a:endCxn id="117" idx="1"/>
          </p:cNvCxnSpPr>
          <p:nvPr/>
        </p:nvCxnSpPr>
        <p:spPr>
          <a:xfrm flipH="1" rot="10800000">
            <a:off x="4995950" y="2771750"/>
            <a:ext cx="7074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17"/>
          <p:cNvSpPr txBox="1"/>
          <p:nvPr/>
        </p:nvSpPr>
        <p:spPr>
          <a:xfrm>
            <a:off x="5703350" y="2447750"/>
            <a:ext cx="300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Value of the microscopic observable at the i-th step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312425" y="3620050"/>
            <a:ext cx="385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What is the </a:t>
            </a:r>
            <a:r>
              <a:rPr b="1" lang="it"/>
              <a:t>error</a:t>
            </a:r>
            <a:r>
              <a:rPr lang="it"/>
              <a:t> associated to        ? </a:t>
            </a:r>
            <a:endParaRPr/>
          </a:p>
        </p:txBody>
      </p:sp>
      <p:pic>
        <p:nvPicPr>
          <p:cNvPr descr="{&quot;fontColorModified&quot;:false,&quot;type&quot;:&quot;$$&quot;,&quot;id&quot;:&quot;3&quot;,&quot;backgroundColorModified&quot;:false,&quot;font&quot;:{&quot;size&quot;:8,&quot;family&quot;:&quot;Arial&quot;,&quot;color&quot;:&quot;#000000&quot;},&quot;code&quot;:&quot;$$\\big\\langle O\\big\\rangle \\simeq\\,\\frac{1}{N}\\sum_{i=1}^{N}O_{i\\,}$$&quot;,&quot;backgroundColor&quot;:&quot;#FFFFFF&quot;,&quot;aid&quot;:null,&quot;ts&quot;:1788792592186,&quot;cs&quot;:&quot;gAfVA+W7olv/aetBWuth1Q==&quot;,&quot;size&quot;:{&quot;width&quot;:37.04720472440945,&quot;height&quot;:36.674554330708624}}" id="119" name="Google Shape;119;p17"/>
          <p:cNvPicPr preferRelativeResize="0"/>
          <p:nvPr/>
        </p:nvPicPr>
        <p:blipFill rotWithShape="1">
          <a:blip r:embed="rId4">
            <a:alphaModFix/>
          </a:blip>
          <a:srcRect b="20020" l="0" r="76714" t="18983"/>
          <a:stretch/>
        </p:blipFill>
        <p:spPr>
          <a:xfrm>
            <a:off x="3370525" y="3645466"/>
            <a:ext cx="352875" cy="34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1104025" y="3938462"/>
            <a:ext cx="748703" cy="393602"/>
          </a:xfrm>
          <a:custGeom>
            <a:rect b="b" l="l" r="r" t="t"/>
            <a:pathLst>
              <a:path extrusionOk="0" h="13381" w="25425">
                <a:moveTo>
                  <a:pt x="0" y="0"/>
                </a:moveTo>
                <a:cubicBezTo>
                  <a:pt x="1617" y="1952"/>
                  <a:pt x="5465" y="9479"/>
                  <a:pt x="9702" y="11709"/>
                </a:cubicBezTo>
                <a:cubicBezTo>
                  <a:pt x="13940" y="13939"/>
                  <a:pt x="22805" y="13102"/>
                  <a:pt x="25425" y="1338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1" name="Google Shape;121;p17"/>
          <p:cNvSpPr txBox="1"/>
          <p:nvPr/>
        </p:nvSpPr>
        <p:spPr>
          <a:xfrm>
            <a:off x="1852725" y="4140562"/>
            <a:ext cx="653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</a:rPr>
              <a:t>applying the </a:t>
            </a:r>
            <a:r>
              <a:rPr b="1" lang="it" sz="1500">
                <a:solidFill>
                  <a:schemeClr val="dk1"/>
                </a:solidFill>
              </a:rPr>
              <a:t>central limit theorem: </a:t>
            </a:r>
            <a:endParaRPr/>
          </a:p>
        </p:txBody>
      </p:sp>
      <p:pic>
        <p:nvPicPr>
          <p:cNvPr descr="{&quot;aid&quot;:null,&quot;fontColorModified&quot;:false,&quot;type&quot;:&quot;$$&quot;,&quot;font&quot;:{&quot;size&quot;:13.5,&quot;color&quot;:&quot;#000000&quot;,&quot;family&quot;:&quot;Arial&quot;},&quot;backgroundColor&quot;:&quot;#FFFFFF&quot;,&quot;backgroundColorModified&quot;:false,&quot;id&quot;:&quot;4&quot;,&quot;code&quot;:&quot;$$\\,\\text{Var}[\\big\\langle O\\big\\rangle ]\\,=\\,\\frac{\\text{Var}[O_{i}]}{{\\sqrt[]{N}}}$$&quot;,&quot;ts&quot;:1788798874286,&quot;cs&quot;:&quot;Ng+aqSHLKIR2Ugj8kwHg0g==&quot;,&quot;size&quot;:{&quot;width&quot;:193.66666666666666,&quot;height&quot;:52.5}}" id="122" name="Google Shape;12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11750" y="4127522"/>
            <a:ext cx="1844675" cy="5000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size&quot;:14,&quot;family&quot;:&quot;Arial&quot;,&quot;color&quot;:&quot;#000000&quot;},&quot;backgroundColorModified&quot;:false,&quot;id&quot;:&quot;5&quot;,&quot;type&quot;:&quot;$$&quot;,&quot;fontColorModified&quot;:false,&quot;backgroundColor&quot;:&quot;#FFFFFF&quot;,&quot;code&quot;:&quot;$$\\{O_{i\\,}\\}$$&quot;,&quot;ts&quot;:1788793212743,&quot;cs&quot;:&quot;Aj5X/gtbtNIolVlMID+Q4w==&quot;,&quot;size&quot;:{&quot;width&quot;:46.666666666666664,&quot;height&quot;:22}}" id="123" name="Google Shape;12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52817" y="3620050"/>
            <a:ext cx="444500" cy="209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17"/>
          <p:cNvCxnSpPr/>
          <p:nvPr/>
        </p:nvCxnSpPr>
        <p:spPr>
          <a:xfrm flipH="1" rot="10800000">
            <a:off x="6794492" y="3819575"/>
            <a:ext cx="550500" cy="25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17"/>
          <p:cNvSpPr txBox="1"/>
          <p:nvPr/>
        </p:nvSpPr>
        <p:spPr>
          <a:xfrm>
            <a:off x="4572000" y="4665250"/>
            <a:ext cx="400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rgbClr val="CC0000"/>
                </a:solidFill>
              </a:rPr>
              <a:t>What’s wrong with this relationship?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311700" y="1044375"/>
            <a:ext cx="865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/>
              <a:t>N.B. the relationship                                        holds if the samples            are </a:t>
            </a:r>
            <a:r>
              <a:rPr b="1" lang="it"/>
              <a:t>independent</a:t>
            </a:r>
            <a:r>
              <a:rPr lang="it"/>
              <a:t>!  </a:t>
            </a:r>
            <a:endParaRPr/>
          </a:p>
        </p:txBody>
      </p:sp>
      <p:pic>
        <p:nvPicPr>
          <p:cNvPr descr="{&quot;code&quot;:&quot;$$\\,\\text{Var}[\\big\\langle O\\big\\rangle ]\\,=\\,\\frac{\\text{Var}[O]}{{\\sqrt[]{N}}}$$&quot;,&quot;font&quot;:{&quot;size&quot;:13.5,&quot;color&quot;:&quot;#000000&quot;,&quot;family&quot;:&quot;Arial&quot;},&quot;type&quot;:&quot;$$&quot;,&quot;backgroundColor&quot;:&quot;#FFFFFF&quot;,&quot;aid&quot;:null,&quot;backgroundColorModified&quot;:false,&quot;id&quot;:&quot;4&quot;,&quot;ts&quot;:1788793147848,&quot;cs&quot;:&quot;KRedldOQ/xBbiCekfUPwIg==&quot;,&quot;size&quot;:{&quot;width&quot;:187.40328346456695,&quot;height&quot;:52.69552020997375}}"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0550" y="1001167"/>
            <a:ext cx="1785016" cy="501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size&quot;:14,&quot;family&quot;:&quot;Arial&quot;,&quot;color&quot;:&quot;#000000&quot;},&quot;backgroundColorModified&quot;:false,&quot;id&quot;:&quot;5&quot;,&quot;type&quot;:&quot;$$&quot;,&quot;fontColorModified&quot;:false,&quot;backgroundColor&quot;:&quot;#FFFFFF&quot;,&quot;code&quot;:&quot;$$\\{O_{i\\,}\\}$$&quot;,&quot;ts&quot;:1788793212743,&quot;cs&quot;:&quot;Aj5X/gtbtNIolVlMID+Q4w==&quot;,&quot;size&quot;:{&quot;width&quot;:46.666666666666664,&quot;height&quot;:22}}" id="134" name="Google Shape;13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1147363"/>
            <a:ext cx="4445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311700" y="1644650"/>
            <a:ext cx="7768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>
                <a:solidFill>
                  <a:schemeClr val="dk1"/>
                </a:solidFill>
              </a:rPr>
              <a:t>By construction, points in a time series are </a:t>
            </a:r>
            <a:r>
              <a:rPr b="1" lang="it">
                <a:solidFill>
                  <a:schemeClr val="dk1"/>
                </a:solidFill>
              </a:rPr>
              <a:t>correlated through time: </a:t>
            </a:r>
            <a:r>
              <a:rPr lang="it">
                <a:solidFill>
                  <a:schemeClr val="dk1"/>
                </a:solidFill>
              </a:rPr>
              <a:t>for a generic lag    ,   </a:t>
            </a:r>
            <a:endParaRPr/>
          </a:p>
        </p:txBody>
      </p:sp>
      <p:pic>
        <p:nvPicPr>
          <p:cNvPr descr="{&quot;backgroundColorModified&quot;:false,&quot;code&quot;:&quot;$$\\big\\langle O_{i}\\,O_{i+\\tau}\\big\\rangle \\neq \\big\\langle O_{i}\\big\\rangle \\,\\big\\langle O_{i+\\tau}\\big\\rangle $$&quot;,&quot;fontColorModified&quot;:false,&quot;backgroundColor&quot;:&quot;#FFFFFF&quot;,&quot;id&quot;:&quot;6&quot;,&quot;aid&quot;:null,&quot;type&quot;:&quot;$$&quot;,&quot;font&quot;:{&quot;family&quot;:&quot;Arial&quot;,&quot;size&quot;:14,&quot;color&quot;:&quot;#000000&quot;},&quot;ts&quot;:1788796317148,&quot;cs&quot;:&quot;LG0srn3zP0a9jvb1fuF4TA==&quot;,&quot;size&quot;:{&quot;width&quot;:230,&quot;height&quot;:26.399999999999988}}" id="136" name="Google Shape;13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4875" y="2201700"/>
            <a:ext cx="2190750" cy="251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font&quot;:{&quot;size&quot;:14,&quot;color&quot;:&quot;#000000&quot;,&quot;family&quot;:&quot;Arial&quot;},&quot;code&quot;:&quot;$$\\tau$$&quot;,&quot;backgroundColor&quot;:&quot;#FFFFFF&quot;,&quot;id&quot;:&quot;7&quot;,&quot;type&quot;:&quot;$$&quot;,&quot;aid&quot;:null,&quot;fontColorModified&quot;:false,&quot;ts&quot;:1788796374047,&quot;cs&quot;:&quot;JVTqAikYXHMGpgwC95Yi1g==&quot;,&quot;size&quot;:{&quot;width&quot;:11,&quot;height&quot;:9.833333333333334}}" id="137" name="Google Shape;13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93642" y="1829575"/>
            <a:ext cx="104775" cy="936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311700" y="2655500"/>
            <a:ext cx="816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>
                <a:solidFill>
                  <a:schemeClr val="dk1"/>
                </a:solidFill>
              </a:rPr>
              <a:t>Degree of correlation though time quantified by the </a:t>
            </a:r>
            <a:r>
              <a:rPr b="1" lang="it">
                <a:solidFill>
                  <a:schemeClr val="dk1"/>
                </a:solidFill>
              </a:rPr>
              <a:t>autocorrelation function:</a:t>
            </a:r>
            <a:endParaRPr b="1"/>
          </a:p>
        </p:txBody>
      </p:sp>
      <p:pic>
        <p:nvPicPr>
          <p:cNvPr descr="{&quot;aid&quot;:null,&quot;type&quot;:&quot;$$&quot;,&quot;id&quot;:&quot;8&quot;,&quot;backgroundColor&quot;:&quot;#FFFFFF&quot;,&quot;backgroundColorModified&quot;:false,&quot;fontColorModified&quot;:false,&quot;code&quot;:&quot;$$\\text{ACF(}\\tau\\text{)}\\;\\text{=}\\;\\frac{\\big\\langle O_{i}O_{i+\\tau}\\big\\rangle -\\big\\langle O_{i}\\big\\rangle \\big\\langle O_{i+\\tau}\\big\\rangle }{\\text{Var}[O_{i}]}$$&quot;,&quot;font&quot;:{&quot;family&quot;:&quot;Arial&quot;,&quot;color&quot;:&quot;#000000&quot;,&quot;size&quot;:14},&quot;ts&quot;:1788796630144,&quot;cs&quot;:&quot;8zcObKAhnc5B2/FwnJo9kw==&quot;,&quot;size&quot;:{&quot;width&quot;:335,&quot;height&quot;:57.5}}" id="139" name="Google Shape;13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29308" y="3151750"/>
            <a:ext cx="3190875" cy="54768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859425" y="3986975"/>
            <a:ext cx="4160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for</a:t>
            </a:r>
            <a:r>
              <a:rPr lang="it"/>
              <a:t> a stationary dynamics (as in equilibrium MD) it’s only a function of    </a:t>
            </a:r>
            <a:endParaRPr/>
          </a:p>
        </p:txBody>
      </p:sp>
      <p:cxnSp>
        <p:nvCxnSpPr>
          <p:cNvPr id="141" name="Google Shape;141;p18"/>
          <p:cNvCxnSpPr/>
          <p:nvPr/>
        </p:nvCxnSpPr>
        <p:spPr>
          <a:xfrm rot="10800000">
            <a:off x="2108425" y="3568175"/>
            <a:ext cx="240900" cy="41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backgroundColorModified&quot;:false,&quot;font&quot;:{&quot;size&quot;:14,&quot;color&quot;:&quot;#000000&quot;,&quot;family&quot;:&quot;Arial&quot;},&quot;code&quot;:&quot;$$\\tau$$&quot;,&quot;backgroundColor&quot;:&quot;#FFFFFF&quot;,&quot;id&quot;:&quot;7&quot;,&quot;type&quot;:&quot;$$&quot;,&quot;aid&quot;:null,&quot;fontColorModified&quot;:false,&quot;ts&quot;:1788796374047,&quot;cs&quot;:&quot;JVTqAikYXHMGpgwC95Yi1g==&quot;,&quot;size&quot;:{&quot;width&quot;:11,&quot;height&quot;:9.833333333333334}}" id="142" name="Google Shape;14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57482" y="4391230"/>
            <a:ext cx="104775" cy="93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 title="autocorrelation_function.png"/>
          <p:cNvPicPr preferRelativeResize="0"/>
          <p:nvPr/>
        </p:nvPicPr>
        <p:blipFill rotWithShape="1">
          <a:blip r:embed="rId8">
            <a:alphaModFix/>
          </a:blip>
          <a:srcRect b="11497" l="0" r="0" t="0"/>
          <a:stretch/>
        </p:blipFill>
        <p:spPr>
          <a:xfrm>
            <a:off x="5138825" y="2985650"/>
            <a:ext cx="3214973" cy="18672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4" name="Google Shape;144;p18"/>
          <p:cNvCxnSpPr/>
          <p:nvPr/>
        </p:nvCxnSpPr>
        <p:spPr>
          <a:xfrm>
            <a:off x="6787350" y="4459325"/>
            <a:ext cx="0" cy="197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{&quot;backgroundColorModified&quot;:false,&quot;type&quot;:&quot;$$&quot;,&quot;backgroundColor&quot;:&quot;#FFFFFF&quot;,&quot;fontColorModified&quot;:false,&quot;aid&quot;:null,&quot;code&quot;:&quot;$$\\tau^{\\star}$$&quot;,&quot;id&quot;:&quot;9&quot;,&quot;font&quot;:{&quot;family&quot;:&quot;Arial&quot;,&quot;color&quot;:&quot;#000000&quot;,&quot;size&quot;:12},&quot;ts&quot;:1788799292679,&quot;cs&quot;:&quot;YVB9LO+7IykRq/DrBANP4A==&quot;,&quot;size&quot;:{&quot;width&quot;:17.666666666666668,&quot;height&quot;:14.666666666666666}}" id="145" name="Google Shape;145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03200" y="4675675"/>
            <a:ext cx="168275" cy="139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9&quot;,&quot;fontColorModified&quot;:false,&quot;aid&quot;:null,&quot;backgroundColor&quot;:&quot;#FFFFFF&quot;,&quot;type&quot;:&quot;$$&quot;,&quot;backgroundColorModified&quot;:false,&quot;font&quot;:{&quot;color&quot;:&quot;#000000&quot;,&quot;size&quot;:12,&quot;family&quot;:&quot;Arial&quot;},&quot;code&quot;:&quot;$$\\tau&gt;\\tau^{\\star},\\,\\,\\,\\,\\,\\big\\langle O_{i}\\,O_{i+\\tau}\\big\\rangle \\,=\\,\\big\\langle O_{i}\\big\\rangle \\big\\langle O_{i+\\tau}\\big\\rangle $$&quot;,&quot;ts&quot;:1788799471072,&quot;cs&quot;:&quot;NTbDbAUQw8fr1SItm3GbGw==&quot;,&quot;size&quot;:{&quot;width&quot;:279.5,&quot;height&quot;:22.75}}" id="146" name="Google Shape;146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12663" y="3462277"/>
            <a:ext cx="2662238" cy="21669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5851428" y="3370525"/>
            <a:ext cx="44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for</a:t>
            </a:r>
            <a:endParaRPr/>
          </a:p>
        </p:txBody>
      </p:sp>
      <p:cxnSp>
        <p:nvCxnSpPr>
          <p:cNvPr id="148" name="Google Shape;148;p18"/>
          <p:cNvCxnSpPr/>
          <p:nvPr/>
        </p:nvCxnSpPr>
        <p:spPr>
          <a:xfrm rot="10800000">
            <a:off x="6493825" y="3700500"/>
            <a:ext cx="246900" cy="6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id&quot;:&quot;10&quot;,&quot;font&quot;:{&quot;family&quot;:&quot;Arial&quot;,&quot;color&quot;:&quot;#000000&quot;,&quot;size&quot;:10},&quot;code&quot;:&quot;$$\\text{lag}\\;\\tau$$&quot;,&quot;type&quot;:&quot;$$&quot;,&quot;fontColorModified&quot;:false,&quot;backgroundColorModified&quot;:false,&quot;backgroundColor&quot;:&quot;#FFFFFF&quot;,&quot;aid&quot;:null,&quot;ts&quot;:1788799590625,&quot;cs&quot;:&quot;aof9ht/jgaano5smwN9IJQ==&quot;,&quot;size&quot;:{&quot;width&quot;:33.2751259842519,&quot;height&quot;:14.66667191601052}}" id="149" name="Google Shape;149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949700" y="4675676"/>
            <a:ext cx="316946" cy="1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963700" y="4725475"/>
            <a:ext cx="164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</a:rPr>
              <a:t>(autocorrelation time)</a:t>
            </a:r>
            <a:endParaRPr sz="1200"/>
          </a:p>
        </p:txBody>
      </p:sp>
      <p:sp>
        <p:nvSpPr>
          <p:cNvPr id="151" name="Google Shape;151;p18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Errors of time averages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Errors of time averages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311700" y="1416750"/>
            <a:ext cx="865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/>
              <a:t>Subsample the </a:t>
            </a:r>
            <a:r>
              <a:rPr lang="it">
                <a:solidFill>
                  <a:schemeClr val="dk1"/>
                </a:solidFill>
              </a:rPr>
              <a:t>time</a:t>
            </a:r>
            <a:r>
              <a:rPr lang="it"/>
              <a:t> series with a stride equal (or larger) than the autocorrelation time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311700" y="956275"/>
            <a:ext cx="865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Two possibilities:</a:t>
            </a:r>
            <a:endParaRPr b="1"/>
          </a:p>
        </p:txBody>
      </p:sp>
      <p:sp>
        <p:nvSpPr>
          <p:cNvPr id="160" name="Google Shape;160;p19"/>
          <p:cNvSpPr txBox="1"/>
          <p:nvPr/>
        </p:nvSpPr>
        <p:spPr>
          <a:xfrm>
            <a:off x="896725" y="4217552"/>
            <a:ext cx="865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Note </a:t>
            </a:r>
            <a:r>
              <a:rPr lang="it"/>
              <a:t>that the autocorrelation time might be different for different observables!</a:t>
            </a:r>
            <a:endParaRPr i="1"/>
          </a:p>
        </p:txBody>
      </p:sp>
      <p:cxnSp>
        <p:nvCxnSpPr>
          <p:cNvPr id="161" name="Google Shape;161;p19"/>
          <p:cNvCxnSpPr/>
          <p:nvPr/>
        </p:nvCxnSpPr>
        <p:spPr>
          <a:xfrm>
            <a:off x="1022188" y="2290575"/>
            <a:ext cx="701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162" name="Google Shape;162;p19"/>
          <p:cNvCxnSpPr/>
          <p:nvPr/>
        </p:nvCxnSpPr>
        <p:spPr>
          <a:xfrm>
            <a:off x="896713" y="2290575"/>
            <a:ext cx="705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19"/>
          <p:cNvSpPr txBox="1"/>
          <p:nvPr/>
        </p:nvSpPr>
        <p:spPr>
          <a:xfrm>
            <a:off x="7677588" y="1816938"/>
            <a:ext cx="61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time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998801" y="2254125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 rot="-5400000">
            <a:off x="1439831" y="2110472"/>
            <a:ext cx="117300" cy="935400"/>
          </a:xfrm>
          <a:prstGeom prst="leftBrace">
            <a:avLst>
              <a:gd fmla="val 53775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1918451" y="2254125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2834358" y="2254125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3750258" y="2254125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4666158" y="2254125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9"/>
          <p:cNvSpPr/>
          <p:nvPr/>
        </p:nvSpPr>
        <p:spPr>
          <a:xfrm>
            <a:off x="5582058" y="2254125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6494215" y="2254125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7406390" y="2254125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Modified&quot;:false,&quot;font&quot;:{&quot;size&quot;:14,&quot;color&quot;:&quot;#000000&quot;,&quot;family&quot;:&quot;Arial&quot;},&quot;code&quot;:&quot;$$\\tau$$&quot;,&quot;backgroundColor&quot;:&quot;#FFFFFF&quot;,&quot;id&quot;:&quot;7&quot;,&quot;type&quot;:&quot;$$&quot;,&quot;aid&quot;:null,&quot;fontColorModified&quot;:false,&quot;ts&quot;:1788796374047,&quot;cs&quot;:&quot;JVTqAikYXHMGpgwC95Yi1g==&quot;,&quot;size&quot;:{&quot;width&quot;:11,&quot;height&quot;:9.833333333333334}}" id="173" name="Google Shape;17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6100" y="2669877"/>
            <a:ext cx="104775" cy="93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19"/>
          <p:cNvCxnSpPr/>
          <p:nvPr/>
        </p:nvCxnSpPr>
        <p:spPr>
          <a:xfrm>
            <a:off x="1034950" y="2060755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5" name="Google Shape;175;p19"/>
          <p:cNvCxnSpPr/>
          <p:nvPr/>
        </p:nvCxnSpPr>
        <p:spPr>
          <a:xfrm>
            <a:off x="1954600" y="2056963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6" name="Google Shape;176;p19"/>
          <p:cNvCxnSpPr/>
          <p:nvPr/>
        </p:nvCxnSpPr>
        <p:spPr>
          <a:xfrm>
            <a:off x="2867661" y="2074068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19"/>
          <p:cNvCxnSpPr/>
          <p:nvPr/>
        </p:nvCxnSpPr>
        <p:spPr>
          <a:xfrm>
            <a:off x="3787311" y="2070275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9"/>
          <p:cNvCxnSpPr/>
          <p:nvPr/>
        </p:nvCxnSpPr>
        <p:spPr>
          <a:xfrm>
            <a:off x="4698573" y="2075968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19"/>
          <p:cNvCxnSpPr/>
          <p:nvPr/>
        </p:nvCxnSpPr>
        <p:spPr>
          <a:xfrm>
            <a:off x="5618223" y="2072175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9"/>
          <p:cNvCxnSpPr/>
          <p:nvPr/>
        </p:nvCxnSpPr>
        <p:spPr>
          <a:xfrm>
            <a:off x="6526466" y="2072168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19"/>
          <p:cNvCxnSpPr/>
          <p:nvPr/>
        </p:nvCxnSpPr>
        <p:spPr>
          <a:xfrm>
            <a:off x="7446116" y="2068375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descr="{&quot;aid&quot;:null,&quot;backgroundColorModified&quot;:false,&quot;type&quot;:&quot;$$&quot;,&quot;backgroundColor&quot;:&quot;#FFFFFF&quot;,&quot;id&quot;:&quot;11&quot;,&quot;code&quot;:&quot;$$\\big\\langle O\\big\\rangle =\\,\\frac{1}{N_{b}}\\sum_{i=1}^{N_{b}}O_{i\\,}$$&quot;,&quot;font&quot;:{&quot;family&quot;:&quot;Arial&quot;,&quot;color&quot;:&quot;#000000&quot;,&quot;size&quot;:13.5},&quot;ts&quot;:1788941282542,&quot;cs&quot;:&quot;vhz7Y1/pHrlNZbCFoEiRcw==&quot;,&quot;size&quot;:{&quot;width&quot;:159.16666666666666,&quot;height&quot;:58.333333333333336}}" id="182" name="Google Shape;18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267" y="2887196"/>
            <a:ext cx="1516062" cy="55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code&quot;:&quot;$$N_{b}$$&quot;,&quot;backgroundColor&quot;:&quot;#FFFFFF&quot;,&quot;font&quot;:{&quot;family&quot;:&quot;Arial&quot;,&quot;size&quot;:13.5,&quot;color&quot;:&quot;#000000&quot;},&quot;fontColorModified&quot;:false,&quot;type&quot;:&quot;$$&quot;,&quot;id&quot;:&quot;12&quot;,&quot;ts&quot;:1788941306308,&quot;cs&quot;:&quot;h353xqdh9fLWjgkzZbNLUw==&quot;,&quot;size&quot;:{&quot;width&quot;:23.5,&quot;height&quot;:17.833333333333332}}" id="183" name="Google Shape;18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61931" y="2845725"/>
            <a:ext cx="223838" cy="16986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5377200" y="2726737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non-overlapping “</a:t>
            </a:r>
            <a:r>
              <a:rPr b="1" lang="it">
                <a:solidFill>
                  <a:schemeClr val="dk1"/>
                </a:solidFill>
              </a:rPr>
              <a:t>blocks</a:t>
            </a:r>
            <a:r>
              <a:rPr lang="it">
                <a:solidFill>
                  <a:schemeClr val="dk1"/>
                </a:solidFill>
              </a:rPr>
              <a:t>”</a:t>
            </a:r>
            <a:endParaRPr/>
          </a:p>
        </p:txBody>
      </p:sp>
      <p:cxnSp>
        <p:nvCxnSpPr>
          <p:cNvPr id="185" name="Google Shape;185;p19"/>
          <p:cNvCxnSpPr>
            <a:endCxn id="183" idx="1"/>
          </p:cNvCxnSpPr>
          <p:nvPr/>
        </p:nvCxnSpPr>
        <p:spPr>
          <a:xfrm>
            <a:off x="4692131" y="2514556"/>
            <a:ext cx="469800" cy="41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id&quot;:&quot;4&quot;,&quot;font&quot;:{&quot;size&quot;:13.5,&quot;family&quot;:&quot;Arial&quot;,&quot;color&quot;:&quot;#000000&quot;},&quot;backgroundColor&quot;:&quot;#FFFFFF&quot;,&quot;fontColorModified&quot;:false,&quot;code&quot;:&quot;$$\\,\\text{Var}[\\big\\langle O\\big\\rangle ]\\,=\\,\\frac{\\text{Var}[O_{i}]}{{\\sqrt[]{N}}_{b}}$$&quot;,&quot;type&quot;:&quot;$$&quot;,&quot;backgroundColorModified&quot;:false,&quot;aid&quot;:null,&quot;ts&quot;:1788941402061,&quot;cs&quot;:&quot;r27obLFXbttwrDkcT5iXoQ==&quot;,&quot;size&quot;:{&quot;width&quot;:193.66666666666666,&quot;height&quot;:53.833333333333336}}" id="186" name="Google Shape;18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40261" y="3626105"/>
            <a:ext cx="1844675" cy="51276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896725" y="4552698"/>
            <a:ext cx="4007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rgbClr val="CC0000"/>
                </a:solidFill>
              </a:rPr>
              <a:t>Can we do better?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3741085" y="3653186"/>
            <a:ext cx="54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Now this formula is correct, because samples are independent! </a:t>
            </a:r>
            <a:endParaRPr/>
          </a:p>
        </p:txBody>
      </p:sp>
      <p:cxnSp>
        <p:nvCxnSpPr>
          <p:cNvPr id="189" name="Google Shape;189;p19"/>
          <p:cNvCxnSpPr/>
          <p:nvPr/>
        </p:nvCxnSpPr>
        <p:spPr>
          <a:xfrm>
            <a:off x="3296394" y="3863245"/>
            <a:ext cx="44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Errors of time averages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311700" y="900275"/>
            <a:ext cx="865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2.      </a:t>
            </a:r>
            <a:r>
              <a:rPr b="1" lang="it"/>
              <a:t>Block analysis</a:t>
            </a:r>
            <a:endParaRPr b="1"/>
          </a:p>
        </p:txBody>
      </p:sp>
      <p:cxnSp>
        <p:nvCxnSpPr>
          <p:cNvPr id="197" name="Google Shape;197;p20"/>
          <p:cNvCxnSpPr/>
          <p:nvPr/>
        </p:nvCxnSpPr>
        <p:spPr>
          <a:xfrm>
            <a:off x="1022188" y="1774100"/>
            <a:ext cx="70170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dot"/>
            <a:round/>
            <a:headEnd len="med" w="med" type="none"/>
            <a:tailEnd len="med" w="med" type="stealth"/>
          </a:ln>
        </p:spPr>
      </p:cxnSp>
      <p:cxnSp>
        <p:nvCxnSpPr>
          <p:cNvPr id="198" name="Google Shape;198;p20"/>
          <p:cNvCxnSpPr/>
          <p:nvPr/>
        </p:nvCxnSpPr>
        <p:spPr>
          <a:xfrm>
            <a:off x="896713" y="1774100"/>
            <a:ext cx="7050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9" name="Google Shape;199;p20"/>
          <p:cNvSpPr txBox="1"/>
          <p:nvPr/>
        </p:nvSpPr>
        <p:spPr>
          <a:xfrm>
            <a:off x="7677588" y="1300463"/>
            <a:ext cx="61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time</a:t>
            </a: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998801" y="1737650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 rot="-5400000">
            <a:off x="1439831" y="1593997"/>
            <a:ext cx="117300" cy="935400"/>
          </a:xfrm>
          <a:prstGeom prst="leftBrace">
            <a:avLst>
              <a:gd fmla="val 53775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1918451" y="1737650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2834358" y="1737650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3750258" y="1737650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4666158" y="1737650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582058" y="1737650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6494215" y="1737650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7406390" y="1737650"/>
            <a:ext cx="72300" cy="729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Modified&quot;:false,&quot;font&quot;:{&quot;size&quot;:14,&quot;color&quot;:&quot;#000000&quot;,&quot;family&quot;:&quot;Arial&quot;},&quot;code&quot;:&quot;$$\\tau$$&quot;,&quot;backgroundColor&quot;:&quot;#FFFFFF&quot;,&quot;id&quot;:&quot;7&quot;,&quot;type&quot;:&quot;$$&quot;,&quot;aid&quot;:null,&quot;fontColorModified&quot;:false,&quot;ts&quot;:1788796374047,&quot;cs&quot;:&quot;JVTqAikYXHMGpgwC95Yi1g==&quot;,&quot;size&quot;:{&quot;width&quot;:11,&quot;height&quot;:9.833333333333334}}" id="209" name="Google Shape;2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6100" y="2153402"/>
            <a:ext cx="104775" cy="936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20"/>
          <p:cNvCxnSpPr/>
          <p:nvPr/>
        </p:nvCxnSpPr>
        <p:spPr>
          <a:xfrm>
            <a:off x="1034950" y="1544280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0"/>
          <p:cNvCxnSpPr/>
          <p:nvPr/>
        </p:nvCxnSpPr>
        <p:spPr>
          <a:xfrm>
            <a:off x="1954600" y="1540488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0"/>
          <p:cNvCxnSpPr/>
          <p:nvPr/>
        </p:nvCxnSpPr>
        <p:spPr>
          <a:xfrm>
            <a:off x="2867661" y="1557593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0"/>
          <p:cNvCxnSpPr/>
          <p:nvPr/>
        </p:nvCxnSpPr>
        <p:spPr>
          <a:xfrm>
            <a:off x="3787311" y="1553800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0"/>
          <p:cNvCxnSpPr/>
          <p:nvPr/>
        </p:nvCxnSpPr>
        <p:spPr>
          <a:xfrm>
            <a:off x="4698573" y="1559493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0"/>
          <p:cNvCxnSpPr/>
          <p:nvPr/>
        </p:nvCxnSpPr>
        <p:spPr>
          <a:xfrm>
            <a:off x="5618223" y="1555700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0"/>
          <p:cNvCxnSpPr/>
          <p:nvPr/>
        </p:nvCxnSpPr>
        <p:spPr>
          <a:xfrm>
            <a:off x="6526466" y="1555693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0"/>
          <p:cNvCxnSpPr/>
          <p:nvPr/>
        </p:nvCxnSpPr>
        <p:spPr>
          <a:xfrm>
            <a:off x="7446116" y="1551900"/>
            <a:ext cx="0" cy="436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descr="{&quot;aid&quot;:null,&quot;backgroundColorModified&quot;:false,&quot;code&quot;:&quot;$$N_{b}$$&quot;,&quot;backgroundColor&quot;:&quot;#FFFFFF&quot;,&quot;font&quot;:{&quot;family&quot;:&quot;Arial&quot;,&quot;size&quot;:13.5,&quot;color&quot;:&quot;#000000&quot;},&quot;fontColorModified&quot;:false,&quot;type&quot;:&quot;$$&quot;,&quot;id&quot;:&quot;12&quot;,&quot;ts&quot;:1788941306308,&quot;cs&quot;:&quot;h353xqdh9fLWjgkzZbNLUw==&quot;,&quot;size&quot;:{&quot;width&quot;:23.5,&quot;height&quot;:17.833333333333332}}" id="218" name="Google Shape;21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1931" y="2329250"/>
            <a:ext cx="223838" cy="16986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5377200" y="2210262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non-overlapping “</a:t>
            </a:r>
            <a:r>
              <a:rPr b="1" lang="it">
                <a:solidFill>
                  <a:schemeClr val="dk1"/>
                </a:solidFill>
              </a:rPr>
              <a:t>blocks</a:t>
            </a:r>
            <a:r>
              <a:rPr lang="it">
                <a:solidFill>
                  <a:schemeClr val="dk1"/>
                </a:solidFill>
              </a:rPr>
              <a:t>”</a:t>
            </a:r>
            <a:endParaRPr/>
          </a:p>
        </p:txBody>
      </p:sp>
      <p:cxnSp>
        <p:nvCxnSpPr>
          <p:cNvPr id="220" name="Google Shape;220;p20"/>
          <p:cNvCxnSpPr>
            <a:endCxn id="218" idx="1"/>
          </p:cNvCxnSpPr>
          <p:nvPr/>
        </p:nvCxnSpPr>
        <p:spPr>
          <a:xfrm>
            <a:off x="4692131" y="1998081"/>
            <a:ext cx="469800" cy="41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1" name="Google Shape;221;p20"/>
          <p:cNvSpPr txBox="1"/>
          <p:nvPr/>
        </p:nvSpPr>
        <p:spPr>
          <a:xfrm>
            <a:off x="646600" y="2594368"/>
            <a:ext cx="7768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>
                <a:solidFill>
                  <a:schemeClr val="dk1"/>
                </a:solidFill>
              </a:rPr>
              <a:t>Compute average over each block: </a:t>
            </a:r>
            <a:endParaRPr/>
          </a:p>
        </p:txBody>
      </p:sp>
      <p:pic>
        <p:nvPicPr>
          <p:cNvPr descr="{&quot;id&quot;:&quot;13&quot;,&quot;type&quot;:&quot;$$&quot;,&quot;backgroundColorModified&quot;:false,&quot;backgroundColor&quot;:&quot;#FFFFFF&quot;,&quot;font&quot;:{&quot;size&quot;:13.5,&quot;color&quot;:&quot;#000000&quot;,&quot;family&quot;:&quot;Arial&quot;},&quot;aid&quot;:null,&quot;fontColorModified&quot;:false,&quot;code&quot;:&quot;$$b=1$$&quot;,&quot;ts&quot;:1788945098302,&quot;cs&quot;:&quot;Z2CMRIdBzaap5rK6tZTuhQ==&quot;,&quot;size&quot;:{&quot;width&quot;:45.666666666666664,&quot;height&quot;:15}}" id="222" name="Google Shape;22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7288" y="1425250"/>
            <a:ext cx="434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fontColorModified&quot;:false,&quot;backgroundColor&quot;:&quot;#FFFFFF&quot;,&quot;type&quot;:&quot;$$&quot;,&quot;font&quot;:{&quot;size&quot;:13.5,&quot;family&quot;:&quot;Arial&quot;,&quot;color&quot;:&quot;#000000&quot;},&quot;id&quot;:&quot;14&quot;,&quot;code&quot;:&quot;$$b=2$$&quot;,&quot;ts&quot;:1788945107971,&quot;cs&quot;:&quot;nD1SfeYl0rRxk506y4qv/Q==&quot;,&quot;size&quot;:{&quot;width&quot;:46,&quot;height&quot;:15}}" id="223" name="Google Shape;22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92050" y="1429138"/>
            <a:ext cx="4381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family&quot;:&quot;Arial&quot;,&quot;size&quot;:13.5},&quot;type&quot;:&quot;$$&quot;,&quot;backgroundColor&quot;:&quot;#FFFFFF&quot;,&quot;code&quot;:&quot;$$b=3$$&quot;,&quot;aid&quot;:null,&quot;backgroundColorModified&quot;:false,&quot;fontColorModified&quot;:false,&quot;id&quot;:&quot;15&quot;,&quot;ts&quot;:1788945124743,&quot;cs&quot;:&quot;eV4quNkX1woJP6H3zecY1g==&quot;,&quot;size&quot;:{&quot;width&quot;:46.166666666666664,&quot;height&quot;:15.166666666666666}}" id="224" name="Google Shape;22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09975" y="1428338"/>
            <a:ext cx="439738" cy="144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$&quot;,&quot;fontColorModified&quot;:false,&quot;aid&quot;:null,&quot;code&quot;:&quot;$$...$$&quot;,&quot;backgroundColor&quot;:&quot;#FFFFFF&quot;,&quot;font&quot;:{&quot;color&quot;:&quot;#000000&quot;,&quot;size&quot;:13.5,&quot;family&quot;:&quot;Arial&quot;},&quot;id&quot;:&quot;16&quot;,&quot;ts&quot;:1788945155214,&quot;cs&quot;:&quot;yfrN/H1QpMCbk2G8Qzu2Sw==&quot;,&quot;size&quot;:{&quot;width&quot;:21.333333333333332,&quot;height&quot;:2.6666666666666665}}" id="225" name="Google Shape;22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129425" y="1475488"/>
            <a:ext cx="2032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13.5,&quot;family&quot;:&quot;Arial&quot;},&quot;type&quot;:&quot;$$&quot;,&quot;backgroundColor&quot;:&quot;#FFFFFF&quot;,&quot;backgroundColorModified&quot;:false,&quot;aid&quot;:null,&quot;fontColorModified&quot;:false,&quot;code&quot;:&quot;$$b=N_{b}$$&quot;,&quot;id&quot;:&quot;17&quot;,&quot;ts&quot;:1788945186141,&quot;cs&quot;:&quot;EJTpmBCm9kiHFbQaBBS7Ag==&quot;,&quot;size&quot;:{&quot;width&quot;:60.333333333333336,&quot;height&quot;:18}}" id="226" name="Google Shape;226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26566" y="1414850"/>
            <a:ext cx="5746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id&quot;:&quot;18&quot;,&quot;aid&quot;:null,&quot;font&quot;:{&quot;size&quot;:13.5,&quot;color&quot;:&quot;#000000&quot;,&quot;family&quot;:&quot;Arial&quot;},&quot;backgroundColor&quot;:&quot;#FFFFFF&quot;,&quot;fontColorModified&quot;:false,&quot;code&quot;:&quot;$$\\big\\langle O\\big\\rangle _{b}=\\,\\frac{1}{\\tau}\\sum_{i\\in b}^{}O_{i\\,}$$&quot;,&quot;backgroundColorModified&quot;:false,&quot;ts&quot;:1788945272660,&quot;cs&quot;:&quot;ewmO5/t3+1Lfx88dK8Gxdw==&quot;,&quot;size&quot;:{&quot;width&quot;:153.16666666666666,&quot;height&quot;:52.333333333333336}}" id="227" name="Google Shape;227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129425" y="2594368"/>
            <a:ext cx="1458913" cy="49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646600" y="3149018"/>
            <a:ext cx="7768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>
                <a:solidFill>
                  <a:schemeClr val="dk1"/>
                </a:solidFill>
              </a:rPr>
              <a:t>Treat these block-averages as our independent samples:</a:t>
            </a:r>
            <a:endParaRPr/>
          </a:p>
        </p:txBody>
      </p:sp>
      <p:pic>
        <p:nvPicPr>
          <p:cNvPr descr="{&quot;type&quot;:&quot;$$&quot;,&quot;backgroundColorModified&quot;:false,&quot;aid&quot;:null,&quot;font&quot;:{&quot;size&quot;:13.5,&quot;color&quot;:&quot;#000000&quot;,&quot;family&quot;:&quot;Arial&quot;},&quot;fontColorModified&quot;:false,&quot;id&quot;:&quot;19&quot;,&quot;backgroundColor&quot;:&quot;#FFFFFF&quot;,&quot;code&quot;:&quot;$$\\big\\langle O\\big\\rangle =\\,\\frac{1}{N_{b}}\\sum_{i=1}^{N_{b}}\\big\\langle O\\big\\rangle _{b}$$&quot;,&quot;ts&quot;:1788945392529,&quot;cs&quot;:&quot;SUka1NSngiWrWtVjVlLvow==&quot;,&quot;size&quot;:{&quot;width&quot;:180.83333333333334,&quot;height&quot;:58.333333333333336}}" id="229" name="Google Shape;229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46100" y="3746146"/>
            <a:ext cx="1722438" cy="555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color&quot;:&quot;#000000&quot;,&quot;size&quot;:13.5,&quot;family&quot;:&quot;Arial&quot;},&quot;type&quot;:&quot;$$&quot;,&quot;id&quot;:&quot;20&quot;,&quot;fontColorModified&quot;:false,&quot;backgroundColor&quot;:&quot;#FFFFFF&quot;,&quot;backgroundColorModified&quot;:false,&quot;code&quot;:&quot;$$\\,\\text{Var}[\\big\\langle O\\big\\rangle ]\\,=\\,\\frac{\\text{Var}[\\big\\langle O\\big\\rangle _{b}]}{{\\sqrt[]{N}}_{b}}$$&quot;,&quot;ts&quot;:1788945521038,&quot;cs&quot;:&quot;vAc3KTM1UVSnr1WU0T2RRg==&quot;,&quot;size&quot;:{&quot;width&quot;:214.83333333333334,&quot;height&quot;:59}}" id="230" name="Google Shape;230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57075" y="3744246"/>
            <a:ext cx="2046288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/>
          <p:nvPr/>
        </p:nvSpPr>
        <p:spPr>
          <a:xfrm>
            <a:off x="4767975" y="3675972"/>
            <a:ext cx="935400" cy="336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6257755" y="3275759"/>
            <a:ext cx="25524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this is significantly smaller than the variance of a single sample! :)</a:t>
            </a:r>
            <a:endParaRPr/>
          </a:p>
        </p:txBody>
      </p:sp>
      <p:cxnSp>
        <p:nvCxnSpPr>
          <p:cNvPr id="233" name="Google Shape;233;p20"/>
          <p:cNvCxnSpPr>
            <a:stCxn id="231" idx="3"/>
            <a:endCxn id="232" idx="1"/>
          </p:cNvCxnSpPr>
          <p:nvPr/>
        </p:nvCxnSpPr>
        <p:spPr>
          <a:xfrm flipH="1" rot="10800000">
            <a:off x="5703375" y="3723522"/>
            <a:ext cx="554400" cy="120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4" name="Google Shape;234;p20"/>
          <p:cNvSpPr txBox="1"/>
          <p:nvPr/>
        </p:nvSpPr>
        <p:spPr>
          <a:xfrm>
            <a:off x="687900" y="4437418"/>
            <a:ext cx="7768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>
                <a:solidFill>
                  <a:schemeClr val="dk1"/>
                </a:solidFill>
              </a:rPr>
              <a:t>Problem: block-averages have longer time-correlation time than single samples…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311700" y="900275"/>
            <a:ext cx="865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2.      </a:t>
            </a:r>
            <a:r>
              <a:rPr b="1" lang="it"/>
              <a:t>Block analysis</a:t>
            </a:r>
            <a:endParaRPr b="1"/>
          </a:p>
        </p:txBody>
      </p:sp>
      <p:pic>
        <p:nvPicPr>
          <p:cNvPr id="241" name="Google Shape;241;p21" title="block_analysis_simp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9000" y="1835975"/>
            <a:ext cx="4854523" cy="3050676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756150" y="1300468"/>
            <a:ext cx="7768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it">
                <a:solidFill>
                  <a:schemeClr val="dk1"/>
                </a:solidFill>
              </a:rPr>
              <a:t>How can we identify correct block size to make the block averages independen?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6211925" y="3156325"/>
            <a:ext cx="30000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blocks are too small: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it" sz="1300">
                <a:solidFill>
                  <a:schemeClr val="dk1"/>
                </a:solidFill>
              </a:rPr>
              <a:t>block averages are correlated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-"/>
            </a:pPr>
            <a:r>
              <a:rPr lang="it" sz="1300">
                <a:solidFill>
                  <a:schemeClr val="dk1"/>
                </a:solidFill>
              </a:rPr>
              <a:t>error is underestimated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388650" y="4001425"/>
            <a:ext cx="17658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dk1"/>
                </a:solidFill>
              </a:rPr>
              <a:t>too few blocks: the estimate is noisy</a:t>
            </a:r>
            <a:endParaRPr sz="1300">
              <a:solidFill>
                <a:schemeClr val="dk1"/>
              </a:solidFill>
            </a:endParaRPr>
          </a:p>
        </p:txBody>
      </p:sp>
      <p:cxnSp>
        <p:nvCxnSpPr>
          <p:cNvPr id="245" name="Google Shape;245;p21"/>
          <p:cNvCxnSpPr/>
          <p:nvPr/>
        </p:nvCxnSpPr>
        <p:spPr>
          <a:xfrm flipH="1" rot="10800000">
            <a:off x="5760425" y="3332875"/>
            <a:ext cx="419700" cy="41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6" name="Google Shape;246;p21"/>
          <p:cNvCxnSpPr/>
          <p:nvPr/>
        </p:nvCxnSpPr>
        <p:spPr>
          <a:xfrm flipH="1">
            <a:off x="1803025" y="3083275"/>
            <a:ext cx="952500" cy="95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21"/>
          <p:cNvSpPr txBox="1"/>
          <p:nvPr/>
        </p:nvSpPr>
        <p:spPr>
          <a:xfrm>
            <a:off x="4642750" y="1978025"/>
            <a:ext cx="22176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FF0000"/>
                </a:solidFill>
              </a:rPr>
              <a:t>where we should stop: beginning of the plateau</a:t>
            </a:r>
            <a:endParaRPr sz="1300">
              <a:solidFill>
                <a:srgbClr val="FF0000"/>
              </a:solidFill>
            </a:endParaRPr>
          </a:p>
        </p:txBody>
      </p:sp>
      <p:cxnSp>
        <p:nvCxnSpPr>
          <p:cNvPr id="248" name="Google Shape;248;p21"/>
          <p:cNvCxnSpPr/>
          <p:nvPr/>
        </p:nvCxnSpPr>
        <p:spPr>
          <a:xfrm flipH="1" rot="10800000">
            <a:off x="4495425" y="2550250"/>
            <a:ext cx="391800" cy="33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9" name="Google Shape;249;p21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Errors of time averages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/>
          <p:nvPr/>
        </p:nvSpPr>
        <p:spPr>
          <a:xfrm>
            <a:off x="1343150" y="996850"/>
            <a:ext cx="6554100" cy="1108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Collective variables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1377575" y="1002296"/>
            <a:ext cx="7052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 collective variable      is a low-dimensional (1D, 2D, …) representation of the high-dimensional state      of the system:</a:t>
            </a:r>
            <a:endParaRPr b="1"/>
          </a:p>
        </p:txBody>
      </p:sp>
      <p:pic>
        <p:nvPicPr>
          <p:cNvPr descr="{&quot;type&quot;:&quot;$$&quot;,&quot;backgroundColorModified&quot;:false,&quot;id&quot;:&quot;21&quot;,&quot;font&quot;:{&quot;family&quot;:&quot;Arial&quot;,&quot;size&quot;:16.5,&quot;color&quot;:&quot;#000000&quot;},&quot;backgroundColor&quot;:&quot;#FFFFFF&quot;,&quot;fontColorModified&quot;:false,&quot;aid&quot;:null,&quot;code&quot;:&quot;$$S:\\,\\mathbb{R}^{6N}\\to\\mathbb{R}^{d}$$&quot;,&quot;ts&quot;:1788955902081,&quot;cs&quot;:&quot;0PNRmAf1Tx9QbM63CWqlNw==&quot;,&quot;size&quot;:{&quot;width&quot;:159.8242299212598,&quot;height&quot;:24.464554330708676}}" id="258" name="Google Shape;25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3025" y="1709518"/>
            <a:ext cx="1522326" cy="23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Modified&quot;:false,&quot;id&quot;:&quot;21&quot;,&quot;font&quot;:{&quot;family&quot;:&quot;Arial&quot;,&quot;size&quot;:16.5,&quot;color&quot;:&quot;#000000&quot;},&quot;backgroundColor&quot;:&quot;#FFFFFF&quot;,&quot;fontColorModified&quot;:false,&quot;aid&quot;:null,&quot;code&quot;:&quot;$$S:\\,\\mathbb{R}^{6N}\\to\\mathbb{R}^{d}$$&quot;,&quot;ts&quot;:1788955869786,&quot;cs&quot;:&quot;fgIQfkWd5FEvfPt8aO4RyA==&quot;,&quot;size&quot;:{&quot;width&quot;:20.821572703412063,&quot;height&quot;:24.464554330708655}}" id="259" name="Google Shape;259;p22"/>
          <p:cNvPicPr preferRelativeResize="0"/>
          <p:nvPr/>
        </p:nvPicPr>
        <p:blipFill rotWithShape="1">
          <a:blip r:embed="rId3">
            <a:alphaModFix/>
          </a:blip>
          <a:srcRect b="0" l="0" r="86972" t="0"/>
          <a:stretch/>
        </p:blipFill>
        <p:spPr>
          <a:xfrm>
            <a:off x="3105051" y="1067301"/>
            <a:ext cx="179401" cy="21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Gamma$$&quot;,&quot;aid&quot;:null,&quot;id&quot;:&quot;25&quot;,&quot;font&quot;:{&quot;color&quot;:&quot;#000000&quot;,&quot;family&quot;:&quot;Arial&quot;,&quot;size&quot;:15.5},&quot;fontColorModified&quot;:false,&quot;type&quot;:&quot;$$&quot;,&quot;backgroundColorModified&quot;:false,&quot;backgroundColor&quot;:&quot;#FFFFFF&quot;,&quot;ts&quot;:1788955860957,&quot;cs&quot;:&quot;+qYCXTm6Jt7ZGe8rh0MIYw==&quot;,&quot;size&quot;:{&quot;width&quot;:13.666666666666666,&quot;height&quot;:16.5}}" id="260" name="Google Shape;26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2825" y="1369575"/>
            <a:ext cx="130175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311700" y="2325150"/>
            <a:ext cx="822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Most</a:t>
            </a:r>
            <a:r>
              <a:rPr lang="it">
                <a:solidFill>
                  <a:schemeClr val="dk1"/>
                </a:solidFill>
              </a:rPr>
              <a:t> CVs actually depend on the positions only: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{&quot;fontColorModified&quot;:false,&quot;aid&quot;:null,&quot;font&quot;:{&quot;size&quot;:14.5,&quot;color&quot;:&quot;#000000&quot;,&quot;family&quot;:&quot;Arial&quot;},&quot;id&quot;:&quot;21&quot;,&quot;backgroundColor&quot;:&quot;#FFFFFF&quot;,&quot;code&quot;:&quot;$$S\\left(\\mathbf{\\{q}_{i}\\rbrace\\right)$$&quot;,&quot;type&quot;:&quot;$$&quot;,&quot;backgroundColorModified&quot;:false,&quot;ts&quot;:1788956078310,&quot;cs&quot;:&quot;QOc+RHr2Nj2aBQu8UWQJHQ==&quot;,&quot;size&quot;:{&quot;width&quot;:78.98013805774278,&quot;height&quot;:24.46455118110238}}" id="262" name="Google Shape;26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4802" y="2433845"/>
            <a:ext cx="752286" cy="23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2"/>
          <p:cNvSpPr txBox="1"/>
          <p:nvPr/>
        </p:nvSpPr>
        <p:spPr>
          <a:xfrm>
            <a:off x="392088" y="2842508"/>
            <a:ext cx="822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chemeClr val="dk1"/>
                </a:solidFill>
              </a:rPr>
              <a:t>Examples: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311688" y="3197935"/>
            <a:ext cx="82242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Interatomic distance between two atoms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Bond or dihedral angle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Coordination number of an atom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Radius of gyration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Complex function of           learnt through dimensionality reduction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{&quot;fontColorModified&quot;:false,&quot;aid&quot;:null,&quot;font&quot;:{&quot;size&quot;:14.5,&quot;color&quot;:&quot;#000000&quot;,&quot;family&quot;:&quot;Arial&quot;},&quot;id&quot;:&quot;21&quot;,&quot;backgroundColor&quot;:&quot;#FFFFFF&quot;,&quot;code&quot;:&quot;$$S\\left(\\mathbf{\\{q}_{i}\\rbrace\\right)$$&quot;,&quot;type&quot;:&quot;$$&quot;,&quot;backgroundColorModified&quot;:false,&quot;ts&quot;:1788956078310,&quot;cs&quot;:&quot;QOc+RHr2Nj2aBQu8UWQJHQ==&quot;,&quot;size&quot;:{&quot;width&quot;:78.98013805774278,&quot;height&quot;:24.46455118110238}}" id="265" name="Google Shape;265;p22"/>
          <p:cNvPicPr preferRelativeResize="0"/>
          <p:nvPr/>
        </p:nvPicPr>
        <p:blipFill rotWithShape="1">
          <a:blip r:embed="rId5">
            <a:alphaModFix/>
          </a:blip>
          <a:srcRect b="0" l="32980" r="8148" t="-15207"/>
          <a:stretch/>
        </p:blipFill>
        <p:spPr>
          <a:xfrm>
            <a:off x="2478983" y="4225614"/>
            <a:ext cx="442875" cy="26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Collective variables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fontColorModified&quot;:false,&quot;backgroundColor&quot;:&quot;#FFFFFF&quot;,&quot;aid&quot;:null,&quot;id&quot;:&quot;2&quot;,&quot;code&quot;:&quot;$$\\Gamma$$&quot;,&quot;type&quot;:&quot;$$&quot;,&quot;font&quot;:{&quot;family&quot;:&quot;Arial&quot;,&quot;color&quot;:&quot;#000000&quot;,&quot;size&quot;:12},&quot;backgroundColorModified&quot;:false,&quot;ts&quot;:1788792199048,&quot;cs&quot;:&quot;DGgE9ydL9zDX4ySrUf8OTA==&quot;,&quot;size&quot;:{&quot;width&quot;:10.666666666666666,&quot;height&quot;:12.833333333333334}}" id="272" name="Google Shape;27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0785" y="2856001"/>
            <a:ext cx="87080" cy="10476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 txBox="1"/>
          <p:nvPr/>
        </p:nvSpPr>
        <p:spPr>
          <a:xfrm>
            <a:off x="378150" y="785642"/>
            <a:ext cx="822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Let’s go back to the case of a multimodal probability distribution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4" name="Google Shape;274;p23" title="Gemini_Generated_Image_drjkn7drjkn7drjk.jpeg"/>
          <p:cNvPicPr preferRelativeResize="0"/>
          <p:nvPr/>
        </p:nvPicPr>
        <p:blipFill rotWithShape="1">
          <a:blip r:embed="rId4">
            <a:alphaModFix/>
          </a:blip>
          <a:srcRect b="18269" l="56674" r="0" t="19949"/>
          <a:stretch/>
        </p:blipFill>
        <p:spPr>
          <a:xfrm>
            <a:off x="3536622" y="1180705"/>
            <a:ext cx="2075406" cy="161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3" title="{&quot;red&quot;:0,&quot;green&quot;:0,&quot;blue&quot;:0,&quot;origURL&quot;:&quot;https://saxarona.github.io/mathjax-viewer/?input=%20%5Clangle%20O%20%5Crangle%20%3D%20%5Cint%20d%5CGamma%20O(%5CGamma)%20%5Cmathcal%7BP%7D(%5CGamma)%20#0&quot;,&quot;size&quot;:15,&quot;width&quot;:535.488188976378,&quot;height&quot;:32.71653543307087}"/>
          <p:cNvPicPr preferRelativeResize="0"/>
          <p:nvPr/>
        </p:nvPicPr>
        <p:blipFill rotWithShape="1">
          <a:blip r:embed="rId5">
            <a:alphaModFix/>
          </a:blip>
          <a:srcRect b="22319" l="76913" r="0" t="15907"/>
          <a:stretch/>
        </p:blipFill>
        <p:spPr>
          <a:xfrm>
            <a:off x="3172925" y="1869460"/>
            <a:ext cx="338634" cy="21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3"/>
          <p:cNvSpPr txBox="1"/>
          <p:nvPr/>
        </p:nvSpPr>
        <p:spPr>
          <a:xfrm>
            <a:off x="459900" y="2973028"/>
            <a:ext cx="822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A CV behaves as a </a:t>
            </a:r>
            <a:r>
              <a:rPr b="1" lang="it">
                <a:solidFill>
                  <a:schemeClr val="dk1"/>
                </a:solidFill>
              </a:rPr>
              <a:t>reaction coordinate </a:t>
            </a:r>
            <a:r>
              <a:rPr lang="it">
                <a:solidFill>
                  <a:schemeClr val="dk1"/>
                </a:solidFill>
              </a:rPr>
              <a:t>if it allows distinguishing “well” the two states (modes):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7" name="Google Shape;277;p23" title="Gemini_Generated_Image_ph7we8ph7we8ph7w.jpeg"/>
          <p:cNvPicPr preferRelativeResize="0"/>
          <p:nvPr/>
        </p:nvPicPr>
        <p:blipFill rotWithShape="1">
          <a:blip r:embed="rId6">
            <a:alphaModFix/>
          </a:blip>
          <a:srcRect b="12048" l="12217" r="8449" t="7039"/>
          <a:stretch/>
        </p:blipFill>
        <p:spPr>
          <a:xfrm>
            <a:off x="3543588" y="3385512"/>
            <a:ext cx="2198238" cy="152810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3"/>
          <p:cNvSpPr txBox="1"/>
          <p:nvPr/>
        </p:nvSpPr>
        <p:spPr>
          <a:xfrm rot="-5400000">
            <a:off x="2571313" y="3908531"/>
            <a:ext cx="1629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4725" lIns="54725" spcFirstLastPara="1" rIns="54725" wrap="square" tIns="547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</a:rPr>
              <a:t>reaction coordinate</a:t>
            </a:r>
            <a:endParaRPr sz="1200"/>
          </a:p>
        </p:txBody>
      </p:sp>
      <p:sp>
        <p:nvSpPr>
          <p:cNvPr id="279" name="Google Shape;279;p23"/>
          <p:cNvSpPr txBox="1"/>
          <p:nvPr/>
        </p:nvSpPr>
        <p:spPr>
          <a:xfrm>
            <a:off x="4410026" y="4871089"/>
            <a:ext cx="5343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4725" lIns="54725" spcFirstLastPara="1" rIns="54725" wrap="square" tIns="547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</a:rPr>
              <a:t>time</a:t>
            </a:r>
            <a:endParaRPr sz="1200"/>
          </a:p>
        </p:txBody>
      </p:sp>
      <p:sp>
        <p:nvSpPr>
          <p:cNvPr id="280" name="Google Shape;280;p23"/>
          <p:cNvSpPr/>
          <p:nvPr/>
        </p:nvSpPr>
        <p:spPr>
          <a:xfrm>
            <a:off x="2480250" y="3333237"/>
            <a:ext cx="748703" cy="393602"/>
          </a:xfrm>
          <a:custGeom>
            <a:rect b="b" l="l" r="r" t="t"/>
            <a:pathLst>
              <a:path extrusionOk="0" h="13381" w="25425">
                <a:moveTo>
                  <a:pt x="0" y="0"/>
                </a:moveTo>
                <a:cubicBezTo>
                  <a:pt x="1617" y="1952"/>
                  <a:pt x="5465" y="9479"/>
                  <a:pt x="9702" y="11709"/>
                </a:cubicBezTo>
                <a:cubicBezTo>
                  <a:pt x="13940" y="13939"/>
                  <a:pt x="22805" y="13102"/>
                  <a:pt x="25425" y="13381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81" name="Google Shape;281;p23"/>
          <p:cNvSpPr txBox="1"/>
          <p:nvPr/>
        </p:nvSpPr>
        <p:spPr>
          <a:xfrm>
            <a:off x="1461300" y="3600175"/>
            <a:ext cx="131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</a:rPr>
              <a:t>typical trajectory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6048300" y="3825561"/>
            <a:ext cx="2635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NB: not all CVs are good reaction coordinates!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Metastability and rare events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24" title="Gemini_Generated_Image_ph7we8ph7we8ph7w.jpeg"/>
          <p:cNvPicPr preferRelativeResize="0"/>
          <p:nvPr/>
        </p:nvPicPr>
        <p:blipFill rotWithShape="1">
          <a:blip r:embed="rId3">
            <a:alphaModFix/>
          </a:blip>
          <a:srcRect b="12048" l="12217" r="8449" t="7039"/>
          <a:stretch/>
        </p:blipFill>
        <p:spPr>
          <a:xfrm>
            <a:off x="3543588" y="1004262"/>
            <a:ext cx="2198238" cy="152810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4"/>
          <p:cNvSpPr txBox="1"/>
          <p:nvPr/>
        </p:nvSpPr>
        <p:spPr>
          <a:xfrm rot="-5400000">
            <a:off x="2571313" y="1527281"/>
            <a:ext cx="1629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4725" lIns="54725" spcFirstLastPara="1" rIns="54725" wrap="square" tIns="547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</a:rPr>
              <a:t>reaction coordinate</a:t>
            </a:r>
            <a:endParaRPr sz="1200"/>
          </a:p>
        </p:txBody>
      </p:sp>
      <p:sp>
        <p:nvSpPr>
          <p:cNvPr id="291" name="Google Shape;291;p24"/>
          <p:cNvSpPr txBox="1"/>
          <p:nvPr/>
        </p:nvSpPr>
        <p:spPr>
          <a:xfrm>
            <a:off x="4410026" y="2489839"/>
            <a:ext cx="5343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54725" lIns="54725" spcFirstLastPara="1" rIns="54725" wrap="square" tIns="547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</a:rPr>
              <a:t>time</a:t>
            </a:r>
            <a:endParaRPr sz="1200"/>
          </a:p>
        </p:txBody>
      </p:sp>
      <p:sp>
        <p:nvSpPr>
          <p:cNvPr id="292" name="Google Shape;292;p24"/>
          <p:cNvSpPr txBox="1"/>
          <p:nvPr/>
        </p:nvSpPr>
        <p:spPr>
          <a:xfrm>
            <a:off x="417200" y="2759582"/>
            <a:ext cx="8520600" cy="11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it">
                <a:solidFill>
                  <a:srgbClr val="000000"/>
                </a:solidFill>
              </a:rPr>
              <a:t>Three</a:t>
            </a:r>
            <a:r>
              <a:rPr lang="it"/>
              <a:t> relevant time scales:</a:t>
            </a:r>
            <a:endParaRPr/>
          </a:p>
          <a:p>
            <a:pPr indent="-319300" lvl="1" marL="77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“</a:t>
            </a:r>
            <a:r>
              <a:rPr i="1" lang="it"/>
              <a:t>relaxation</a:t>
            </a:r>
            <a:r>
              <a:rPr lang="it"/>
              <a:t>” time within a minimum (=metastable state) , 𝝉</a:t>
            </a:r>
            <a:r>
              <a:rPr baseline="-25000" lang="it"/>
              <a:t>relaxation</a:t>
            </a:r>
            <a:endParaRPr baseline="-25000"/>
          </a:p>
          <a:p>
            <a:pPr indent="-319300" lvl="1" marL="77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“</a:t>
            </a:r>
            <a:r>
              <a:rPr i="1" lang="it"/>
              <a:t>residence</a:t>
            </a:r>
            <a:r>
              <a:rPr lang="it"/>
              <a:t>” time between two transitions, </a:t>
            </a:r>
            <a:r>
              <a:rPr lang="it">
                <a:solidFill>
                  <a:srgbClr val="000000"/>
                </a:solidFill>
              </a:rPr>
              <a:t>𝝉</a:t>
            </a:r>
            <a:r>
              <a:rPr baseline="-25000" lang="it">
                <a:solidFill>
                  <a:srgbClr val="000000"/>
                </a:solidFill>
              </a:rPr>
              <a:t>residence</a:t>
            </a:r>
            <a:endParaRPr/>
          </a:p>
          <a:p>
            <a:pPr indent="-319300" lvl="1" marL="77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“</a:t>
            </a:r>
            <a:r>
              <a:rPr i="1" lang="it"/>
              <a:t>echange</a:t>
            </a:r>
            <a:r>
              <a:rPr lang="it"/>
              <a:t>” time required to perform the transition, </a:t>
            </a:r>
            <a:r>
              <a:rPr lang="it">
                <a:solidFill>
                  <a:srgbClr val="000000"/>
                </a:solidFill>
              </a:rPr>
              <a:t>𝝉</a:t>
            </a:r>
            <a:r>
              <a:rPr baseline="-25000" lang="it">
                <a:solidFill>
                  <a:srgbClr val="000000"/>
                </a:solidFill>
              </a:rPr>
              <a:t>exchange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416550" y="4004821"/>
            <a:ext cx="8275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it">
                <a:solidFill>
                  <a:srgbClr val="000000"/>
                </a:solidFill>
              </a:rPr>
              <a:t>Metastability: </a:t>
            </a:r>
            <a:r>
              <a:rPr lang="it">
                <a:solidFill>
                  <a:srgbClr val="000000"/>
                </a:solidFill>
              </a:rPr>
              <a:t>𝝉</a:t>
            </a:r>
            <a:r>
              <a:rPr baseline="-25000" lang="it">
                <a:solidFill>
                  <a:srgbClr val="000000"/>
                </a:solidFill>
              </a:rPr>
              <a:t>relaxation</a:t>
            </a:r>
            <a:r>
              <a:rPr lang="it">
                <a:solidFill>
                  <a:srgbClr val="000000"/>
                </a:solidFill>
              </a:rPr>
              <a:t> &lt;&lt;  𝝉</a:t>
            </a:r>
            <a:r>
              <a:rPr baseline="-25000" lang="it">
                <a:solidFill>
                  <a:srgbClr val="000000"/>
                </a:solidFill>
              </a:rPr>
              <a:t>residence</a:t>
            </a:r>
            <a:r>
              <a:rPr lang="it">
                <a:solidFill>
                  <a:srgbClr val="000000"/>
                </a:solidFill>
              </a:rPr>
              <a:t>  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it"/>
              <a:t>R</a:t>
            </a:r>
            <a:r>
              <a:rPr b="1" lang="it">
                <a:solidFill>
                  <a:srgbClr val="000000"/>
                </a:solidFill>
              </a:rPr>
              <a:t>are events: </a:t>
            </a:r>
            <a:r>
              <a:rPr lang="it">
                <a:solidFill>
                  <a:srgbClr val="000000"/>
                </a:solidFill>
              </a:rPr>
              <a:t>𝝉</a:t>
            </a:r>
            <a:r>
              <a:rPr baseline="-25000" lang="it">
                <a:solidFill>
                  <a:srgbClr val="000000"/>
                </a:solidFill>
              </a:rPr>
              <a:t>exchange</a:t>
            </a:r>
            <a:r>
              <a:rPr lang="it">
                <a:solidFill>
                  <a:srgbClr val="000000"/>
                </a:solidFill>
              </a:rPr>
              <a:t> &lt;&lt; </a:t>
            </a:r>
            <a:r>
              <a:rPr baseline="-25000" lang="it">
                <a:solidFill>
                  <a:srgbClr val="000000"/>
                </a:solidFill>
              </a:rPr>
              <a:t> </a:t>
            </a:r>
            <a:r>
              <a:rPr lang="it">
                <a:solidFill>
                  <a:srgbClr val="000000"/>
                </a:solidFill>
              </a:rPr>
              <a:t>𝝉</a:t>
            </a:r>
            <a:r>
              <a:rPr baseline="-25000" lang="it">
                <a:solidFill>
                  <a:srgbClr val="000000"/>
                </a:solidFill>
              </a:rPr>
              <a:t>residence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3813725" y="4040675"/>
            <a:ext cx="107700" cy="651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3994850" y="4166375"/>
            <a:ext cx="476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actually one implies the other, because </a:t>
            </a:r>
            <a:r>
              <a:rPr lang="it">
                <a:solidFill>
                  <a:schemeClr val="dk1"/>
                </a:solidFill>
              </a:rPr>
              <a:t>𝝉</a:t>
            </a:r>
            <a:r>
              <a:rPr baseline="-25000" lang="it">
                <a:solidFill>
                  <a:schemeClr val="dk1"/>
                </a:solidFill>
              </a:rPr>
              <a:t>relaxation</a:t>
            </a:r>
            <a:r>
              <a:rPr lang="it">
                <a:solidFill>
                  <a:schemeClr val="dk1"/>
                </a:solidFill>
              </a:rPr>
              <a:t> ~ </a:t>
            </a:r>
            <a:r>
              <a:rPr lang="it">
                <a:solidFill>
                  <a:schemeClr val="dk1"/>
                </a:solidFill>
              </a:rPr>
              <a:t>𝝉</a:t>
            </a:r>
            <a:r>
              <a:rPr baseline="-25000" lang="it">
                <a:solidFill>
                  <a:schemeClr val="dk1"/>
                </a:solidFill>
              </a:rPr>
              <a:t>exchange</a:t>
            </a:r>
            <a:r>
              <a:rPr lang="it">
                <a:solidFill>
                  <a:schemeClr val="dk1"/>
                </a:solidFill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5"/>
          <p:cNvSpPr/>
          <p:nvPr/>
        </p:nvSpPr>
        <p:spPr>
          <a:xfrm>
            <a:off x="1116300" y="4118550"/>
            <a:ext cx="6911400" cy="654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5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Free energies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378150" y="907042"/>
            <a:ext cx="822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First: can we write the probability of finding the system in a given value of the CV                ?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{&quot;type&quot;:&quot;$$&quot;,&quot;backgroundColor&quot;:&quot;#FFFFFF&quot;,&quot;id&quot;:&quot;21&quot;,&quot;fontColorModified&quot;:false,&quot;backgroundColorModified&quot;:false,&quot;aid&quot;:null,&quot;code&quot;:&quot;$$\\mathcal{S}\\left(\\mathbf{\\{q}_{i}\\rbrace\\right)$$&quot;,&quot;font&quot;:{&quot;size&quot;:13,&quot;family&quot;:&quot;Arial&quot;,&quot;color&quot;:&quot;#000000&quot;},&quot;ts&quot;:1788970644503,&quot;cs&quot;:&quot;NJ290wOPlAb/1RM6rEcMDQ==&quot;,&quot;size&quot;:{&quot;width&quot;:69.5,&quot;height&quot;:21.333333333333332}}" id="304" name="Google Shape;30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8850" y="1013566"/>
            <a:ext cx="661988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Modified&quot;:false,&quot;aid&quot;:null,&quot;font&quot;:{&quot;color&quot;:&quot;#000000&quot;,&quot;size&quot;:12,&quot;family&quot;:&quot;Arial&quot;},&quot;id&quot;:&quot;26&quot;,&quot;code&quot;:&quot;$$\\mathcal{P\\left(\\{\\mathbf{q}_{i}\\}\\right)\\,=\\,\\frac{1}{Z}}\\exp\\Big(-\\beta\\,U\\left(\\{\\mathbf{q}_{i}\\}\\right)\\Big)$$&quot;,&quot;backgroundColor&quot;:&quot;#FFFFFF&quot;,&quot;ts&quot;:1788963364308,&quot;cs&quot;:&quot;Ly7tAl25g+a38GcVdiNwfQ==&quot;,&quot;size&quot;:{&quot;width&quot;:280.5,&quot;height&quot;:38.25}}" id="305" name="Google Shape;30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4151" y="1494447"/>
            <a:ext cx="2838450" cy="3870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6" name="Google Shape;306;p25"/>
          <p:cNvCxnSpPr/>
          <p:nvPr/>
        </p:nvCxnSpPr>
        <p:spPr>
          <a:xfrm>
            <a:off x="5206900" y="1727400"/>
            <a:ext cx="663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7" name="Google Shape;307;p25"/>
          <p:cNvSpPr txBox="1"/>
          <p:nvPr/>
        </p:nvSpPr>
        <p:spPr>
          <a:xfrm>
            <a:off x="5364469" y="1344525"/>
            <a:ext cx="42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?</a:t>
            </a:r>
            <a:endParaRPr/>
          </a:p>
        </p:txBody>
      </p:sp>
      <p:pic>
        <p:nvPicPr>
          <p:cNvPr descr="{&quot;type&quot;:&quot;$$&quot;,&quot;font&quot;:{&quot;family&quot;:&quot;Arial&quot;,&quot;color&quot;:&quot;#000000&quot;,&quot;size&quot;:12},&quot;id&quot;:&quot;26&quot;,&quot;fontColorModified&quot;:false,&quot;backgroundColor&quot;:&quot;#FFFFFF&quot;,&quot;backgroundColorModified&quot;:false,&quot;aid&quot;:null,&quot;code&quot;:&quot;$$\\mathcal{P\\left(S\\right)\\,}$$&quot;,&quot;ts&quot;:1788963535781,&quot;cs&quot;:&quot;DX3dlib0aMPxj1tPleIcfw==&quot;,&quot;size&quot;:{&quot;width&quot;:44.25194015748034,&quot;height&quot;:20.081434645669287}}" id="308" name="Google Shape;30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4200" y="1609452"/>
            <a:ext cx="470696" cy="21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5"/>
          <p:cNvSpPr txBox="1"/>
          <p:nvPr/>
        </p:nvSpPr>
        <p:spPr>
          <a:xfrm>
            <a:off x="378150" y="2427575"/>
            <a:ext cx="410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Using the delta-function:</a:t>
            </a:r>
            <a:endParaRPr/>
          </a:p>
        </p:txBody>
      </p:sp>
      <p:pic>
        <p:nvPicPr>
          <p:cNvPr descr="{&quot;backgroundColor&quot;:&quot;#FFFFFF&quot;,&quot;fontColorModified&quot;:false,&quot;id&quot;:&quot;27&quot;,&quot;backgroundColorModified&quot;:false,&quot;type&quot;:&quot;$$&quot;,&quot;aid&quot;:null,&quot;code&quot;:&quot;$$\\mathcal{=\\frac{1}{Z}\\int_{}^{}\\text{d}\\mathbf{q}\\,\\,\\delta\\Big(S\\left(\\mathbf{q}\\right)-s\\Big)\\,\\exp}\\Big(-\\beta \\,U\\left(\\mathbf{q}\\right)\\Big)$$&quot;,&quot;font&quot;:{&quot;color&quot;:&quot;#000000&quot;,&quot;family&quot;:&quot;Arial&quot;,&quot;size&quot;:12},&quot;ts&quot;:1788964848941,&quot;cs&quot;:&quot;9bftOYnvOM/nyNt9Xpo42A==&quot;,&quot;size&quot;:{&quot;width&quot;:329.5,&quot;height&quot;:41.75}}" id="310" name="Google Shape;31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40706" y="3411575"/>
            <a:ext cx="3138488" cy="39766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 txBox="1"/>
          <p:nvPr/>
        </p:nvSpPr>
        <p:spPr>
          <a:xfrm>
            <a:off x="378150" y="2021142"/>
            <a:ext cx="822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Simper notation from now on: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{&quot;font&quot;:{&quot;family&quot;:&quot;Arial&quot;,&quot;color&quot;:&quot;#000000&quot;,&quot;size&quot;:12},&quot;id&quot;:&quot;26&quot;,&quot;fontColorModified&quot;:false,&quot;type&quot;:&quot;$$&quot;,&quot;code&quot;:&quot;$$\\mathbf{q}:=\\,\\{\\mathbf{q}_{i}\\}$$&quot;,&quot;backgroundColor&quot;:&quot;#FFFFFF&quot;,&quot;backgroundColorModified&quot;:false,&quot;aid&quot;:null,&quot;ts&quot;:1788964682657,&quot;cs&quot;:&quot;wZqO0gFvLXSfGWZ2X80Dgg==&quot;,&quot;size&quot;:{&quot;width&quot;:79.16666666666667,&quot;height&quot;:18.833333333333332}}" id="312" name="Google Shape;312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31735" y="2131550"/>
            <a:ext cx="754063" cy="179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code&quot;:&quot;$$\\mathcal{P\\left(S=s\\right)=\\int_{}^{}\\text{d}\\mathbf{q}\\,\\,\\delta\\Big(S\\left(\\mathbf{q}\\right)-s\\Big)\\,\\mathcal{P\\left(\\mathbf{q}\\right)}}$$&quot;,&quot;fontColorModified&quot;:false,&quot;aid&quot;:null,&quot;type&quot;:&quot;$$&quot;,&quot;id&quot;:&quot;28&quot;,&quot;font&quot;:{&quot;color&quot;:&quot;#000000&quot;,&quot;family&quot;:&quot;Arial&quot;,&quot;size&quot;:12},&quot;backgroundColor&quot;:&quot;#FFFFFF&quot;,&quot;ts&quot;:1788964786203,&quot;cs&quot;:&quot;VXKlSKHsOGGOHFS+vgvcuw==&quot;,&quot;size&quot;:{&quot;width&quot;:298,&quot;height&quot;:41.75}}" id="313" name="Google Shape;313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184138" y="2881600"/>
            <a:ext cx="2838450" cy="397669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5"/>
          <p:cNvSpPr txBox="1"/>
          <p:nvPr/>
        </p:nvSpPr>
        <p:spPr>
          <a:xfrm>
            <a:off x="1183125" y="4230833"/>
            <a:ext cx="667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The </a:t>
            </a:r>
            <a:r>
              <a:rPr b="1" lang="it">
                <a:solidFill>
                  <a:schemeClr val="dk1"/>
                </a:solidFill>
              </a:rPr>
              <a:t>free energy </a:t>
            </a:r>
            <a:r>
              <a:rPr lang="it">
                <a:solidFill>
                  <a:schemeClr val="dk1"/>
                </a:solidFill>
              </a:rPr>
              <a:t>as a function of the CV           is defined as</a:t>
            </a:r>
            <a:endParaRPr/>
          </a:p>
        </p:txBody>
      </p:sp>
      <p:pic>
        <p:nvPicPr>
          <p:cNvPr descr="{&quot;id&quot;:&quot;29&quot;,&quot;font&quot;:{&quot;color&quot;:&quot;#000000&quot;,&quot;family&quot;:&quot;Arial&quot;,&quot;size&quot;:13},&quot;code&quot;:&quot;$$\\mathcal{S}\\left(\\mathbf{q}\\right)$$&quot;,&quot;backgroundColor&quot;:&quot;#FFFFFF&quot;,&quot;backgroundColorModified&quot;:false,&quot;fontColorModified&quot;:false,&quot;type&quot;:&quot;$$&quot;,&quot;aid&quot;:null,&quot;ts&quot;:1788970657191,&quot;cs&quot;:&quot;HdPBEqD4Lpks4xo8xMoVew==&quot;,&quot;size&quot;:{&quot;width&quot;:42.5,&quot;height&quot;:20.5}}" id="315" name="Google Shape;315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09510" y="4345650"/>
            <a:ext cx="404813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F\\left(\\mathcal{S}\\right)=-\\frac{1}{\\beta}\\log_{}\\mathcal{P\\left(S\\right)}$$&quot;,&quot;backgroundColorModified&quot;:false,&quot;fontColorModified&quot;:false,&quot;font&quot;:{&quot;color&quot;:&quot;#000000&quot;,&quot;size&quot;:14,&quot;family&quot;:&quot;Arial&quot;},&quot;id&quot;:&quot;31&quot;,&quot;type&quot;:&quot;$$&quot;,&quot;backgroundColor&quot;:&quot;#FFFFFF&quot;,&quot;aid&quot;:null,&quot;ts&quot;:1788970688818,&quot;cs&quot;:&quot;nVLYKYJc83lzFtAmsn54DQ==&quot;,&quot;size&quot;:{&quot;width&quot;:201,&quot;height&quot;:48.666666666666664}}" id="316" name="Google Shape;316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54200" y="4211500"/>
            <a:ext cx="1914525" cy="46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6"/>
          <p:cNvSpPr/>
          <p:nvPr/>
        </p:nvSpPr>
        <p:spPr>
          <a:xfrm>
            <a:off x="1181675" y="962225"/>
            <a:ext cx="6911400" cy="654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6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Free energies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1248500" y="1074508"/>
            <a:ext cx="667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The </a:t>
            </a:r>
            <a:r>
              <a:rPr b="1" lang="it">
                <a:solidFill>
                  <a:schemeClr val="dk1"/>
                </a:solidFill>
              </a:rPr>
              <a:t>free energy </a:t>
            </a:r>
            <a:r>
              <a:rPr lang="it">
                <a:solidFill>
                  <a:schemeClr val="dk1"/>
                </a:solidFill>
              </a:rPr>
              <a:t>as a function of the CV           is defined as</a:t>
            </a:r>
            <a:endParaRPr/>
          </a:p>
        </p:txBody>
      </p:sp>
      <p:pic>
        <p:nvPicPr>
          <p:cNvPr descr="{&quot;backgroundColor&quot;:&quot;#FFFFFF&quot;,&quot;aid&quot;:null,&quot;type&quot;:&quot;$$&quot;,&quot;backgroundColorModified&quot;:false,&quot;fontColorModified&quot;:false,&quot;code&quot;:&quot;$$S\\left(\\mathbf{q}\\right)$$&quot;,&quot;font&quot;:{&quot;size&quot;:13,&quot;color&quot;:&quot;#000000&quot;,&quot;family&quot;:&quot;Arial&quot;},&quot;id&quot;:&quot;29&quot;,&quot;ts&quot;:1788964985278,&quot;cs&quot;:&quot;p/KlliIb7y9mfKn6d/Sy+Q==&quot;,&quot;size&quot;:{&quot;width&quot;:41.833333333333336,&quot;height&quot;:20.5}}" id="325" name="Google Shape;32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4885" y="1187793"/>
            <a:ext cx="398463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26" title="free_energy_S.png"/>
          <p:cNvPicPr preferRelativeResize="0"/>
          <p:nvPr/>
        </p:nvPicPr>
        <p:blipFill rotWithShape="1">
          <a:blip r:embed="rId4">
            <a:alphaModFix/>
          </a:blip>
          <a:srcRect b="6977" l="12793" r="0" t="0"/>
          <a:stretch/>
        </p:blipFill>
        <p:spPr>
          <a:xfrm>
            <a:off x="5663736" y="1801029"/>
            <a:ext cx="2909094" cy="2400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6" title="prob_S.png"/>
          <p:cNvPicPr preferRelativeResize="0"/>
          <p:nvPr/>
        </p:nvPicPr>
        <p:blipFill rotWithShape="1">
          <a:blip r:embed="rId5">
            <a:alphaModFix/>
          </a:blip>
          <a:srcRect b="6977" l="6411" r="0" t="0"/>
          <a:stretch/>
        </p:blipFill>
        <p:spPr>
          <a:xfrm>
            <a:off x="1084475" y="1729817"/>
            <a:ext cx="3121987" cy="24006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font&quot;:{&quot;family&quot;:&quot;Arial&quot;,&quot;color&quot;:&quot;#000000&quot;,&quot;size&quot;:12},&quot;id&quot;:&quot;26&quot;,&quot;fontColorModified&quot;:false,&quot;backgroundColor&quot;:&quot;#FFFFFF&quot;,&quot;backgroundColorModified&quot;:false,&quot;aid&quot;:null,&quot;code&quot;:&quot;$$\\mathcal{P\\left(S\\right)\\,}$$&quot;,&quot;ts&quot;:1788963535781,&quot;cs&quot;:&quot;DX3dlib0aMPxj1tPleIcfw==&quot;,&quot;size&quot;:{&quot;width&quot;:44.25194015748034,&quot;height&quot;:20.081434645669287}}" id="328" name="Google Shape;32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775" y="2823332"/>
            <a:ext cx="470696" cy="21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F\\left(\\mathcal{S}\\right)=-\\frac{1}{\\beta}\\log_{}\\mathcal{P\\left(S\\right)}$$&quot;,&quot;backgroundColorModified&quot;:false,&quot;fontColorModified&quot;:false,&quot;font&quot;:{&quot;color&quot;:&quot;#000000&quot;,&quot;size&quot;:14,&quot;family&quot;:&quot;Arial&quot;},&quot;id&quot;:&quot;31&quot;,&quot;type&quot;:&quot;$$&quot;,&quot;backgroundColor&quot;:&quot;#FFFFFF&quot;,&quot;aid&quot;:null,&quot;ts&quot;:1788970688818,&quot;cs&quot;:&quot;nVLYKYJc83lzFtAmsn54DQ==&quot;,&quot;size&quot;:{&quot;width&quot;:201,&quot;height&quot;:48.666666666666664}}" id="329" name="Google Shape;329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00875" y="1061501"/>
            <a:ext cx="1914525" cy="46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F\\left(\\mathcal{S}\\right)=-\\frac{1}{\\beta}\\log_{}\\mathcal{P\\left(S\\right)}$$&quot;,&quot;backgroundColorModified&quot;:false,&quot;fontColorModified&quot;:false,&quot;font&quot;:{&quot;color&quot;:&quot;#000000&quot;,&quot;size&quot;:14,&quot;family&quot;:&quot;Arial&quot;},&quot;id&quot;:&quot;31&quot;,&quot;type&quot;:&quot;$$&quot;,&quot;backgroundColor&quot;:&quot;#FFFFFF&quot;,&quot;aid&quot;:null,&quot;ts&quot;:1788970688818,&quot;cs&quot;:&quot;nVLYKYJc83lzFtAmsn54DQ==&quot;,&quot;size&quot;:{&quot;width&quot;:201,&quot;height&quot;:48.666666666666664}}" id="330" name="Google Shape;330;p26"/>
          <p:cNvPicPr preferRelativeResize="0"/>
          <p:nvPr/>
        </p:nvPicPr>
        <p:blipFill rotWithShape="1">
          <a:blip r:embed="rId7">
            <a:alphaModFix/>
          </a:blip>
          <a:srcRect b="0" l="0" r="73430" t="0"/>
          <a:stretch/>
        </p:blipFill>
        <p:spPr>
          <a:xfrm>
            <a:off x="5155050" y="2698367"/>
            <a:ext cx="508676" cy="463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F\\left(\\mathcal{S}\\right)=-\\frac{1}{\\beta}\\log_{}\\mathcal{P\\left(S\\right)}$$&quot;,&quot;backgroundColorModified&quot;:false,&quot;fontColorModified&quot;:false,&quot;font&quot;:{&quot;color&quot;:&quot;#000000&quot;,&quot;size&quot;:14,&quot;family&quot;:&quot;Arial&quot;},&quot;id&quot;:&quot;31&quot;,&quot;type&quot;:&quot;$$&quot;,&quot;backgroundColor&quot;:&quot;#FFFFFF&quot;,&quot;aid&quot;:null,&quot;ts&quot;:1788970688818,&quot;cs&quot;:&quot;nVLYKYJc83lzFtAmsn54DQ==&quot;,&quot;size&quot;:{&quot;width&quot;:201,&quot;height&quot;:48.666666666666664}}" id="331" name="Google Shape;331;p26"/>
          <p:cNvPicPr preferRelativeResize="0"/>
          <p:nvPr/>
        </p:nvPicPr>
        <p:blipFill rotWithShape="1">
          <a:blip r:embed="rId7">
            <a:alphaModFix/>
          </a:blip>
          <a:srcRect b="29082" l="13034" r="78153" t="21843"/>
          <a:stretch/>
        </p:blipFill>
        <p:spPr>
          <a:xfrm>
            <a:off x="2607800" y="4088133"/>
            <a:ext cx="168725" cy="22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F\\left(\\mathcal{S}\\right)=-\\frac{1}{\\beta}\\log_{}\\mathcal{P\\left(S\\right)}$$&quot;,&quot;backgroundColorModified&quot;:false,&quot;fontColorModified&quot;:false,&quot;font&quot;:{&quot;color&quot;:&quot;#000000&quot;,&quot;size&quot;:14,&quot;family&quot;:&quot;Arial&quot;},&quot;id&quot;:&quot;31&quot;,&quot;type&quot;:&quot;$$&quot;,&quot;backgroundColor&quot;:&quot;#FFFFFF&quot;,&quot;aid&quot;:null,&quot;ts&quot;:1788970688818,&quot;cs&quot;:&quot;nVLYKYJc83lzFtAmsn54DQ==&quot;,&quot;size&quot;:{&quot;width&quot;:201,&quot;height&quot;:48.666666666666664}}" id="332" name="Google Shape;332;p26"/>
          <p:cNvPicPr preferRelativeResize="0"/>
          <p:nvPr/>
        </p:nvPicPr>
        <p:blipFill rotWithShape="1">
          <a:blip r:embed="rId7">
            <a:alphaModFix/>
          </a:blip>
          <a:srcRect b="29082" l="13034" r="78153" t="21843"/>
          <a:stretch/>
        </p:blipFill>
        <p:spPr>
          <a:xfrm>
            <a:off x="7033913" y="4159358"/>
            <a:ext cx="168725" cy="2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6"/>
          <p:cNvSpPr/>
          <p:nvPr/>
        </p:nvSpPr>
        <p:spPr>
          <a:xfrm>
            <a:off x="4397100" y="2816442"/>
            <a:ext cx="567300" cy="2274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4" name="Google Shape;334;p26"/>
          <p:cNvCxnSpPr/>
          <p:nvPr/>
        </p:nvCxnSpPr>
        <p:spPr>
          <a:xfrm>
            <a:off x="2668146" y="1982264"/>
            <a:ext cx="0" cy="203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5" name="Google Shape;335;p26"/>
          <p:cNvCxnSpPr/>
          <p:nvPr/>
        </p:nvCxnSpPr>
        <p:spPr>
          <a:xfrm>
            <a:off x="6207225" y="2664142"/>
            <a:ext cx="0" cy="135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6" name="Google Shape;336;p26"/>
          <p:cNvSpPr txBox="1"/>
          <p:nvPr/>
        </p:nvSpPr>
        <p:spPr>
          <a:xfrm>
            <a:off x="2615236" y="2174751"/>
            <a:ext cx="1326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1"/>
                </a:solidFill>
              </a:rPr>
              <a:t>~ 5 orders of magnitude</a:t>
            </a:r>
            <a:endParaRPr sz="1100"/>
          </a:p>
        </p:txBody>
      </p:sp>
      <p:sp>
        <p:nvSpPr>
          <p:cNvPr id="337" name="Google Shape;337;p26"/>
          <p:cNvSpPr txBox="1"/>
          <p:nvPr/>
        </p:nvSpPr>
        <p:spPr>
          <a:xfrm>
            <a:off x="6207227" y="3090651"/>
            <a:ext cx="1326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</a:rPr>
              <a:t>~ 5 </a:t>
            </a:r>
            <a:endParaRPr sz="1200"/>
          </a:p>
        </p:txBody>
      </p:sp>
      <p:sp>
        <p:nvSpPr>
          <p:cNvPr id="338" name="Google Shape;338;p26"/>
          <p:cNvSpPr txBox="1"/>
          <p:nvPr/>
        </p:nvSpPr>
        <p:spPr>
          <a:xfrm>
            <a:off x="409900" y="4294442"/>
            <a:ext cx="410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Modes of            are l</a:t>
            </a:r>
            <a:r>
              <a:rPr b="1" lang="it">
                <a:solidFill>
                  <a:schemeClr val="dk1"/>
                </a:solidFill>
              </a:rPr>
              <a:t>ocal minima</a:t>
            </a:r>
            <a:r>
              <a:rPr lang="it">
                <a:solidFill>
                  <a:schemeClr val="dk1"/>
                </a:solidFill>
              </a:rPr>
              <a:t> of              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409900" y="4637467"/>
            <a:ext cx="618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Low-probability regions between modes become </a:t>
            </a:r>
            <a:r>
              <a:rPr b="1" lang="it">
                <a:solidFill>
                  <a:schemeClr val="dk1"/>
                </a:solidFill>
              </a:rPr>
              <a:t>barriers</a:t>
            </a:r>
            <a:endParaRPr b="1"/>
          </a:p>
        </p:txBody>
      </p:sp>
      <p:pic>
        <p:nvPicPr>
          <p:cNvPr descr="{&quot;type&quot;:&quot;$$&quot;,&quot;font&quot;:{&quot;family&quot;:&quot;Arial&quot;,&quot;color&quot;:&quot;#000000&quot;,&quot;size&quot;:12},&quot;id&quot;:&quot;26&quot;,&quot;fontColorModified&quot;:false,&quot;backgroundColor&quot;:&quot;#FFFFFF&quot;,&quot;backgroundColorModified&quot;:false,&quot;aid&quot;:null,&quot;code&quot;:&quot;$$\\mathcal{P\\left(S\\right)\\,}$$&quot;,&quot;ts&quot;:1788963535781,&quot;cs&quot;:&quot;DX3dlib0aMPxj1tPleIcfw==&quot;,&quot;size&quot;:{&quot;width&quot;:44.25194015748034,&quot;height&quot;:20.081434645669287}}" id="340" name="Google Shape;34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0425" y="4398315"/>
            <a:ext cx="470696" cy="21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F\\left(\\mathcal{S}\\right)=-\\frac{1}{\\beta}\\log_{}\\mathcal{P\\left(S\\right)}$$&quot;,&quot;backgroundColorModified&quot;:false,&quot;fontColorModified&quot;:false,&quot;font&quot;:{&quot;color&quot;:&quot;#000000&quot;,&quot;size&quot;:14,&quot;family&quot;:&quot;Arial&quot;},&quot;id&quot;:&quot;31&quot;,&quot;type&quot;:&quot;$$&quot;,&quot;backgroundColor&quot;:&quot;#FFFFFF&quot;,&quot;aid&quot;:null,&quot;ts&quot;:1788970688818,&quot;cs&quot;:&quot;nVLYKYJc83lzFtAmsn54DQ==&quot;,&quot;size&quot;:{&quot;width&quot;:201,&quot;height&quot;:48.666666666666664}}" id="341" name="Google Shape;341;p26"/>
          <p:cNvPicPr preferRelativeResize="0"/>
          <p:nvPr/>
        </p:nvPicPr>
        <p:blipFill rotWithShape="1">
          <a:blip r:embed="rId7">
            <a:alphaModFix/>
          </a:blip>
          <a:srcRect b="0" l="0" r="73430" t="0"/>
          <a:stretch/>
        </p:blipFill>
        <p:spPr>
          <a:xfrm>
            <a:off x="3909592" y="4295450"/>
            <a:ext cx="508676" cy="46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27" title="{&quot;red&quot;:0,&quot;green&quot;:0,&quot;blue&quot;:0,&quot;origURL&quot;:&quot;https://saxarona.github.io/mathjax-viewer/?input=%20%5Clangle%20O%20%5Crangle%20%3D%20%5Cint%20d%5CGamma%20O(%5CGamma)%20%5Cmathcal%7BP%7D(%5CGamma)%20#0&quot;,&quot;size&quot;:15,&quot;width&quot;:535.488188976378,&quot;height&quot;:32.71653543307087}"/>
          <p:cNvPicPr preferRelativeResize="0"/>
          <p:nvPr/>
        </p:nvPicPr>
        <p:blipFill rotWithShape="1">
          <a:blip r:embed="rId3">
            <a:alphaModFix/>
          </a:blip>
          <a:srcRect b="0" l="76704" r="0" t="0"/>
          <a:stretch/>
        </p:blipFill>
        <p:spPr>
          <a:xfrm>
            <a:off x="4295846" y="4251225"/>
            <a:ext cx="464126" cy="46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7" title="{&quot;red&quot;:0,&quot;green&quot;:0,&quot;blue&quot;:0,&quot;origURL&quot;:&quot;https://saxarona.github.io/mathjax-viewer/?input=%20%5Clangle%20O%20%5Crangle%20%3D%20%5Cint%20d%5CGamma%20O(%5CGamma)%20%5Cmathcal%7BP%7D(%5CGamma)%20#0&quot;,&quot;size&quot;:15,&quot;width&quot;:535.488188976378,&quot;height&quot;:32.71653543307087}"/>
          <p:cNvPicPr preferRelativeResize="0"/>
          <p:nvPr/>
        </p:nvPicPr>
        <p:blipFill rotWithShape="1">
          <a:blip r:embed="rId3">
            <a:alphaModFix/>
          </a:blip>
          <a:srcRect b="0" l="76704" r="0" t="0"/>
          <a:stretch/>
        </p:blipFill>
        <p:spPr>
          <a:xfrm>
            <a:off x="5014892" y="2112329"/>
            <a:ext cx="464126" cy="4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7"/>
          <p:cNvSpPr/>
          <p:nvPr/>
        </p:nvSpPr>
        <p:spPr>
          <a:xfrm>
            <a:off x="1340425" y="2031450"/>
            <a:ext cx="6411300" cy="10851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7"/>
          <p:cNvSpPr txBox="1"/>
          <p:nvPr/>
        </p:nvSpPr>
        <p:spPr>
          <a:xfrm>
            <a:off x="1407250" y="2143720"/>
            <a:ext cx="66714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Why do we want to explore all the modes of           ?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it">
                <a:solidFill>
                  <a:schemeClr val="dk1"/>
                </a:solidFill>
              </a:rPr>
              <a:t>To compute ensemble averages through time averages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it">
                <a:solidFill>
                  <a:schemeClr val="dk1"/>
                </a:solidFill>
              </a:rPr>
              <a:t>To study the transition mechanism itself! (e.g. how does a protein fold?)</a:t>
            </a:r>
            <a:endParaRPr/>
          </a:p>
        </p:txBody>
      </p:sp>
      <p:pic>
        <p:nvPicPr>
          <p:cNvPr id="350" name="Google Shape;350;p27" title="{&quot;red&quot;:0,&quot;green&quot;:0,&quot;blue&quot;:0,&quot;origURL&quot;:&quot;https://saxarona.github.io/mathjax-viewer/?input=%20%5Clangle%20O%20%5Crangle%20%3D%20%5Cint%20d%5CGamma%20O(%5CGamma)%20%5Cmathcal%7BP%7D(%5CGamma)%20#0&quot;,&quot;size&quot;:15,&quot;width&quot;:535.488188976378,&quot;height&quot;:32.71653543307087}"/>
          <p:cNvPicPr preferRelativeResize="0"/>
          <p:nvPr/>
        </p:nvPicPr>
        <p:blipFill rotWithShape="1">
          <a:blip r:embed="rId3">
            <a:alphaModFix/>
          </a:blip>
          <a:srcRect b="0" l="76704" r="0" t="0"/>
          <a:stretch/>
        </p:blipFill>
        <p:spPr>
          <a:xfrm>
            <a:off x="2273809" y="1305800"/>
            <a:ext cx="464126" cy="4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7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Sum up so far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7"/>
          <p:cNvSpPr txBox="1"/>
          <p:nvPr/>
        </p:nvSpPr>
        <p:spPr>
          <a:xfrm>
            <a:off x="468000" y="939525"/>
            <a:ext cx="811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We want to sample a complex, high-dimensional target distribution            (e.g. Boltzmann) </a:t>
            </a:r>
            <a:r>
              <a:rPr lang="it">
                <a:solidFill>
                  <a:schemeClr val="dk1"/>
                </a:solidFill>
              </a:rPr>
              <a:t>   </a:t>
            </a:r>
            <a:endParaRPr/>
          </a:p>
        </p:txBody>
      </p:sp>
      <p:pic>
        <p:nvPicPr>
          <p:cNvPr id="354" name="Google Shape;354;p27" title="{&quot;red&quot;:0,&quot;green&quot;:0,&quot;blue&quot;:0,&quot;origURL&quot;:&quot;https://saxarona.github.io/mathjax-viewer/?input=%20%5Clangle%20O%20%5Crangle%20%3D%20%5Cint%20d%5CGamma%20O(%5CGamma)%20%5Cmathcal%7BP%7D(%5CGamma)%20#0&quot;,&quot;size&quot;:15,&quot;width&quot;:535.488188976378,&quot;height&quot;:32.71653543307087}"/>
          <p:cNvPicPr preferRelativeResize="0"/>
          <p:nvPr/>
        </p:nvPicPr>
        <p:blipFill rotWithShape="1">
          <a:blip r:embed="rId3">
            <a:alphaModFix/>
          </a:blip>
          <a:srcRect b="0" l="76704" r="0" t="0"/>
          <a:stretch/>
        </p:blipFill>
        <p:spPr>
          <a:xfrm>
            <a:off x="6291234" y="905600"/>
            <a:ext cx="464126" cy="4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7"/>
          <p:cNvSpPr txBox="1"/>
          <p:nvPr/>
        </p:nvSpPr>
        <p:spPr>
          <a:xfrm>
            <a:off x="468000" y="1339725"/>
            <a:ext cx="8119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In many cases,            is multimodal and the modes are separated by low-probability regions: sampling it through a dynamics takes </a:t>
            </a:r>
            <a:r>
              <a:rPr b="1" lang="it">
                <a:solidFill>
                  <a:schemeClr val="dk1"/>
                </a:solidFill>
              </a:rPr>
              <a:t>long simulation times </a:t>
            </a:r>
            <a:endParaRPr b="1"/>
          </a:p>
        </p:txBody>
      </p:sp>
      <p:sp>
        <p:nvSpPr>
          <p:cNvPr id="356" name="Google Shape;356;p27"/>
          <p:cNvSpPr txBox="1"/>
          <p:nvPr/>
        </p:nvSpPr>
        <p:spPr>
          <a:xfrm>
            <a:off x="468000" y="3247150"/>
            <a:ext cx="84585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We suppose to now a “good” CV that behaves as a reaction coordinate (a variable that characterizes transitions between metastable states)</a:t>
            </a:r>
            <a:endParaRPr b="1"/>
          </a:p>
        </p:txBody>
      </p:sp>
      <p:sp>
        <p:nvSpPr>
          <p:cNvPr id="357" name="Google Shape;357;p27"/>
          <p:cNvSpPr txBox="1"/>
          <p:nvPr/>
        </p:nvSpPr>
        <p:spPr>
          <a:xfrm>
            <a:off x="956725" y="4089250"/>
            <a:ext cx="77688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Assumption: </a:t>
            </a:r>
            <a:r>
              <a:rPr lang="it">
                <a:solidFill>
                  <a:schemeClr val="dk1"/>
                </a:solidFill>
              </a:rPr>
              <a:t>the CV is able to capture in a high-dimensional </a:t>
            </a:r>
            <a:r>
              <a:rPr lang="it">
                <a:solidFill>
                  <a:schemeClr val="dk1"/>
                </a:solidFill>
              </a:rPr>
              <a:t>space</a:t>
            </a:r>
            <a:r>
              <a:rPr lang="it">
                <a:solidFill>
                  <a:schemeClr val="dk1"/>
                </a:solidFill>
              </a:rPr>
              <a:t> (e.g. 1D) the transition between two high-dimensional modes of  </a:t>
            </a:r>
            <a:endParaRPr/>
          </a:p>
        </p:txBody>
      </p:sp>
      <p:cxnSp>
        <p:nvCxnSpPr>
          <p:cNvPr id="358" name="Google Shape;358;p27"/>
          <p:cNvCxnSpPr/>
          <p:nvPr/>
        </p:nvCxnSpPr>
        <p:spPr>
          <a:xfrm>
            <a:off x="1581650" y="3808275"/>
            <a:ext cx="0" cy="36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8" title="{&quot;red&quot;:0,&quot;green&quot;:0,&quot;blue&quot;:0,&quot;origURL&quot;:&quot;https://saxarona.github.io/mathjax-viewer/?input=%20%5Clangle%20O%20%5Crangle%20%3D%20%5Cint%20d%5CGamma%20O(%5CGamma)%20%5Cmathcal%7BP%7D(%5CGamma)%20#0&quot;,&quot;size&quot;:15,&quot;width&quot;:535.488188976378,&quot;height&quot;:32.71653543307087}"/>
          <p:cNvPicPr preferRelativeResize="0"/>
          <p:nvPr/>
        </p:nvPicPr>
        <p:blipFill rotWithShape="1">
          <a:blip r:embed="rId3">
            <a:alphaModFix/>
          </a:blip>
          <a:srcRect b="0" l="76704" r="0" t="0"/>
          <a:stretch/>
        </p:blipFill>
        <p:spPr>
          <a:xfrm>
            <a:off x="7494196" y="1339617"/>
            <a:ext cx="464126" cy="4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8"/>
          <p:cNvSpPr/>
          <p:nvPr/>
        </p:nvSpPr>
        <p:spPr>
          <a:xfrm>
            <a:off x="1137600" y="1358458"/>
            <a:ext cx="6911400" cy="654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8"/>
          <p:cNvSpPr txBox="1"/>
          <p:nvPr/>
        </p:nvSpPr>
        <p:spPr>
          <a:xfrm>
            <a:off x="311705" y="873734"/>
            <a:ext cx="63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Can we use our CV to speed up the exploration of            ?     </a:t>
            </a:r>
            <a:endParaRPr/>
          </a:p>
        </p:txBody>
      </p:sp>
      <p:pic>
        <p:nvPicPr>
          <p:cNvPr id="366" name="Google Shape;366;p28" title="{&quot;red&quot;:0,&quot;green&quot;:0,&quot;blue&quot;:0,&quot;origURL&quot;:&quot;https://saxarona.github.io/mathjax-viewer/?input=%20%5Clangle%20O%20%5Crangle%20%3D%20%5Cint%20d%5CGamma%20O(%5CGamma)%20%5Cmathcal%7BP%7D(%5CGamma)%20#0&quot;,&quot;size&quot;:15,&quot;width&quot;:535.488188976378,&quot;height&quot;:32.71653543307087}"/>
          <p:cNvPicPr preferRelativeResize="0"/>
          <p:nvPr/>
        </p:nvPicPr>
        <p:blipFill rotWithShape="1">
          <a:blip r:embed="rId3">
            <a:alphaModFix/>
          </a:blip>
          <a:srcRect b="0" l="76704" r="0" t="0"/>
          <a:stretch/>
        </p:blipFill>
        <p:spPr>
          <a:xfrm>
            <a:off x="4877480" y="839813"/>
            <a:ext cx="464126" cy="4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8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Enhanced sampling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68" name="Google Shape;368;p28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8"/>
          <p:cNvSpPr txBox="1"/>
          <p:nvPr/>
        </p:nvSpPr>
        <p:spPr>
          <a:xfrm>
            <a:off x="1236300" y="1360783"/>
            <a:ext cx="66714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Enhanced sampling</a:t>
            </a:r>
            <a:r>
              <a:rPr lang="it">
                <a:solidFill>
                  <a:schemeClr val="dk1"/>
                </a:solidFill>
              </a:rPr>
              <a:t> techniques aim at accelerating the “ergodic sampling” of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by simulating rare transitions more frequently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0" name="Google Shape;370;p28"/>
          <p:cNvSpPr txBox="1"/>
          <p:nvPr/>
        </p:nvSpPr>
        <p:spPr>
          <a:xfrm>
            <a:off x="358280" y="2063959"/>
            <a:ext cx="6302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We will focus on two </a:t>
            </a:r>
            <a:r>
              <a:rPr b="1" lang="it">
                <a:solidFill>
                  <a:schemeClr val="dk1"/>
                </a:solidFill>
              </a:rPr>
              <a:t>CV-based enhanced sampling methods:</a:t>
            </a:r>
            <a:endParaRPr b="1">
              <a:solidFill>
                <a:schemeClr val="dk1"/>
              </a:solidFill>
            </a:endParaRPr>
          </a:p>
          <a:p>
            <a:pPr indent="-319301" lvl="1" marL="774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it">
                <a:solidFill>
                  <a:schemeClr val="dk1"/>
                </a:solidFill>
              </a:rPr>
              <a:t>Adaptive umbrella sampling</a:t>
            </a:r>
            <a:endParaRPr>
              <a:solidFill>
                <a:schemeClr val="dk1"/>
              </a:solidFill>
            </a:endParaRPr>
          </a:p>
          <a:p>
            <a:pPr indent="-319301" lvl="1" marL="774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it">
                <a:solidFill>
                  <a:schemeClr val="dk1"/>
                </a:solidFill>
              </a:rPr>
              <a:t>Metadynamics</a:t>
            </a:r>
            <a:r>
              <a:rPr lang="it">
                <a:solidFill>
                  <a:schemeClr val="dk1"/>
                </a:solidFill>
              </a:rPr>
              <a:t>   </a:t>
            </a:r>
            <a:endParaRPr/>
          </a:p>
        </p:txBody>
      </p:sp>
      <p:sp>
        <p:nvSpPr>
          <p:cNvPr id="371" name="Google Shape;371;p28"/>
          <p:cNvSpPr txBox="1"/>
          <p:nvPr/>
        </p:nvSpPr>
        <p:spPr>
          <a:xfrm>
            <a:off x="358275" y="3074283"/>
            <a:ext cx="74088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…but the class of methods is much larger:</a:t>
            </a:r>
            <a:endParaRPr b="1">
              <a:solidFill>
                <a:schemeClr val="dk1"/>
              </a:solidFill>
            </a:endParaRPr>
          </a:p>
          <a:p>
            <a:pPr indent="-319301" lvl="1" marL="774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it">
                <a:solidFill>
                  <a:schemeClr val="dk1"/>
                </a:solidFill>
              </a:rPr>
              <a:t>Steered MD</a:t>
            </a:r>
            <a:endParaRPr>
              <a:solidFill>
                <a:schemeClr val="dk1"/>
              </a:solidFill>
            </a:endParaRPr>
          </a:p>
          <a:p>
            <a:pPr indent="-319301" lvl="1" marL="774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it">
                <a:solidFill>
                  <a:schemeClr val="dk1"/>
                </a:solidFill>
              </a:rPr>
              <a:t>Replica-Exchange</a:t>
            </a:r>
            <a:endParaRPr>
              <a:solidFill>
                <a:schemeClr val="dk1"/>
              </a:solidFill>
            </a:endParaRPr>
          </a:p>
          <a:p>
            <a:pPr indent="-319301" lvl="1" marL="774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it">
                <a:solidFill>
                  <a:schemeClr val="dk1"/>
                </a:solidFill>
              </a:rPr>
              <a:t>Weighted-histogram analysis method (WHAM)</a:t>
            </a:r>
            <a:endParaRPr>
              <a:solidFill>
                <a:schemeClr val="dk1"/>
              </a:solidFill>
            </a:endParaRPr>
          </a:p>
          <a:p>
            <a:pPr indent="-319301" lvl="1" marL="774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it">
                <a:solidFill>
                  <a:schemeClr val="dk1"/>
                </a:solidFill>
              </a:rPr>
              <a:t>Transition path sampling</a:t>
            </a:r>
            <a:endParaRPr>
              <a:solidFill>
                <a:schemeClr val="dk1"/>
              </a:solidFill>
            </a:endParaRPr>
          </a:p>
          <a:p>
            <a:pPr indent="-319301" lvl="1" marL="774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it">
                <a:solidFill>
                  <a:schemeClr val="dk1"/>
                </a:solidFill>
              </a:rPr>
              <a:t>….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9"/>
          <p:cNvSpPr/>
          <p:nvPr/>
        </p:nvSpPr>
        <p:spPr>
          <a:xfrm>
            <a:off x="883150" y="2344563"/>
            <a:ext cx="7397700" cy="1035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9"/>
          <p:cNvSpPr txBox="1"/>
          <p:nvPr/>
        </p:nvSpPr>
        <p:spPr>
          <a:xfrm>
            <a:off x="311698" y="936389"/>
            <a:ext cx="856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First, let’s show the “re-</a:t>
            </a:r>
            <a:r>
              <a:rPr lang="it">
                <a:solidFill>
                  <a:schemeClr val="dk1"/>
                </a:solidFill>
              </a:rPr>
              <a:t>weigthing</a:t>
            </a:r>
            <a:r>
              <a:rPr lang="it">
                <a:solidFill>
                  <a:schemeClr val="dk1"/>
                </a:solidFill>
              </a:rPr>
              <a:t> trick” applied to probability distribution / free energy of the CV: </a:t>
            </a:r>
            <a:endParaRPr/>
          </a:p>
        </p:txBody>
      </p:sp>
      <p:sp>
        <p:nvSpPr>
          <p:cNvPr id="378" name="Google Shape;378;p29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Umbrella sampling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79" name="Google Shape;379;p29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9"/>
          <p:cNvSpPr txBox="1"/>
          <p:nvPr/>
        </p:nvSpPr>
        <p:spPr>
          <a:xfrm>
            <a:off x="311698" y="1470863"/>
            <a:ext cx="8563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it">
                <a:solidFill>
                  <a:schemeClr val="dk1"/>
                </a:solidFill>
              </a:rPr>
              <a:t>Idea: </a:t>
            </a:r>
            <a:r>
              <a:rPr lang="it">
                <a:solidFill>
                  <a:schemeClr val="dk1"/>
                </a:solidFill>
              </a:rPr>
              <a:t>simulate the system in a </a:t>
            </a:r>
            <a:r>
              <a:rPr b="1" lang="it">
                <a:solidFill>
                  <a:schemeClr val="dk1"/>
                </a:solidFill>
              </a:rPr>
              <a:t>biased potential </a:t>
            </a:r>
            <a:r>
              <a:rPr lang="it">
                <a:solidFill>
                  <a:schemeClr val="dk1"/>
                </a:solidFill>
              </a:rPr>
              <a:t>in which the barrier is lower (=more frequent transitions), then reweight the sampled distribution to get the </a:t>
            </a:r>
            <a:r>
              <a:rPr b="1" lang="it">
                <a:solidFill>
                  <a:schemeClr val="dk1"/>
                </a:solidFill>
              </a:rPr>
              <a:t>unbiased</a:t>
            </a:r>
            <a:r>
              <a:rPr lang="it">
                <a:solidFill>
                  <a:schemeClr val="dk1"/>
                </a:solidFill>
              </a:rPr>
              <a:t> </a:t>
            </a:r>
            <a:r>
              <a:rPr b="1" lang="it">
                <a:solidFill>
                  <a:schemeClr val="dk1"/>
                </a:solidFill>
              </a:rPr>
              <a:t>distribution</a:t>
            </a:r>
            <a:endParaRPr b="1"/>
          </a:p>
        </p:txBody>
      </p:sp>
      <p:sp>
        <p:nvSpPr>
          <p:cNvPr id="381" name="Google Shape;381;p29"/>
          <p:cNvSpPr txBox="1"/>
          <p:nvPr/>
        </p:nvSpPr>
        <p:spPr>
          <a:xfrm>
            <a:off x="904317" y="2348013"/>
            <a:ext cx="75459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chemeClr val="dk1"/>
                </a:solidFill>
              </a:rPr>
              <a:t>Key assumption: </a:t>
            </a:r>
            <a:r>
              <a:rPr lang="it">
                <a:solidFill>
                  <a:schemeClr val="dk1"/>
                </a:solidFill>
              </a:rPr>
              <a:t>add to the potential energy           a biased potential that depends on the state of the system through the CV          :</a:t>
            </a:r>
            <a:endParaRPr/>
          </a:p>
        </p:txBody>
      </p:sp>
      <p:pic>
        <p:nvPicPr>
          <p:cNvPr descr="{&quot;id&quot;:&quot;29&quot;,&quot;font&quot;:{&quot;color&quot;:&quot;#000000&quot;,&quot;family&quot;:&quot;Arial&quot;,&quot;size&quot;:13},&quot;code&quot;:&quot;$$\\mathcal{S}\\left(\\mathbf{q}\\right)$$&quot;,&quot;backgroundColor&quot;:&quot;#FFFFFF&quot;,&quot;backgroundColorModified&quot;:false,&quot;fontColorModified&quot;:false,&quot;type&quot;:&quot;$$&quot;,&quot;aid&quot;:null,&quot;ts&quot;:1788970657191,&quot;cs&quot;:&quot;HdPBEqD4Lpks4xo8xMoVew==&quot;,&quot;size&quot;:{&quot;width&quot;:42.5,&quot;height&quot;:20.5}}" id="382" name="Google Shape;3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8110" y="2712413"/>
            <a:ext cx="404813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&quot;:&quot;#FFFFFF&quot;,&quot;id&quot;:&quot;32&quot;,&quot;code&quot;:&quot;$$U\\left(\\mathbf{q}\\right)$$&quot;,&quot;aid&quot;:null,&quot;font&quot;:{&quot;color&quot;:&quot;#000000&quot;,&quot;family&quot;:&quot;Arial&quot;,&quot;size&quot;:13},&quot;backgroundColorModified&quot;:false,&quot;ts&quot;:1789027089735,&quot;cs&quot;:&quot;IvWc4ORL/t1Ctla73ZGUfw==&quot;,&quot;size&quot;:{&quot;width&quot;:44.166666666666664,&quot;height&quot;:20.5}}" id="383" name="Google Shape;38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4917" y="2466155"/>
            <a:ext cx="420688" cy="195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32&quot;,&quot;font&quot;:{&quot;family&quot;:&quot;Arial&quot;,&quot;color&quot;:&quot;#000000&quot;,&quot;size&quot;:13},&quot;backgroundColorModified&quot;:false,&quot;fontColorModified&quot;:false,&quot;type&quot;:&quot;$$&quot;,&quot;aid&quot;:null,&quot;code&quot;:&quot;$$U\\left(\\mathbf{q}\\right)\\,\\mapsto\\,U\\left(\\mathbf{q}\\right)\\,+\\,B\\left(\\mathcal{S\\left(\\mathbf{q}\\right)}\\right)$$&quot;,&quot;ts&quot;:1789027167134,&quot;cs&quot;:&quot;8Ke1KhkA43BY4SnzJ9GQGQ==&quot;,&quot;size&quot;:{&quot;width&quot;:240.60000000000002,&quot;height&quot;:20.399999999999984}}" id="384" name="Google Shape;38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47442" y="3072110"/>
            <a:ext cx="2291715" cy="19431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9"/>
          <p:cNvSpPr txBox="1"/>
          <p:nvPr/>
        </p:nvSpPr>
        <p:spPr>
          <a:xfrm>
            <a:off x="311700" y="3623725"/>
            <a:ext cx="705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As a consequence the sampled distribution changes as well:</a:t>
            </a:r>
            <a:endParaRPr/>
          </a:p>
        </p:txBody>
      </p:sp>
      <p:pic>
        <p:nvPicPr>
          <p:cNvPr descr="{&quot;aid&quot;:null,&quot;code&quot;:&quot;$$\\mathcal{P\\left(\\mathbf{q}\\right)\\,=\\,\\frac{1}{Z}}\\exp\\Big(-\\beta\\,U\\left(\\mathbf{q}\\right)\\Big)\\mapsto\\mathcal{P_{B}\\left(\\mathbf{q}\\right)\\,=\\,\\frac{1}{Z_{B}}}\\exp\\Big(-\\beta\\,\\left(U\\left(\\mathbf{q}\\right)\\,+\\,B\\left(\\mathcal{S\\left(\\mathbf{q}\\right)}\\right)\\right)\\Big)$$&quot;,&quot;backgroundColor&quot;:&quot;#FFFFFF&quot;,&quot;fontColorModified&quot;:false,&quot;type&quot;:&quot;$$&quot;,&quot;font&quot;:{&quot;size&quot;:12.5,&quot;family&quot;:&quot;Arial&quot;,&quot;color&quot;:&quot;#000000&quot;},&quot;backgroundColorModified&quot;:false,&quot;id&quot;:&quot;33&quot;,&quot;ts&quot;:1789034824807,&quot;cs&quot;:&quot;jrBUMByCzHjJiP/PNsk4Hg==&quot;,&quot;size&quot;:{&quot;width&quot;:660,&quot;height&quot;:43}}" id="386" name="Google Shape;386;p29"/>
          <p:cNvPicPr preferRelativeResize="0"/>
          <p:nvPr/>
        </p:nvPicPr>
        <p:blipFill rotWithShape="1">
          <a:blip r:embed="rId6">
            <a:alphaModFix/>
          </a:blip>
          <a:srcRect b="0" l="41145" r="0" t="0"/>
          <a:stretch/>
        </p:blipFill>
        <p:spPr>
          <a:xfrm>
            <a:off x="4481986" y="4145625"/>
            <a:ext cx="369982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aid&quot;:null,&quot;font&quot;:{&quot;color&quot;:&quot;#000000&quot;,&quot;family&quot;:&quot;Arial&quot;,&quot;size&quot;:12.5},&quot;type&quot;:&quot;$$&quot;,&quot;backgroundColor&quot;:&quot;#FFFFFF&quot;,&quot;id&quot;:&quot;33&quot;,&quot;fontColorModified&quot;:false,&quot;code&quot;:&quot;$$\\mathcal{P\\left(\\mathbf{q}\\right)\\,=\\,\\frac{1}{Z}}\\exp\\Big(-\\beta\\,U\\left(\\mathbf{q}\\right)\\Big)\\mapsto\\mathcal{P_{B}\\left(\\mathbf{q}\\right)\\,=\\,\\frac{1}{Z_{B}}}\\exp\\Big(-\\beta\\,\\left(U\\left(\\mathbf{q}\\right)\\,+\\,B\\left(\\mathbb{\\mathbf{q}}\\right)\\right)\\Big)$$&quot;,&quot;ts&quot;:1789027399152,&quot;cs&quot;:&quot;9LBYZhlJ9a9BTGQj2jizUg==&quot;,&quot;size&quot;:{&quot;width&quot;:629.0000000000001,&quot;height&quot;:43}}" id="387" name="Google Shape;387;p29"/>
          <p:cNvPicPr preferRelativeResize="0"/>
          <p:nvPr/>
        </p:nvPicPr>
        <p:blipFill rotWithShape="1">
          <a:blip r:embed="rId7">
            <a:alphaModFix/>
          </a:blip>
          <a:srcRect b="0" l="0" r="60864" t="0"/>
          <a:stretch/>
        </p:blipFill>
        <p:spPr>
          <a:xfrm>
            <a:off x="1172739" y="4145625"/>
            <a:ext cx="2344748" cy="40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8" name="Google Shape;388;p29"/>
          <p:cNvCxnSpPr/>
          <p:nvPr/>
        </p:nvCxnSpPr>
        <p:spPr>
          <a:xfrm>
            <a:off x="3703338" y="4338200"/>
            <a:ext cx="59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/>
          <p:nvPr/>
        </p:nvSpPr>
        <p:spPr>
          <a:xfrm>
            <a:off x="1920900" y="1652822"/>
            <a:ext cx="1238700" cy="83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0"/>
          <p:cNvSpPr/>
          <p:nvPr/>
        </p:nvSpPr>
        <p:spPr>
          <a:xfrm>
            <a:off x="4125450" y="1687372"/>
            <a:ext cx="1238700" cy="83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0"/>
          <p:cNvSpPr txBox="1"/>
          <p:nvPr/>
        </p:nvSpPr>
        <p:spPr>
          <a:xfrm>
            <a:off x="311698" y="936389"/>
            <a:ext cx="8563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First, let’s show the “re-weighting trick” of umbrella sampling applied to the probability distribution / free energy of the CV: </a:t>
            </a:r>
            <a:endParaRPr/>
          </a:p>
        </p:txBody>
      </p:sp>
      <p:sp>
        <p:nvSpPr>
          <p:cNvPr id="396" name="Google Shape;396;p30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Umbrella sampling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97" name="Google Shape;397;p30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8" name="Google Shape;398;p30"/>
          <p:cNvCxnSpPr/>
          <p:nvPr/>
        </p:nvCxnSpPr>
        <p:spPr>
          <a:xfrm>
            <a:off x="3346125" y="2106322"/>
            <a:ext cx="592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99" name="Google Shape;399;p30"/>
          <p:cNvSpPr txBox="1"/>
          <p:nvPr/>
        </p:nvSpPr>
        <p:spPr>
          <a:xfrm>
            <a:off x="311700" y="1906222"/>
            <a:ext cx="113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Goal: </a:t>
            </a:r>
            <a:endParaRPr/>
          </a:p>
        </p:txBody>
      </p:sp>
      <p:pic>
        <p:nvPicPr>
          <p:cNvPr descr="{&quot;backgroundColorModified&quot;:false,&quot;font&quot;:{&quot;size&quot;:14,&quot;family&quot;:&quot;Arial&quot;,&quot;color&quot;:&quot;#000000&quot;},&quot;id&quot;:&quot;34&quot;,&quot;backgroundColor&quot;:&quot;#FFFFFF&quot;,&quot;type&quot;:&quot;$$&quot;,&quot;aid&quot;:null,&quot;fontColorModified&quot;:false,&quot;code&quot;:&quot;$$\\mathcal{P_{B}\\left(\\mathbf{\\mathcal{S}}\\right)}$$&quot;,&quot;ts&quot;:1789030793967,&quot;cs&quot;:&quot;OX1a7dB1/Az53DBFDlyP7A==&quot;,&quot;size&quot;:{&quot;width&quot;:60.04660078740158,&quot;height&quot;:22.211595275590568}}" id="400" name="Google Shape;40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8200" y="1786163"/>
            <a:ext cx="571944" cy="211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aid&quot;:null,&quot;id&quot;:&quot;34&quot;,&quot;backgroundColor&quot;:&quot;#FFFFFF&quot;,&quot;type&quot;:&quot;$$&quot;,&quot;fontColorModified&quot;:false,&quot;code&quot;:&quot;$$F_{\\mathcal{B}}\\left(\\mathbf{\\mathcal{S}}\\right)$$&quot;,&quot;font&quot;:{&quot;family&quot;:&quot;Arial&quot;,&quot;size&quot;:14,&quot;color&quot;:&quot;#000000&quot;},&quot;ts&quot;:1789030787712,&quot;cs&quot;:&quot;IE0oBtwfLqvzm8OKDwUY7Q==&quot;,&quot;size&quot;:{&quot;width&quot;:58.728963779527554,&quot;height&quot;:22.21159527559053}}" id="401" name="Google Shape;40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8206" y="2161745"/>
            <a:ext cx="559393" cy="2115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4&quot;,&quot;code&quot;:&quot;$$\\mathcal{P\\left(\\mathbf{\\mathcal{S}}\\right)}$$&quot;,&quot;backgroundColorModified&quot;:false,&quot;backgroundColor&quot;:&quot;#FFFFFF&quot;,&quot;font&quot;:{&quot;size&quot;:14,&quot;family&quot;:&quot;Arial&quot;,&quot;color&quot;:&quot;#000000&quot;},&quot;type&quot;:&quot;$$&quot;,&quot;fontColorModified&quot;:false,&quot;aid&quot;:null,&quot;ts&quot;:1789030826684,&quot;cs&quot;:&quot;flunEYpz8TwGQUX2W/QdTA==&quot;,&quot;size&quot;:{&quot;width&quot;:48.333333333333336,&quot;height&quot;:22}}" id="402" name="Google Shape;40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18117" y="1818897"/>
            <a:ext cx="4603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font&quot;:{&quot;color&quot;:&quot;#000000&quot;,&quot;size&quot;:14,&quot;family&quot;:&quot;Arial&quot;},&quot;backgroundColor&quot;:&quot;#FFFFFF&quot;,&quot;aid&quot;:null,&quot;backgroundColorModified&quot;:false,&quot;code&quot;:&quot;$$F\\left(\\mathbf{\\mathcal{S}}\\right)$$&quot;,&quot;fontColorModified&quot;:false,&quot;id&quot;:&quot;34&quot;,&quot;ts&quot;:1789030839790,&quot;cs&quot;:&quot;vFLoZ6d7f8V/s5gAjqiROQ==&quot;,&quot;size&quot;:{&quot;width&quot;:48.5,&quot;height&quot;:22}}" id="403" name="Google Shape;40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1100" y="2194479"/>
            <a:ext cx="461963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0"/>
          <p:cNvSpPr txBox="1"/>
          <p:nvPr/>
        </p:nvSpPr>
        <p:spPr>
          <a:xfrm>
            <a:off x="1511100" y="2497659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98C087"/>
                </a:solidFill>
              </a:rPr>
              <a:t>from biased simulation</a:t>
            </a:r>
            <a:endParaRPr b="1">
              <a:solidFill>
                <a:srgbClr val="98C087"/>
              </a:solidFill>
            </a:endParaRPr>
          </a:p>
        </p:txBody>
      </p:sp>
      <p:sp>
        <p:nvSpPr>
          <p:cNvPr id="405" name="Google Shape;405;p30"/>
          <p:cNvSpPr txBox="1"/>
          <p:nvPr/>
        </p:nvSpPr>
        <p:spPr>
          <a:xfrm>
            <a:off x="3827050" y="2497659"/>
            <a:ext cx="1882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98C087"/>
                </a:solidFill>
              </a:rPr>
              <a:t>un</a:t>
            </a:r>
            <a:r>
              <a:rPr b="1" lang="it">
                <a:solidFill>
                  <a:srgbClr val="98C087"/>
                </a:solidFill>
              </a:rPr>
              <a:t>biased quantities</a:t>
            </a:r>
            <a:endParaRPr b="1">
              <a:solidFill>
                <a:srgbClr val="98C087"/>
              </a:solidFill>
            </a:endParaRPr>
          </a:p>
        </p:txBody>
      </p:sp>
      <p:sp>
        <p:nvSpPr>
          <p:cNvPr id="406" name="Google Shape;406;p30"/>
          <p:cNvSpPr txBox="1"/>
          <p:nvPr/>
        </p:nvSpPr>
        <p:spPr>
          <a:xfrm>
            <a:off x="311700" y="3229400"/>
            <a:ext cx="381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Definition of             : </a:t>
            </a:r>
            <a:endParaRPr/>
          </a:p>
        </p:txBody>
      </p:sp>
      <p:pic>
        <p:nvPicPr>
          <p:cNvPr descr="{&quot;id&quot;:&quot;34&quot;,&quot;code&quot;:&quot;$$\\mathcal{P\\left(\\mathbf{\\mathcal{S}}\\right)}$$&quot;,&quot;backgroundColorModified&quot;:false,&quot;backgroundColor&quot;:&quot;#FFFFFF&quot;,&quot;font&quot;:{&quot;size&quot;:14,&quot;family&quot;:&quot;Arial&quot;,&quot;color&quot;:&quot;#000000&quot;},&quot;type&quot;:&quot;$$&quot;,&quot;fontColorModified&quot;:false,&quot;aid&quot;:null,&quot;ts&quot;:1789030826684,&quot;cs&quot;:&quot;flunEYpz8TwGQUX2W/QdTA==&quot;,&quot;size&quot;:{&quot;width&quot;:48.333333333333336,&quot;height&quot;:22}}" id="407" name="Google Shape;40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0892" y="3324722"/>
            <a:ext cx="4603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code&quot;:&quot;$$\\mathcal{P\\left(S=s\\right)=\\int_{}^{}\\text{d}\\mathbf{q}\\,\\,\\delta\\Big(S\\left(\\mathbf{q}\\right)-s\\Big)\\,\\mathcal{P\\left(\\mathbf{q}\\right)}}$$&quot;,&quot;fontColorModified&quot;:false,&quot;aid&quot;:null,&quot;type&quot;:&quot;$$&quot;,&quot;id&quot;:&quot;28&quot;,&quot;font&quot;:{&quot;color&quot;:&quot;#000000&quot;,&quot;family&quot;:&quot;Arial&quot;,&quot;size&quot;:12},&quot;backgroundColor&quot;:&quot;#FFFFFF&quot;,&quot;ts&quot;:1788964786203,&quot;cs&quot;:&quot;VXKlSKHsOGGOHFS+vgvcuw==&quot;,&quot;size&quot;:{&quot;width&quot;:298,&quot;height&quot;:41.75}}" id="408" name="Google Shape;408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8601" y="3219367"/>
            <a:ext cx="2999999" cy="420282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0"/>
          <p:cNvSpPr txBox="1"/>
          <p:nvPr/>
        </p:nvSpPr>
        <p:spPr>
          <a:xfrm>
            <a:off x="311700" y="3768025"/>
            <a:ext cx="381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Similarly, for             </a:t>
            </a:r>
            <a:r>
              <a:rPr lang="it">
                <a:solidFill>
                  <a:schemeClr val="dk1"/>
                </a:solidFill>
              </a:rPr>
              <a:t>:  </a:t>
            </a:r>
            <a:endParaRPr/>
          </a:p>
        </p:txBody>
      </p:sp>
      <p:pic>
        <p:nvPicPr>
          <p:cNvPr descr="{&quot;backgroundColorModified&quot;:false,&quot;aid&quot;:null,&quot;code&quot;:&quot;$$\\mathcal{P_{B}\\left(S=s\\right)=\\int_{}^{}\\text{d}\\mathbf{q}\\,\\,\\delta\\Big(S\\left(\\mathbf{q}\\right)-s\\Big)\\,\\mathcal{P_{B}\\left(\\mathbf{q}\\right)}}$$&quot;,&quot;id&quot;:&quot;28&quot;,&quot;backgroundColor&quot;:&quot;#FFFFFF&quot;,&quot;font&quot;:{&quot;family&quot;:&quot;Arial&quot;,&quot;size&quot;:12.5,&quot;color&quot;:&quot;#000000&quot;},&quot;type&quot;:&quot;$$&quot;,&quot;ts&quot;:1789034273081,&quot;cs&quot;:&quot;iI9XYP95vz+xp2ClPmj21Q==&quot;,&quot;size&quot;:{&quot;width&quot;:330.5,&quot;height&quot;:43.5}}" id="410" name="Google Shape;410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88601" y="3770705"/>
            <a:ext cx="3148013" cy="414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font&quot;:{&quot;size&quot;:14,&quot;family&quot;:&quot;Arial&quot;,&quot;color&quot;:&quot;#000000&quot;},&quot;id&quot;:&quot;34&quot;,&quot;backgroundColor&quot;:&quot;#FFFFFF&quot;,&quot;type&quot;:&quot;$$&quot;,&quot;aid&quot;:null,&quot;fontColorModified&quot;:false,&quot;code&quot;:&quot;$$\\mathcal{P_{B}\\left(\\mathbf{\\mathcal{S}}\\right)}$$&quot;,&quot;ts&quot;:1789030793967,&quot;cs&quot;:&quot;OX1a7dB1/Az53DBFDlyP7A==&quot;,&quot;size&quot;:{&quot;width&quot;:60.04660078740158,&quot;height&quot;:22.211595275590568}}" id="411" name="Google Shape;41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5113" y="3872272"/>
            <a:ext cx="571944" cy="211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2" name="Google Shape;412;p30"/>
          <p:cNvCxnSpPr>
            <a:stCxn id="410" idx="2"/>
          </p:cNvCxnSpPr>
          <p:nvPr/>
        </p:nvCxnSpPr>
        <p:spPr>
          <a:xfrm flipH="1">
            <a:off x="4459307" y="4185043"/>
            <a:ext cx="3300" cy="34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13" name="Google Shape;413;p30"/>
          <p:cNvSpPr txBox="1"/>
          <p:nvPr/>
        </p:nvSpPr>
        <p:spPr>
          <a:xfrm>
            <a:off x="3316357" y="4503584"/>
            <a:ext cx="24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</a:rPr>
              <a:t>Let’s try to connect the two!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1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Umbrella sampling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backgroundColorModified&quot;:false,&quot;aid&quot;:null,&quot;code&quot;:&quot;$$\\mathcal{P_{B}\\left(S=s\\right)=\\int_{}^{}\\text{d}\\mathbf{q}\\,\\,\\delta\\Big(S\\left(\\mathbf{q}\\right)-s\\Big)\\,\\mathcal{P_{B}\\left(\\mathbf{q}\\right)}}$$&quot;,&quot;id&quot;:&quot;28&quot;,&quot;backgroundColor&quot;:&quot;#FFFFFF&quot;,&quot;font&quot;:{&quot;family&quot;:&quot;Arial&quot;,&quot;size&quot;:12.5,&quot;color&quot;:&quot;#000000&quot;},&quot;type&quot;:&quot;$$&quot;,&quot;ts&quot;:1789034273081,&quot;cs&quot;:&quot;iI9XYP95vz+xp2ClPmj21Q==&quot;,&quot;size&quot;:{&quot;width&quot;:330.5,&quot;height&quot;:43.5}}" id="420" name="Google Shape;42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026" y="1111630"/>
            <a:ext cx="3148013" cy="414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mathcal{=\\int_{}^{}\\text{d}\\mathbf{q}\\,\\,\\delta\\Big(S\\left(\\mathbf{q}\\right)-s\\Big)}\\,\\frac{1}{\\mathcal{Z}_{\\mathcal{B}}}\\text{exp}\\Big(-\\beta\\Big(U\\left(\\mathbf{q}\\right)\\,+\\,B\\left(\\mathcal{S\\left(\\mathbf{q}\\right)}\\right)\\Big)\\Big)$$&quot;,&quot;fontColorModified&quot;:false,&quot;backgroundColor&quot;:&quot;#FFFFFF&quot;,&quot;backgroundColorModified&quot;:false,&quot;id&quot;:&quot;35&quot;,&quot;type&quot;:&quot;$$&quot;,&quot;font&quot;:{&quot;size&quot;:12.5,&quot;color&quot;:&quot;#000000&quot;,&quot;family&quot;:&quot;Arial&quot;},&quot;aid&quot;:null,&quot;ts&quot;:1789034775827,&quot;cs&quot;:&quot;1MSGiuiRShPDKXfUXoky+A==&quot;,&quot;size&quot;:{&quot;width&quot;:473.3333333333333,&quot;height&quot;:43.666666666666664}}" id="421" name="Google Shape;42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8738" y="1730285"/>
            <a:ext cx="4508500" cy="415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12.5,&quot;family&quot;:&quot;Arial&quot;,&quot;color&quot;:&quot;#000000&quot;},&quot;type&quot;:&quot;$$&quot;,&quot;backgroundColorModified&quot;:false,&quot;code&quot;:&quot;$$\\mathcal{=\\frac{1}{\\mathcal{Z}_{\\mathcal{B}}}\\int_{}^{}\\text{d}\\mathbf{q}\\,\\,\\delta\\Big(S\\left(\\mathbf{q}\\right)-s\\Big)}\\,\\text{exp}\\Big(-\\beta\\Big(U\\left(\\mathbf{q}\\right)\\,+\\,B\\left(\\mathcal{s}\\right)\\Big)\\Big)$$&quot;,&quot;backgroundColor&quot;:&quot;#FFFFFF&quot;,&quot;fontColorModified&quot;:false,&quot;aid&quot;:null,&quot;id&quot;:&quot;35&quot;,&quot;ts&quot;:1789034895753,&quot;cs&quot;:&quot;TjM+iBfBYJBST2a7jAIxpg==&quot;,&quot;size&quot;:{&quot;width&quot;:442.6666666666667,&quot;height&quot;:43.666666666666664}}" id="422" name="Google Shape;42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8738" y="2360454"/>
            <a:ext cx="4216400" cy="415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12.5,&quot;family&quot;:&quot;Arial&quot;,&quot;color&quot;:&quot;#000000&quot;},&quot;type&quot;:&quot;$$&quot;,&quot;backgroundColorModified&quot;:false,&quot;code&quot;:&quot;$$\\mathcal{=\\frac{1}{\\mathcal{Z}_{\\mathcal{B}}}\\int_{}^{}\\text{d}\\mathbf{q}\\,\\,\\delta\\Big(S\\left(\\mathbf{q}\\right)-s\\Big)}\\,\\text{exp}\\Big(-\\beta\\Big(U\\left(\\mathbf{q}\\right)\\,+\\,B\\left(\\mathcal{s}\\right)\\Big)\\Big)$$&quot;,&quot;backgroundColor&quot;:&quot;#FFFFFF&quot;,&quot;fontColorModified&quot;:false,&quot;aid&quot;:null,&quot;id&quot;:&quot;35&quot;,&quot;ts&quot;:1789034895753,&quot;cs&quot;:&quot;TjM+iBfBYJBST2a7jAIxpg==&quot;,&quot;size&quot;:{&quot;width&quot;:442.6666666666667,&quot;height&quot;:43.666666666666664}}" id="423" name="Google Shape;42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8738" y="3008954"/>
            <a:ext cx="4216400" cy="415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ColorModified&quot;:false,&quot;backgroundColor&quot;:&quot;#FFFFFF&quot;,&quot;font&quot;:{&quot;family&quot;:&quot;Arial&quot;,&quot;color&quot;:&quot;#000000&quot;,&quot;size&quot;:12.5},&quot;type&quot;:&quot;$$&quot;,&quot;id&quot;:&quot;35&quot;,&quot;code&quot;:&quot;$$\\mathcal{=\\frac{1}{\\mathcal{Z}_{\\mathcal{B}}}\\exp\\Big(-\\beta \\,B\\left(\\mathcal{s}\\right)\\Big)\\int_{}^{}\\text{d}\\mathbf{q}\\,\\,\\delta\\Big(S\\left(\\mathbf{q}\\right)-s\\Big)}\\,\\text{exp}\\Big(-\\beta \\,U\\left(\\mathbf{q}\\right)\\Big)$$&quot;,&quot;aid&quot;:null,&quot;backgroundColorModified&quot;:false,&quot;ts&quot;:1789035004632,&quot;cs&quot;:&quot;hTO2SmrOt0Ejd7reONmLZw==&quot;,&quot;size&quot;:{&quot;width&quot;:485.5,&quot;height&quot;:43.5}}" id="424" name="Google Shape;424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18738" y="3676525"/>
            <a:ext cx="4624388" cy="414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6&quot;,&quot;font&quot;:{&quot;family&quot;:&quot;Arial&quot;,&quot;color&quot;:&quot;#000000&quot;,&quot;size&quot;:12.5},&quot;type&quot;:&quot;$$&quot;,&quot;aid&quot;:null,&quot;fontColorModified&quot;:false,&quot;code&quot;:&quot;$$\\mathcal{=\\frac{Z}{\\mathcal{Z}_{\\mathcal{B}}}\\exp\\Big(-\\beta \\,B\\left(\\mathcal{s}\\right)\\Big)\\,\\,\\mathcal{P\\left(s\\right)}}$$&quot;,&quot;backgroundColor&quot;:&quot;#FFFFFF&quot;,&quot;backgroundColorModified&quot;:false,&quot;ts&quot;:1789035236801,&quot;cs&quot;:&quot;2Wk8zwvJ4tBiqpW9v5cb5g==&quot;,&quot;size&quot;:{&quot;width&quot;:233.60000000000002,&quot;height&quot;:43.200000000000024}}" id="425" name="Google Shape;425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07270" y="4343950"/>
            <a:ext cx="222504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mathcal{=\\frac{Z}{\\mathcal{Z}_{\\mathcal{B}}}\\exp\\Big(-\\beta \\,B\\left(\\mathcal{s}\\right)\\Big)\\int_{}^{}\\text{d}\\mathbf{q}\\,\\,\\delta\\Big(S\\left(\\mathbf{q}\\right)-s\\Big)}\\,\\frac{1}{\\mathcal{Z}}\\text{exp}\\Big(-\\beta \\,U\\left(\\mathbf{q}\\right)\\Big)$$&quot;,&quot;aid&quot;:null,&quot;backgroundColor&quot;:&quot;#FFFFFF&quot;,&quot;type&quot;:&quot;$$&quot;,&quot;fontColorModified&quot;:false,&quot;font&quot;:{&quot;color&quot;:&quot;#000000&quot;,&quot;family&quot;:&quot;Arial&quot;,&quot;size&quot;:12.5},&quot;backgroundColorModified&quot;:false,&quot;id&quot;:&quot;36&quot;,&quot;ts&quot;:1789035099087,&quot;cs&quot;:&quot;s+/OCcWYzBhrOWcDBqYH9Q==&quot;,&quot;size&quot;:{&quot;width&quot;:509,&quot;height&quot;:43.5}}" id="426" name="Google Shape;426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04022" y="4342525"/>
            <a:ext cx="4848225" cy="414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2"/>
          <p:cNvSpPr/>
          <p:nvPr/>
        </p:nvSpPr>
        <p:spPr>
          <a:xfrm>
            <a:off x="2618950" y="1128125"/>
            <a:ext cx="3683400" cy="83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C0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2"/>
          <p:cNvSpPr txBox="1"/>
          <p:nvPr>
            <p:ph type="title"/>
          </p:nvPr>
        </p:nvSpPr>
        <p:spPr>
          <a:xfrm>
            <a:off x="311700" y="146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2500">
                <a:latin typeface="Montserrat SemiBold"/>
                <a:ea typeface="Montserrat SemiBold"/>
                <a:cs typeface="Montserrat SemiBold"/>
                <a:sym typeface="Montserrat SemiBold"/>
              </a:rPr>
              <a:t>Umbrella sampling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33" name="Google Shape;433;p32"/>
          <p:cNvSpPr/>
          <p:nvPr/>
        </p:nvSpPr>
        <p:spPr>
          <a:xfrm>
            <a:off x="311700" y="719147"/>
            <a:ext cx="8563200" cy="579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2BC81"/>
              </a:gs>
            </a:gsLst>
            <a:lin ang="10800025" scaled="0"/>
          </a:gra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{&quot;aid&quot;:null,&quot;id&quot;:&quot;36&quot;,&quot;backgroundColor&quot;:&quot;#FFFFFF&quot;,&quot;type&quot;:&quot;$$&quot;,&quot;code&quot;:&quot;$$\\mathcal{\\mathcal{P\\left(S\\right)}=\\frac{Z_{B}}{\\mathcal{Z}}\\exp\\Big(+\\beta \\,B\\left(\\mathcal{S}\\right)\\Big)\\,\\,\\mathcal{P_{B}\\left(S\\right)}}$$&quot;,&quot;fontColorModified&quot;:false,&quot;font&quot;:{&quot;color&quot;:&quot;#000000&quot;,&quot;family&quot;:&quot;Arial&quot;,&quot;size&quot;:14.5},&quot;backgroundColorModified&quot;:false,&quot;ts&quot;:1789035377086,&quot;cs&quot;:&quot;rw4Dw1wLdUU/9f642yjr0A==&quot;,&quot;size&quot;:{&quot;width&quot;:358.37281259842524,&quot;height&quot;:47.30973228346455}}" id="434" name="Google Shape;43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9526" y="1321775"/>
            <a:ext cx="3413501" cy="45062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2"/>
          <p:cNvSpPr txBox="1"/>
          <p:nvPr/>
        </p:nvSpPr>
        <p:spPr>
          <a:xfrm>
            <a:off x="311698" y="2190189"/>
            <a:ext cx="856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it">
                <a:solidFill>
                  <a:schemeClr val="dk1"/>
                </a:solidFill>
              </a:rPr>
              <a:t>What about the unbiased free energy? Substituting in                                          :</a:t>
            </a:r>
            <a:endParaRPr/>
          </a:p>
        </p:txBody>
      </p:sp>
      <p:pic>
        <p:nvPicPr>
          <p:cNvPr descr="{&quot;aid&quot;:null,&quot;font&quot;:{&quot;size&quot;:14,&quot;family&quot;:&quot;Arial&quot;,&quot;color&quot;:&quot;#000000&quot;},&quot;backgroundColor&quot;:&quot;#FFFFFF&quot;,&quot;code&quot;:&quot;$$F\\left(\\mathcal{S}\\right)=-\\frac{1}{\\beta}\\text{log}\\,\\mathcal{P\\left(S\\right)}$$&quot;,&quot;type&quot;:&quot;$$&quot;,&quot;fontColorModified&quot;:false,&quot;id&quot;:&quot;37&quot;,&quot;backgroundColorModified&quot;:false,&quot;ts&quot;:1789035495634,&quot;cs&quot;:&quot;iSYWy5D6+9x7gQfjZ21kgA==&quot;,&quot;size&quot;:{&quot;width&quot;:199.33333333333334,&quot;height&quot;:48.666666666666664}}" id="436" name="Google Shape;43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1806" y="2168244"/>
            <a:ext cx="1898650" cy="46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